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8" r:id="rId2"/>
    <p:sldId id="257" r:id="rId3"/>
    <p:sldId id="259" r:id="rId4"/>
    <p:sldId id="260" r:id="rId5"/>
    <p:sldId id="261" r:id="rId6"/>
    <p:sldId id="262" r:id="rId7"/>
    <p:sldId id="266" r:id="rId8"/>
    <p:sldId id="263" r:id="rId9"/>
    <p:sldId id="265" r:id="rId10"/>
    <p:sldId id="264" r:id="rId11"/>
    <p:sldId id="267" r:id="rId12"/>
    <p:sldId id="271" r:id="rId13"/>
    <p:sldId id="272" r:id="rId14"/>
    <p:sldId id="270" r:id="rId15"/>
    <p:sldId id="269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99"/>
    <a:srgbClr val="008196"/>
    <a:srgbClr val="1B3C6A"/>
    <a:srgbClr val="1A3C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48230C-D1F6-4E0E-8922-3E4801866759}" v="29" dt="2025-11-15T12:20:30.38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RIERO ROBERTO" userId="S::r.carriero5@studenti.poliba.it::839c6d36-e8ba-4078-b5eb-e04afc776ee8" providerId="AD" clId="Web-{23685348-B5AD-4948-16CB-D7DA22389B18}"/>
    <pc:docChg chg="modSld">
      <pc:chgData name="CARRIERO ROBERTO" userId="S::r.carriero5@studenti.poliba.it::839c6d36-e8ba-4078-b5eb-e04afc776ee8" providerId="AD" clId="Web-{23685348-B5AD-4948-16CB-D7DA22389B18}" dt="2025-11-13T18:08:30.715" v="32" actId="1076"/>
      <pc:docMkLst>
        <pc:docMk/>
      </pc:docMkLst>
      <pc:sldChg chg="addSp modSp">
        <pc:chgData name="CARRIERO ROBERTO" userId="S::r.carriero5@studenti.poliba.it::839c6d36-e8ba-4078-b5eb-e04afc776ee8" providerId="AD" clId="Web-{23685348-B5AD-4948-16CB-D7DA22389B18}" dt="2025-11-13T18:08:30.715" v="32" actId="1076"/>
        <pc:sldMkLst>
          <pc:docMk/>
          <pc:sldMk cId="2860120205" sldId="259"/>
        </pc:sldMkLst>
        <pc:spChg chg="mod">
          <ac:chgData name="CARRIERO ROBERTO" userId="S::r.carriero5@studenti.poliba.it::839c6d36-e8ba-4078-b5eb-e04afc776ee8" providerId="AD" clId="Web-{23685348-B5AD-4948-16CB-D7DA22389B18}" dt="2025-11-13T18:08:17.668" v="30" actId="1076"/>
          <ac:spMkLst>
            <pc:docMk/>
            <pc:sldMk cId="2860120205" sldId="259"/>
            <ac:spMk id="21" creationId="{8B248CF0-AFA9-1996-D476-CD38B2F1ACDF}"/>
          </ac:spMkLst>
        </pc:spChg>
        <pc:picChg chg="add mod ord modCrop">
          <ac:chgData name="CARRIERO ROBERTO" userId="S::r.carriero5@studenti.poliba.it::839c6d36-e8ba-4078-b5eb-e04afc776ee8" providerId="AD" clId="Web-{23685348-B5AD-4948-16CB-D7DA22389B18}" dt="2025-11-13T18:08:30.715" v="32" actId="1076"/>
          <ac:picMkLst>
            <pc:docMk/>
            <pc:sldMk cId="2860120205" sldId="259"/>
            <ac:picMk id="7" creationId="{E7146A0F-752F-48F1-2426-8CA591B8322F}"/>
          </ac:picMkLst>
        </pc:picChg>
      </pc:sldChg>
    </pc:docChg>
  </pc:docChgLst>
  <pc:docChgLst>
    <pc:chgData name="CARRIERO ROBERTO" userId="839c6d36-e8ba-4078-b5eb-e04afc776ee8" providerId="ADAL" clId="{5FC01E38-F614-4025-BD4B-CDE0B90E919E}"/>
    <pc:docChg chg="undo custSel modSld">
      <pc:chgData name="CARRIERO ROBERTO" userId="839c6d36-e8ba-4078-b5eb-e04afc776ee8" providerId="ADAL" clId="{5FC01E38-F614-4025-BD4B-CDE0B90E919E}" dt="2025-11-15T12:20:40.836" v="72" actId="1038"/>
      <pc:docMkLst>
        <pc:docMk/>
      </pc:docMkLst>
      <pc:sldChg chg="addSp delSp modSp mod">
        <pc:chgData name="CARRIERO ROBERTO" userId="839c6d36-e8ba-4078-b5eb-e04afc776ee8" providerId="ADAL" clId="{5FC01E38-F614-4025-BD4B-CDE0B90E919E}" dt="2025-11-15T12:20:09.883" v="63" actId="1076"/>
        <pc:sldMkLst>
          <pc:docMk/>
          <pc:sldMk cId="3834651424" sldId="262"/>
        </pc:sldMkLst>
        <pc:spChg chg="mod">
          <ac:chgData name="CARRIERO ROBERTO" userId="839c6d36-e8ba-4078-b5eb-e04afc776ee8" providerId="ADAL" clId="{5FC01E38-F614-4025-BD4B-CDE0B90E919E}" dt="2025-11-15T12:19:52.019" v="62" actId="14100"/>
          <ac:spMkLst>
            <pc:docMk/>
            <pc:sldMk cId="3834651424" sldId="262"/>
            <ac:spMk id="8" creationId="{D9479A86-E474-AAD0-9442-F3C05EE4880A}"/>
          </ac:spMkLst>
        </pc:spChg>
        <pc:picChg chg="add mod">
          <ac:chgData name="CARRIERO ROBERTO" userId="839c6d36-e8ba-4078-b5eb-e04afc776ee8" providerId="ADAL" clId="{5FC01E38-F614-4025-BD4B-CDE0B90E919E}" dt="2025-11-15T12:20:09.883" v="63" actId="1076"/>
          <ac:picMkLst>
            <pc:docMk/>
            <pc:sldMk cId="3834651424" sldId="262"/>
            <ac:picMk id="6" creationId="{2E29BC67-3622-11F3-5042-DC4991CD6200}"/>
          </ac:picMkLst>
        </pc:picChg>
        <pc:picChg chg="del">
          <ac:chgData name="CARRIERO ROBERTO" userId="839c6d36-e8ba-4078-b5eb-e04afc776ee8" providerId="ADAL" clId="{5FC01E38-F614-4025-BD4B-CDE0B90E919E}" dt="2025-11-15T12:18:56.559" v="44" actId="478"/>
          <ac:picMkLst>
            <pc:docMk/>
            <pc:sldMk cId="3834651424" sldId="262"/>
            <ac:picMk id="7" creationId="{90953FAB-64BB-3663-14E7-54AA02002902}"/>
          </ac:picMkLst>
        </pc:picChg>
      </pc:sldChg>
      <pc:sldChg chg="modSp">
        <pc:chgData name="CARRIERO ROBERTO" userId="839c6d36-e8ba-4078-b5eb-e04afc776ee8" providerId="ADAL" clId="{5FC01E38-F614-4025-BD4B-CDE0B90E919E}" dt="2025-11-15T12:17:42.948" v="24" actId="1076"/>
        <pc:sldMkLst>
          <pc:docMk/>
          <pc:sldMk cId="3004411109" sldId="263"/>
        </pc:sldMkLst>
        <pc:picChg chg="mod">
          <ac:chgData name="CARRIERO ROBERTO" userId="839c6d36-e8ba-4078-b5eb-e04afc776ee8" providerId="ADAL" clId="{5FC01E38-F614-4025-BD4B-CDE0B90E919E}" dt="2025-11-15T12:17:42.948" v="24" actId="1076"/>
          <ac:picMkLst>
            <pc:docMk/>
            <pc:sldMk cId="3004411109" sldId="263"/>
            <ac:picMk id="6146" creationId="{8323E0A4-3513-B019-C57A-57AFD97E14BF}"/>
          </ac:picMkLst>
        </pc:picChg>
      </pc:sldChg>
      <pc:sldChg chg="addSp delSp modSp mod">
        <pc:chgData name="CARRIERO ROBERTO" userId="839c6d36-e8ba-4078-b5eb-e04afc776ee8" providerId="ADAL" clId="{5FC01E38-F614-4025-BD4B-CDE0B90E919E}" dt="2025-11-15T12:20:40.836" v="72" actId="1038"/>
        <pc:sldMkLst>
          <pc:docMk/>
          <pc:sldMk cId="159970639" sldId="264"/>
        </pc:sldMkLst>
        <pc:spChg chg="mod">
          <ac:chgData name="CARRIERO ROBERTO" userId="839c6d36-e8ba-4078-b5eb-e04afc776ee8" providerId="ADAL" clId="{5FC01E38-F614-4025-BD4B-CDE0B90E919E}" dt="2025-11-15T12:20:35.438" v="69" actId="1076"/>
          <ac:spMkLst>
            <pc:docMk/>
            <pc:sldMk cId="159970639" sldId="264"/>
            <ac:spMk id="8" creationId="{F28AF682-5446-0457-ADCB-AA7B6D420D28}"/>
          </ac:spMkLst>
        </pc:spChg>
        <pc:spChg chg="add del">
          <ac:chgData name="CARRIERO ROBERTO" userId="839c6d36-e8ba-4078-b5eb-e04afc776ee8" providerId="ADAL" clId="{5FC01E38-F614-4025-BD4B-CDE0B90E919E}" dt="2025-11-15T12:16:38.869" v="2" actId="22"/>
          <ac:spMkLst>
            <pc:docMk/>
            <pc:sldMk cId="159970639" sldId="264"/>
            <ac:spMk id="9" creationId="{3586AFFB-19E2-E1A7-CAF3-EFB2FB1C80B1}"/>
          </ac:spMkLst>
        </pc:spChg>
        <pc:spChg chg="add del mod">
          <ac:chgData name="CARRIERO ROBERTO" userId="839c6d36-e8ba-4078-b5eb-e04afc776ee8" providerId="ADAL" clId="{5FC01E38-F614-4025-BD4B-CDE0B90E919E}" dt="2025-11-15T12:20:37.378" v="70" actId="478"/>
          <ac:spMkLst>
            <pc:docMk/>
            <pc:sldMk cId="159970639" sldId="264"/>
            <ac:spMk id="12" creationId="{12C60C09-6CDE-13BA-2943-05A975AF3D32}"/>
          </ac:spMkLst>
        </pc:spChg>
        <pc:picChg chg="del">
          <ac:chgData name="CARRIERO ROBERTO" userId="839c6d36-e8ba-4078-b5eb-e04afc776ee8" providerId="ADAL" clId="{5FC01E38-F614-4025-BD4B-CDE0B90E919E}" dt="2025-11-15T12:16:37.084" v="0" actId="478"/>
          <ac:picMkLst>
            <pc:docMk/>
            <pc:sldMk cId="159970639" sldId="264"/>
            <ac:picMk id="6" creationId="{D88C8B96-A02E-6D76-0AFD-4FE488AFE9BD}"/>
          </ac:picMkLst>
        </pc:picChg>
        <pc:picChg chg="add mod">
          <ac:chgData name="CARRIERO ROBERTO" userId="839c6d36-e8ba-4078-b5eb-e04afc776ee8" providerId="ADAL" clId="{5FC01E38-F614-4025-BD4B-CDE0B90E919E}" dt="2025-11-15T12:20:40.836" v="72" actId="1038"/>
          <ac:picMkLst>
            <pc:docMk/>
            <pc:sldMk cId="159970639" sldId="264"/>
            <ac:picMk id="11" creationId="{5E2277FD-9931-F8DE-EA15-9517F87B0164}"/>
          </ac:picMkLst>
        </pc:picChg>
      </pc:sldChg>
      <pc:sldChg chg="modSp">
        <pc:chgData name="CARRIERO ROBERTO" userId="839c6d36-e8ba-4078-b5eb-e04afc776ee8" providerId="ADAL" clId="{5FC01E38-F614-4025-BD4B-CDE0B90E919E}" dt="2025-11-15T12:17:48.485" v="26" actId="1076"/>
        <pc:sldMkLst>
          <pc:docMk/>
          <pc:sldMk cId="1980125024" sldId="265"/>
        </pc:sldMkLst>
        <pc:picChg chg="mod">
          <ac:chgData name="CARRIERO ROBERTO" userId="839c6d36-e8ba-4078-b5eb-e04afc776ee8" providerId="ADAL" clId="{5FC01E38-F614-4025-BD4B-CDE0B90E919E}" dt="2025-11-15T12:17:48.485" v="26" actId="1076"/>
          <ac:picMkLst>
            <pc:docMk/>
            <pc:sldMk cId="1980125024" sldId="265"/>
            <ac:picMk id="8196" creationId="{58517C18-FDFA-5339-5E5B-24A9DEC8292B}"/>
          </ac:picMkLst>
        </pc:picChg>
      </pc:sldChg>
      <pc:sldChg chg="modSp">
        <pc:chgData name="CARRIERO ROBERTO" userId="839c6d36-e8ba-4078-b5eb-e04afc776ee8" providerId="ADAL" clId="{5FC01E38-F614-4025-BD4B-CDE0B90E919E}" dt="2025-11-15T12:18:18.645" v="42" actId="1076"/>
        <pc:sldMkLst>
          <pc:docMk/>
          <pc:sldMk cId="4292844660" sldId="267"/>
        </pc:sldMkLst>
        <pc:picChg chg="mod">
          <ac:chgData name="CARRIERO ROBERTO" userId="839c6d36-e8ba-4078-b5eb-e04afc776ee8" providerId="ADAL" clId="{5FC01E38-F614-4025-BD4B-CDE0B90E919E}" dt="2025-11-15T12:18:06.695" v="34" actId="1076"/>
          <ac:picMkLst>
            <pc:docMk/>
            <pc:sldMk cId="4292844660" sldId="267"/>
            <ac:picMk id="10242" creationId="{45307F2F-53D5-83A7-E212-860FE119E6C8}"/>
          </ac:picMkLst>
        </pc:picChg>
        <pc:picChg chg="mod">
          <ac:chgData name="CARRIERO ROBERTO" userId="839c6d36-e8ba-4078-b5eb-e04afc776ee8" providerId="ADAL" clId="{5FC01E38-F614-4025-BD4B-CDE0B90E919E}" dt="2025-11-15T12:18:03.700" v="32" actId="1076"/>
          <ac:picMkLst>
            <pc:docMk/>
            <pc:sldMk cId="4292844660" sldId="267"/>
            <ac:picMk id="10244" creationId="{F2C229F0-3B64-9006-FDCE-114D6A576EBD}"/>
          </ac:picMkLst>
        </pc:picChg>
        <pc:picChg chg="mod">
          <ac:chgData name="CARRIERO ROBERTO" userId="839c6d36-e8ba-4078-b5eb-e04afc776ee8" providerId="ADAL" clId="{5FC01E38-F614-4025-BD4B-CDE0B90E919E}" dt="2025-11-15T12:17:55.809" v="28" actId="1076"/>
          <ac:picMkLst>
            <pc:docMk/>
            <pc:sldMk cId="4292844660" sldId="267"/>
            <ac:picMk id="10252" creationId="{702F24C4-1EBC-0B48-2626-64DCFE72A847}"/>
          </ac:picMkLst>
        </pc:picChg>
        <pc:picChg chg="mod">
          <ac:chgData name="CARRIERO ROBERTO" userId="839c6d36-e8ba-4078-b5eb-e04afc776ee8" providerId="ADAL" clId="{5FC01E38-F614-4025-BD4B-CDE0B90E919E}" dt="2025-11-15T12:18:16.777" v="40" actId="1076"/>
          <ac:picMkLst>
            <pc:docMk/>
            <pc:sldMk cId="4292844660" sldId="267"/>
            <ac:picMk id="10256" creationId="{7B819C6B-0E74-828D-594E-A470B01DF73D}"/>
          </ac:picMkLst>
        </pc:picChg>
        <pc:picChg chg="mod">
          <ac:chgData name="CARRIERO ROBERTO" userId="839c6d36-e8ba-4078-b5eb-e04afc776ee8" providerId="ADAL" clId="{5FC01E38-F614-4025-BD4B-CDE0B90E919E}" dt="2025-11-15T12:18:17.563" v="41" actId="1076"/>
          <ac:picMkLst>
            <pc:docMk/>
            <pc:sldMk cId="4292844660" sldId="267"/>
            <ac:picMk id="10258" creationId="{0CC448F4-6AB2-2218-DDAF-9429C3FA635C}"/>
          </ac:picMkLst>
        </pc:picChg>
        <pc:picChg chg="mod">
          <ac:chgData name="CARRIERO ROBERTO" userId="839c6d36-e8ba-4078-b5eb-e04afc776ee8" providerId="ADAL" clId="{5FC01E38-F614-4025-BD4B-CDE0B90E919E}" dt="2025-11-15T12:18:18.645" v="42" actId="1076"/>
          <ac:picMkLst>
            <pc:docMk/>
            <pc:sldMk cId="4292844660" sldId="267"/>
            <ac:picMk id="10260" creationId="{D55698EB-2263-1010-D58D-5F287A842837}"/>
          </ac:picMkLst>
        </pc:picChg>
        <pc:picChg chg="mod">
          <ac:chgData name="CARRIERO ROBERTO" userId="839c6d36-e8ba-4078-b5eb-e04afc776ee8" providerId="ADAL" clId="{5FC01E38-F614-4025-BD4B-CDE0B90E919E}" dt="2025-11-15T12:18:01.155" v="30" actId="1076"/>
          <ac:picMkLst>
            <pc:docMk/>
            <pc:sldMk cId="4292844660" sldId="267"/>
            <ac:picMk id="10262" creationId="{328ABFF9-44EB-6E5C-E415-3DF6422A50E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604F21-9B18-4DE1-AB54-6E38A9691DB2}" type="datetimeFigureOut">
              <a:rPr lang="it-IT" smtClean="0"/>
              <a:t>19/11/2025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C9A3EF-1CD3-4928-B014-184E8B8B84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2040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spc="-75" dirty="0"/>
              <a:t>A.A.</a:t>
            </a:r>
            <a:r>
              <a:rPr spc="-145" dirty="0"/>
              <a:t> </a:t>
            </a:r>
            <a:r>
              <a:rPr spc="-25" dirty="0"/>
              <a:t>2025/2026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spc="-30" dirty="0"/>
              <a:t>Prof.ssa</a:t>
            </a:r>
            <a:r>
              <a:rPr spc="-180" dirty="0"/>
              <a:t> </a:t>
            </a:r>
            <a:r>
              <a:rPr spc="-10" dirty="0"/>
              <a:t>Marina</a:t>
            </a:r>
            <a:r>
              <a:rPr spc="-160" dirty="0"/>
              <a:t> </a:t>
            </a:r>
            <a:r>
              <a:rPr spc="-10" dirty="0"/>
              <a:t>Mongiello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spc="-75" dirty="0"/>
              <a:t>A.A.</a:t>
            </a:r>
            <a:r>
              <a:rPr spc="-145" dirty="0"/>
              <a:t> </a:t>
            </a:r>
            <a:r>
              <a:rPr spc="-25" dirty="0"/>
              <a:t>2025/2026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spc="-30" dirty="0"/>
              <a:t>Prof.ssa</a:t>
            </a:r>
            <a:r>
              <a:rPr spc="-180" dirty="0"/>
              <a:t> </a:t>
            </a:r>
            <a:r>
              <a:rPr spc="-10" dirty="0"/>
              <a:t>Marina</a:t>
            </a:r>
            <a:r>
              <a:rPr spc="-160" dirty="0"/>
              <a:t> </a:t>
            </a:r>
            <a:r>
              <a:rPr spc="-10" dirty="0"/>
              <a:t>Mongiello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spc="-75" dirty="0"/>
              <a:t>A.A.</a:t>
            </a:r>
            <a:r>
              <a:rPr spc="-145" dirty="0"/>
              <a:t> </a:t>
            </a:r>
            <a:r>
              <a:rPr spc="-25" dirty="0"/>
              <a:t>2025/2026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spc="-30" dirty="0"/>
              <a:t>Prof.ssa</a:t>
            </a:r>
            <a:r>
              <a:rPr spc="-180" dirty="0"/>
              <a:t> </a:t>
            </a:r>
            <a:r>
              <a:rPr spc="-10" dirty="0"/>
              <a:t>Marina</a:t>
            </a:r>
            <a:r>
              <a:rPr spc="-160" dirty="0"/>
              <a:t> </a:t>
            </a:r>
            <a:r>
              <a:rPr spc="-10" dirty="0"/>
              <a:t>Mongiello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0223" y="311336"/>
            <a:ext cx="4325963" cy="67924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73693" y="150441"/>
            <a:ext cx="2906776" cy="99484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9115" y="139509"/>
            <a:ext cx="2290445" cy="98723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spc="-75" dirty="0"/>
              <a:t>A.A.</a:t>
            </a:r>
            <a:r>
              <a:rPr spc="-145" dirty="0"/>
              <a:t> </a:t>
            </a:r>
            <a:r>
              <a:rPr spc="-25" dirty="0"/>
              <a:t>2025/2026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spc="-30" dirty="0"/>
              <a:t>Prof.ssa</a:t>
            </a:r>
            <a:r>
              <a:rPr spc="-180" dirty="0"/>
              <a:t> </a:t>
            </a:r>
            <a:r>
              <a:rPr spc="-10" dirty="0"/>
              <a:t>Marina</a:t>
            </a:r>
            <a:r>
              <a:rPr spc="-160" dirty="0"/>
              <a:t> </a:t>
            </a:r>
            <a:r>
              <a:rPr spc="-10" dirty="0"/>
              <a:t>Mongiello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spc="-75" dirty="0"/>
              <a:t>A.A.</a:t>
            </a:r>
            <a:r>
              <a:rPr spc="-145" dirty="0"/>
              <a:t> </a:t>
            </a:r>
            <a:r>
              <a:rPr spc="-25" dirty="0"/>
              <a:t>2025/2026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spc="-30" dirty="0"/>
              <a:t>Prof.ssa</a:t>
            </a:r>
            <a:r>
              <a:rPr spc="-180" dirty="0"/>
              <a:t> </a:t>
            </a:r>
            <a:r>
              <a:rPr spc="-10" dirty="0"/>
              <a:t>Marina</a:t>
            </a:r>
            <a:r>
              <a:rPr spc="-160" dirty="0"/>
              <a:t> </a:t>
            </a:r>
            <a:r>
              <a:rPr spc="-10" dirty="0"/>
              <a:t>Mongiello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0679" y="244551"/>
            <a:ext cx="8971280" cy="940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0679" y="2143709"/>
            <a:ext cx="5407025" cy="2495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551921" y="6503246"/>
            <a:ext cx="1532890" cy="304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spc="-75" dirty="0"/>
              <a:t>A.A.</a:t>
            </a:r>
            <a:r>
              <a:rPr spc="-145" dirty="0"/>
              <a:t> </a:t>
            </a:r>
            <a:r>
              <a:rPr spc="-25" dirty="0"/>
              <a:t>2025/2026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817490" y="6513000"/>
            <a:ext cx="2557145" cy="304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spc="-30" dirty="0"/>
              <a:t>Prof.ssa</a:t>
            </a:r>
            <a:r>
              <a:rPr spc="-180" dirty="0"/>
              <a:t> </a:t>
            </a:r>
            <a:r>
              <a:rPr spc="-10" dirty="0"/>
              <a:t>Marina</a:t>
            </a:r>
            <a:r>
              <a:rPr spc="-160" dirty="0"/>
              <a:t> </a:t>
            </a:r>
            <a:r>
              <a:rPr spc="-10" dirty="0"/>
              <a:t>Mongiello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604295F-58E4-0812-6E92-299E7EE98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46A980E5-AA13-5FFD-9054-C9D95612D68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27" b="21155"/>
          <a:stretch>
            <a:fillRect/>
          </a:stretch>
        </p:blipFill>
        <p:spPr>
          <a:xfrm>
            <a:off x="457200" y="376926"/>
            <a:ext cx="6535282" cy="1107996"/>
          </a:xfrm>
          <a:prstGeom prst="rect">
            <a:avLst/>
          </a:prstGeom>
        </p:spPr>
      </p:pic>
      <p:grpSp>
        <p:nvGrpSpPr>
          <p:cNvPr id="9" name="object 9">
            <a:extLst>
              <a:ext uri="{FF2B5EF4-FFF2-40B4-BE49-F238E27FC236}">
                <a16:creationId xmlns:a16="http://schemas.microsoft.com/office/drawing/2014/main" id="{55D19251-AFED-A1A7-3C36-46CA429AA2CA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DBD99A0D-FE52-8B89-133B-B7BA269B3E4A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F1DA3B0D-999D-A943-3040-B696143029C2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36012D0-2B51-9377-95A2-D6926BC7DAE7}"/>
              </a:ext>
            </a:extLst>
          </p:cNvPr>
          <p:cNvSpPr txBox="1"/>
          <p:nvPr/>
        </p:nvSpPr>
        <p:spPr>
          <a:xfrm>
            <a:off x="107189" y="6470980"/>
            <a:ext cx="4296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Software Architecture and Pattern Design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86280421-BFF3-F590-C790-F842B68259D0}"/>
              </a:ext>
            </a:extLst>
          </p:cNvPr>
          <p:cNvSpPr txBox="1"/>
          <p:nvPr/>
        </p:nvSpPr>
        <p:spPr>
          <a:xfrm>
            <a:off x="10389315" y="6480829"/>
            <a:ext cx="17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A.A. 2025/2026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C2602A5-1867-86CD-C745-E827FB4624A9}"/>
              </a:ext>
            </a:extLst>
          </p:cNvPr>
          <p:cNvSpPr txBox="1"/>
          <p:nvPr/>
        </p:nvSpPr>
        <p:spPr>
          <a:xfrm>
            <a:off x="2508314" y="2116086"/>
            <a:ext cx="684835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6000" b="1" dirty="0" err="1">
                <a:latin typeface="Aptos" panose="020B0004020202020204" pitchFamily="34" charset="0"/>
              </a:rPr>
              <a:t>EarlyCare</a:t>
            </a:r>
            <a:r>
              <a:rPr lang="it-IT" sz="6000" b="1" dirty="0">
                <a:latin typeface="Aptos" panose="020B0004020202020204" pitchFamily="34" charset="0"/>
              </a:rPr>
              <a:t> Gateway</a:t>
            </a:r>
          </a:p>
        </p:txBody>
      </p:sp>
      <p:pic>
        <p:nvPicPr>
          <p:cNvPr id="1028" name="Picture 4" descr="SisInfLab - Home - SisInfLab">
            <a:extLst>
              <a:ext uri="{FF2B5EF4-FFF2-40B4-BE49-F238E27FC236}">
                <a16:creationId xmlns:a16="http://schemas.microsoft.com/office/drawing/2014/main" id="{BF9F2C98-5A13-33BE-0141-C04D69411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400" y="486160"/>
            <a:ext cx="2619166" cy="88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A9BB2BC8-9DC2-8DC8-6A5D-C2C9C777B6E6}"/>
              </a:ext>
            </a:extLst>
          </p:cNvPr>
          <p:cNvSpPr txBox="1"/>
          <p:nvPr/>
        </p:nvSpPr>
        <p:spPr>
          <a:xfrm>
            <a:off x="1257300" y="3075646"/>
            <a:ext cx="9677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Aptos" panose="020B0004020202020204" pitchFamily="34" charset="0"/>
              </a:rPr>
              <a:t>Architettura a Microservizi per il Supporto Decisionale nella Diagnosi Clinica con </a:t>
            </a:r>
            <a:r>
              <a:rPr lang="it-IT" sz="2800" dirty="0" err="1">
                <a:latin typeface="Aptos" panose="020B0004020202020204" pitchFamily="34" charset="0"/>
              </a:rPr>
              <a:t>Explainable</a:t>
            </a:r>
            <a:r>
              <a:rPr lang="it-IT" sz="2800" dirty="0">
                <a:latin typeface="Aptos" panose="020B0004020202020204" pitchFamily="34" charset="0"/>
              </a:rPr>
              <a:t> AI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154D679-D22A-5AB2-F951-4013E483763F}"/>
              </a:ext>
            </a:extLst>
          </p:cNvPr>
          <p:cNvSpPr txBox="1"/>
          <p:nvPr/>
        </p:nvSpPr>
        <p:spPr>
          <a:xfrm>
            <a:off x="8428108" y="4439839"/>
            <a:ext cx="277351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t-IT" sz="2800" b="1" dirty="0">
                <a:latin typeface="Aptos" panose="020B0004020202020204" pitchFamily="34" charset="0"/>
              </a:rPr>
              <a:t>Gruppo:</a:t>
            </a:r>
          </a:p>
          <a:p>
            <a:pPr algn="l"/>
            <a:r>
              <a:rPr lang="it-IT" sz="2800" dirty="0">
                <a:latin typeface="Aptos" panose="020B0004020202020204" pitchFamily="34" charset="0"/>
              </a:rPr>
              <a:t>Roberto Carriero</a:t>
            </a:r>
          </a:p>
          <a:p>
            <a:pPr algn="l"/>
            <a:r>
              <a:rPr lang="it-IT" sz="2800" dirty="0">
                <a:latin typeface="Aptos" panose="020B0004020202020204" pitchFamily="34" charset="0"/>
              </a:rPr>
              <a:t>Luca Cianci</a:t>
            </a:r>
          </a:p>
          <a:p>
            <a:pPr algn="l"/>
            <a:r>
              <a:rPr lang="it-IT" sz="2800" dirty="0">
                <a:latin typeface="Aptos" panose="020B0004020202020204" pitchFamily="34" charset="0"/>
              </a:rPr>
              <a:t>Luca Serio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0815B8B-2A81-8CC3-FBB7-F00F7F512C4A}"/>
              </a:ext>
            </a:extLst>
          </p:cNvPr>
          <p:cNvSpPr txBox="1"/>
          <p:nvPr/>
        </p:nvSpPr>
        <p:spPr>
          <a:xfrm>
            <a:off x="990600" y="4439839"/>
            <a:ext cx="418896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t-IT" sz="2800" b="1" dirty="0">
                <a:latin typeface="Aptos" panose="020B0004020202020204" pitchFamily="34" charset="0"/>
              </a:rPr>
              <a:t>Docente:</a:t>
            </a:r>
          </a:p>
          <a:p>
            <a:pPr algn="l"/>
            <a:r>
              <a:rPr lang="it-IT" sz="2800" dirty="0">
                <a:latin typeface="Aptos" panose="020B0004020202020204" pitchFamily="34" charset="0"/>
              </a:rPr>
              <a:t>Prof.ssa Marina Mongiello</a:t>
            </a:r>
          </a:p>
        </p:txBody>
      </p:sp>
    </p:spTree>
    <p:extLst>
      <p:ext uri="{BB962C8B-B14F-4D97-AF65-F5344CB8AC3E}">
        <p14:creationId xmlns:p14="http://schemas.microsoft.com/office/powerpoint/2010/main" val="2360931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ronto Soccorso e Triage - Delta Informatica">
            <a:extLst>
              <a:ext uri="{FF2B5EF4-FFF2-40B4-BE49-F238E27FC236}">
                <a16:creationId xmlns:a16="http://schemas.microsoft.com/office/drawing/2014/main" id="{CFAF91A9-5D42-F314-A839-F6638B4123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5" t="13033" r="7759" b="17228"/>
          <a:stretch>
            <a:fillRect/>
          </a:stretch>
        </p:blipFill>
        <p:spPr bwMode="auto">
          <a:xfrm>
            <a:off x="7620000" y="2667000"/>
            <a:ext cx="4232905" cy="2853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object 9">
            <a:extLst>
              <a:ext uri="{FF2B5EF4-FFF2-40B4-BE49-F238E27FC236}">
                <a16:creationId xmlns:a16="http://schemas.microsoft.com/office/drawing/2014/main" id="{6BBE9099-5CDD-3007-1210-B543A3A8E003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3" name="object 10">
              <a:extLst>
                <a:ext uri="{FF2B5EF4-FFF2-40B4-BE49-F238E27FC236}">
                  <a16:creationId xmlns:a16="http://schemas.microsoft.com/office/drawing/2014/main" id="{9BD870F1-AEB6-F68B-D98F-589DE7126AB9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11">
              <a:extLst>
                <a:ext uri="{FF2B5EF4-FFF2-40B4-BE49-F238E27FC236}">
                  <a16:creationId xmlns:a16="http://schemas.microsoft.com/office/drawing/2014/main" id="{DA979EE0-288E-6566-E518-4C99150B0A66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4A2E8FA1-4185-62B3-BF0A-3ABD98479D9C}"/>
              </a:ext>
            </a:extLst>
          </p:cNvPr>
          <p:cNvSpPr txBox="1"/>
          <p:nvPr/>
        </p:nvSpPr>
        <p:spPr>
          <a:xfrm>
            <a:off x="439017" y="6473090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>
                <a:solidFill>
                  <a:schemeClr val="bg1"/>
                </a:solidFill>
                <a:latin typeface="Aptos" panose="020B0004020202020204" pitchFamily="34" charset="0"/>
              </a:rPr>
              <a:t>EarlyCare</a:t>
            </a:r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 Gateway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5BA55FC4-151F-27B2-172B-5CD5332FE2A5}"/>
              </a:ext>
            </a:extLst>
          </p:cNvPr>
          <p:cNvSpPr txBox="1"/>
          <p:nvPr/>
        </p:nvSpPr>
        <p:spPr>
          <a:xfrm>
            <a:off x="11444886" y="6489268"/>
            <a:ext cx="308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89A47F04-4709-7E4F-5150-AC3A593ED5A3}"/>
              </a:ext>
            </a:extLst>
          </p:cNvPr>
          <p:cNvSpPr txBox="1"/>
          <p:nvPr/>
        </p:nvSpPr>
        <p:spPr>
          <a:xfrm>
            <a:off x="609600" y="381000"/>
            <a:ext cx="46249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>
                <a:latin typeface="Aptos" panose="020B0004020202020204" pitchFamily="34" charset="0"/>
              </a:rPr>
              <a:t>Introduzione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4E877240-2B0A-8841-50EC-13E979DD0AF6}"/>
              </a:ext>
            </a:extLst>
          </p:cNvPr>
          <p:cNvSpPr txBox="1"/>
          <p:nvPr/>
        </p:nvSpPr>
        <p:spPr>
          <a:xfrm>
            <a:off x="685800" y="1653911"/>
            <a:ext cx="888573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 err="1">
                <a:latin typeface="Aptos" panose="020B0004020202020204" pitchFamily="34" charset="0"/>
              </a:rPr>
              <a:t>Problema</a:t>
            </a:r>
            <a:endParaRPr lang="en-US" sz="2800" b="1" dirty="0">
              <a:latin typeface="Aptos" panose="020B0004020202020204" pitchFamily="34" charset="0"/>
            </a:endParaRPr>
          </a:p>
          <a:p>
            <a:pPr algn="just"/>
            <a:r>
              <a:rPr lang="en-US" sz="2800" dirty="0" err="1">
                <a:latin typeface="Aptos" panose="020B0004020202020204" pitchFamily="34" charset="0"/>
              </a:rPr>
              <a:t>L’attuale</a:t>
            </a:r>
            <a:r>
              <a:rPr lang="en-US" sz="2800" dirty="0">
                <a:latin typeface="Aptos" panose="020B0004020202020204" pitchFamily="34" charset="0"/>
              </a:rPr>
              <a:t> </a:t>
            </a:r>
            <a:r>
              <a:rPr lang="it-IT" sz="2800" dirty="0">
                <a:latin typeface="Aptos" panose="020B0004020202020204" pitchFamily="34" charset="0"/>
              </a:rPr>
              <a:t>processo di </a:t>
            </a:r>
            <a:r>
              <a:rPr lang="it-IT" sz="2800" b="1" dirty="0">
                <a:latin typeface="Aptos" panose="020B0004020202020204" pitchFamily="34" charset="0"/>
              </a:rPr>
              <a:t>triage</a:t>
            </a:r>
            <a:r>
              <a:rPr lang="it-IT" sz="2800" dirty="0">
                <a:latin typeface="Aptos" panose="020B0004020202020204" pitchFamily="34" charset="0"/>
              </a:rPr>
              <a:t> risulta </a:t>
            </a:r>
            <a:r>
              <a:rPr lang="it-IT" sz="2800" b="1" dirty="0">
                <a:latin typeface="Aptos" panose="020B0004020202020204" pitchFamily="34" charset="0"/>
              </a:rPr>
              <a:t>poco efficiente</a:t>
            </a:r>
            <a:r>
              <a:rPr lang="it-IT" sz="2800" dirty="0">
                <a:latin typeface="Aptos" panose="020B0004020202020204" pitchFamily="34" charset="0"/>
              </a:rPr>
              <a:t>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dirty="0">
                <a:latin typeface="Aptos" panose="020B0004020202020204" pitchFamily="34" charset="0"/>
              </a:rPr>
              <a:t>Carenza di personale sanitario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dirty="0">
                <a:latin typeface="Aptos" panose="020B0004020202020204" pitchFamily="34" charset="0"/>
              </a:rPr>
              <a:t>Elevata affluenza di pazienti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dirty="0">
                <a:latin typeface="Aptos" panose="020B0004020202020204" pitchFamily="34" charset="0"/>
              </a:rPr>
              <a:t>Processi decisionali lenti e ridondanti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it-IT" sz="2800" b="1" dirty="0">
              <a:latin typeface="Aptos" panose="020B0004020202020204" pitchFamily="34" charset="0"/>
            </a:endParaRPr>
          </a:p>
          <a:p>
            <a:pPr algn="just"/>
            <a:r>
              <a:rPr lang="it-IT" sz="2800" b="1" dirty="0">
                <a:latin typeface="Aptos" panose="020B0004020202020204" pitchFamily="34" charset="0"/>
              </a:rPr>
              <a:t>Conseguenza</a:t>
            </a:r>
          </a:p>
          <a:p>
            <a:pPr algn="just"/>
            <a:r>
              <a:rPr lang="it-IT" sz="2800" dirty="0">
                <a:latin typeface="Aptos" panose="020B0004020202020204" pitchFamily="34" charset="0"/>
              </a:rPr>
              <a:t>Ritardi, errori e stress per lo staff medico</a:t>
            </a:r>
          </a:p>
          <a:p>
            <a:pPr algn="just"/>
            <a:r>
              <a:rPr lang="it-IT" sz="2800" dirty="0">
                <a:latin typeface="Aptos" panose="020B0004020202020204" pitchFamily="34" charset="0"/>
              </a:rPr>
              <a:t>→</a:t>
            </a:r>
            <a:r>
              <a:rPr lang="it-IT" sz="2800" b="1" dirty="0">
                <a:latin typeface="Aptos" panose="020B0004020202020204" pitchFamily="34" charset="0"/>
              </a:rPr>
              <a:t> Peggioramento dell’esperienza del paziente.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674C1DB-7385-E2A7-7609-0065A8C4F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Artificial Intelligence Head Icon Vector Ai Icon Vector Design Used In Ai  Concepts Artificial Intelligence Icon Stock Illustration - Download Image  Now - iStock">
            <a:extLst>
              <a:ext uri="{FF2B5EF4-FFF2-40B4-BE49-F238E27FC236}">
                <a16:creationId xmlns:a16="http://schemas.microsoft.com/office/drawing/2014/main" id="{E7146A0F-752F-48F1-2426-8CA591B832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81" t="16830" r="18791" b="15686"/>
          <a:stretch>
            <a:fillRect/>
          </a:stretch>
        </p:blipFill>
        <p:spPr>
          <a:xfrm>
            <a:off x="9610725" y="2819400"/>
            <a:ext cx="2238383" cy="2505083"/>
          </a:xfrm>
          <a:prstGeom prst="rect">
            <a:avLst/>
          </a:prstGeom>
        </p:spPr>
      </p:pic>
      <p:grpSp>
        <p:nvGrpSpPr>
          <p:cNvPr id="2" name="object 9">
            <a:extLst>
              <a:ext uri="{FF2B5EF4-FFF2-40B4-BE49-F238E27FC236}">
                <a16:creationId xmlns:a16="http://schemas.microsoft.com/office/drawing/2014/main" id="{91CD54C2-49A9-857D-84B6-B1DBFBA37EA2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3" name="object 10">
              <a:extLst>
                <a:ext uri="{FF2B5EF4-FFF2-40B4-BE49-F238E27FC236}">
                  <a16:creationId xmlns:a16="http://schemas.microsoft.com/office/drawing/2014/main" id="{87103B7E-240E-0F8C-FB5B-4E87DEEF15C3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11">
              <a:extLst>
                <a:ext uri="{FF2B5EF4-FFF2-40B4-BE49-F238E27FC236}">
                  <a16:creationId xmlns:a16="http://schemas.microsoft.com/office/drawing/2014/main" id="{CB11E399-AFFE-00E1-D1B0-4A7CAFF06ED0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8F68881D-03EC-1B58-3270-E7C12074A98B}"/>
              </a:ext>
            </a:extLst>
          </p:cNvPr>
          <p:cNvSpPr txBox="1"/>
          <p:nvPr/>
        </p:nvSpPr>
        <p:spPr>
          <a:xfrm>
            <a:off x="11444885" y="64892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8B248CF0-AFA9-1996-D476-CD38B2F1ACDF}"/>
              </a:ext>
            </a:extLst>
          </p:cNvPr>
          <p:cNvSpPr txBox="1"/>
          <p:nvPr/>
        </p:nvSpPr>
        <p:spPr>
          <a:xfrm>
            <a:off x="628650" y="1640235"/>
            <a:ext cx="9915525" cy="39703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2800" b="1" dirty="0" err="1">
                <a:latin typeface="Aptos" panose="020B0004020202020204" pitchFamily="34" charset="0"/>
              </a:rPr>
              <a:t>Soluzione</a:t>
            </a:r>
            <a:endParaRPr lang="en-US" sz="2800" b="1" dirty="0">
              <a:latin typeface="Aptos" panose="020B0004020202020204" pitchFamily="34" charset="0"/>
            </a:endParaRPr>
          </a:p>
          <a:p>
            <a:pPr algn="just"/>
            <a:r>
              <a:rPr lang="it-IT" sz="2800" dirty="0">
                <a:latin typeface="Aptos" panose="020B0004020202020204" pitchFamily="34" charset="0"/>
              </a:rPr>
              <a:t>Piattaforma</a:t>
            </a:r>
            <a:r>
              <a:rPr lang="it-IT" sz="2800" b="1" dirty="0">
                <a:latin typeface="Aptos" panose="020B0004020202020204" pitchFamily="34" charset="0"/>
              </a:rPr>
              <a:t> intelligente </a:t>
            </a:r>
            <a:r>
              <a:rPr lang="it-IT" sz="2800" dirty="0">
                <a:latin typeface="Aptos" panose="020B0004020202020204" pitchFamily="34" charset="0"/>
              </a:rPr>
              <a:t>di </a:t>
            </a:r>
            <a:r>
              <a:rPr lang="it-IT" sz="2800" b="1" dirty="0">
                <a:latin typeface="Aptos" panose="020B0004020202020204" pitchFamily="34" charset="0"/>
              </a:rPr>
              <a:t>supporto decisionale</a:t>
            </a:r>
            <a:r>
              <a:rPr lang="it-IT" sz="2800" dirty="0">
                <a:latin typeface="Aptos" panose="020B0004020202020204" pitchFamily="34" charset="0"/>
              </a:rPr>
              <a:t> per i </a:t>
            </a:r>
            <a:r>
              <a:rPr lang="it-IT" sz="2800" b="1" dirty="0">
                <a:latin typeface="Aptos" panose="020B0004020202020204" pitchFamily="34" charset="0"/>
              </a:rPr>
              <a:t>medici</a:t>
            </a:r>
          </a:p>
          <a:p>
            <a:pPr algn="just"/>
            <a:r>
              <a:rPr lang="it-IT" sz="2800" dirty="0">
                <a:latin typeface="Aptos" panose="020B0004020202020204" pitchFamily="34" charset="0"/>
              </a:rPr>
              <a:t>→ Fornisce</a:t>
            </a:r>
            <a:r>
              <a:rPr lang="it-IT" sz="2800" b="1" dirty="0">
                <a:latin typeface="Aptos" panose="020B0004020202020204" pitchFamily="34" charset="0"/>
              </a:rPr>
              <a:t> diagnosi preliminari</a:t>
            </a:r>
            <a:r>
              <a:rPr lang="it-IT" sz="2800" dirty="0">
                <a:latin typeface="Aptos" panose="020B0004020202020204" pitchFamily="34" charset="0"/>
              </a:rPr>
              <a:t> e </a:t>
            </a:r>
            <a:r>
              <a:rPr lang="it-IT" sz="2800" b="1" dirty="0">
                <a:latin typeface="Aptos" panose="020B0004020202020204" pitchFamily="34" charset="0"/>
              </a:rPr>
              <a:t>ottimizza </a:t>
            </a:r>
            <a:r>
              <a:rPr lang="it-IT" sz="2800" dirty="0">
                <a:latin typeface="Aptos" panose="020B0004020202020204" pitchFamily="34" charset="0"/>
              </a:rPr>
              <a:t>il processo di </a:t>
            </a:r>
            <a:r>
              <a:rPr lang="it-IT" sz="2800" b="1" dirty="0">
                <a:latin typeface="Aptos" panose="020B0004020202020204" pitchFamily="34" charset="0"/>
              </a:rPr>
              <a:t>triage</a:t>
            </a:r>
            <a:endParaRPr lang="it-IT" sz="2800" dirty="0">
              <a:latin typeface="Aptos" panose="020B00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it-IT" sz="2800" dirty="0">
              <a:latin typeface="Aptos" panose="020B0004020202020204" pitchFamily="34" charset="0"/>
            </a:endParaRPr>
          </a:p>
          <a:p>
            <a:pPr algn="just"/>
            <a:r>
              <a:rPr lang="it-IT" sz="2800" b="1" dirty="0">
                <a:latin typeface="Aptos" panose="020B0004020202020204" pitchFamily="34" charset="0"/>
              </a:rPr>
              <a:t>Caratteristiche principali</a:t>
            </a:r>
          </a:p>
          <a:p>
            <a:pPr marL="457200" indent="-457200" algn="just">
              <a:buFont typeface="Arial"/>
              <a:buChar char="•"/>
            </a:pPr>
            <a:r>
              <a:rPr lang="it-IT" sz="2800" b="1" dirty="0" err="1">
                <a:latin typeface="Aptos"/>
              </a:rPr>
              <a:t>Explainable</a:t>
            </a:r>
            <a:r>
              <a:rPr lang="it-IT" sz="2800" b="1" dirty="0">
                <a:latin typeface="Aptos"/>
              </a:rPr>
              <a:t> AI: </a:t>
            </a:r>
            <a:r>
              <a:rPr lang="it-IT" sz="2800" dirty="0">
                <a:latin typeface="Aptos"/>
              </a:rPr>
              <a:t>Analisi multimodale con spiegazioni</a:t>
            </a:r>
          </a:p>
          <a:p>
            <a:pPr marL="457200" indent="-457200" algn="just">
              <a:buFont typeface="Arial"/>
              <a:buChar char="•"/>
            </a:pPr>
            <a:r>
              <a:rPr lang="it-IT" sz="2800" b="1" dirty="0">
                <a:latin typeface="Aptos"/>
              </a:rPr>
              <a:t>Architettura distribuita: </a:t>
            </a:r>
            <a:r>
              <a:rPr lang="it-IT" sz="2800" dirty="0">
                <a:latin typeface="Aptos"/>
              </a:rPr>
              <a:t>Accesso immediato e sicuro</a:t>
            </a:r>
            <a:endParaRPr lang="it-IT" dirty="0"/>
          </a:p>
          <a:p>
            <a:pPr marL="457200" indent="-457200" algn="just">
              <a:buFont typeface="Arial"/>
              <a:buChar char="•"/>
            </a:pPr>
            <a:r>
              <a:rPr lang="it-IT" sz="2800" b="1" dirty="0">
                <a:latin typeface="Aptos"/>
              </a:rPr>
              <a:t>Dashboard clinica: </a:t>
            </a:r>
            <a:r>
              <a:rPr lang="it-IT" sz="2800" dirty="0">
                <a:latin typeface="Aptos"/>
              </a:rPr>
              <a:t>Interfaccia per gestire analisi e referti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BB238DD-29C3-41EF-3505-92631C94ED76}"/>
              </a:ext>
            </a:extLst>
          </p:cNvPr>
          <p:cNvSpPr txBox="1"/>
          <p:nvPr/>
        </p:nvSpPr>
        <p:spPr>
          <a:xfrm>
            <a:off x="609600" y="381000"/>
            <a:ext cx="46249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>
                <a:latin typeface="Aptos" panose="020B0004020202020204" pitchFamily="34" charset="0"/>
              </a:rPr>
              <a:t>Introduzione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DC7CAB2-791A-DBCB-EF67-0A065CFAB965}"/>
              </a:ext>
            </a:extLst>
          </p:cNvPr>
          <p:cNvSpPr txBox="1"/>
          <p:nvPr/>
        </p:nvSpPr>
        <p:spPr>
          <a:xfrm>
            <a:off x="439017" y="6473090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>
                <a:solidFill>
                  <a:schemeClr val="bg1"/>
                </a:solidFill>
                <a:latin typeface="Aptos" panose="020B0004020202020204" pitchFamily="34" charset="0"/>
              </a:rPr>
              <a:t>EarlyCare</a:t>
            </a:r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 Gateway</a:t>
            </a:r>
          </a:p>
        </p:txBody>
      </p:sp>
    </p:spTree>
    <p:extLst>
      <p:ext uri="{BB962C8B-B14F-4D97-AF65-F5344CB8AC3E}">
        <p14:creationId xmlns:p14="http://schemas.microsoft.com/office/powerpoint/2010/main" val="2860120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981DB36-9DFC-E87D-8552-C57C2D64B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9">
            <a:extLst>
              <a:ext uri="{FF2B5EF4-FFF2-40B4-BE49-F238E27FC236}">
                <a16:creationId xmlns:a16="http://schemas.microsoft.com/office/drawing/2014/main" id="{A8556418-6BC7-0B06-5123-939042B7A604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3" name="object 10">
              <a:extLst>
                <a:ext uri="{FF2B5EF4-FFF2-40B4-BE49-F238E27FC236}">
                  <a16:creationId xmlns:a16="http://schemas.microsoft.com/office/drawing/2014/main" id="{46934F27-2DC1-C3DC-263F-1E7A5FA0D4C9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11">
              <a:extLst>
                <a:ext uri="{FF2B5EF4-FFF2-40B4-BE49-F238E27FC236}">
                  <a16:creationId xmlns:a16="http://schemas.microsoft.com/office/drawing/2014/main" id="{CA31F60B-29A9-81F2-9D6B-101E1D5124DB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0EF8E48-B666-D3AF-4827-DC0BB16FFC02}"/>
              </a:ext>
            </a:extLst>
          </p:cNvPr>
          <p:cNvSpPr txBox="1"/>
          <p:nvPr/>
        </p:nvSpPr>
        <p:spPr>
          <a:xfrm>
            <a:off x="11444884" y="64892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43E5E8C3-AE96-66EB-B191-7CACB37CB7F4}"/>
              </a:ext>
            </a:extLst>
          </p:cNvPr>
          <p:cNvSpPr txBox="1"/>
          <p:nvPr/>
        </p:nvSpPr>
        <p:spPr>
          <a:xfrm>
            <a:off x="723900" y="365720"/>
            <a:ext cx="857478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>
                <a:latin typeface="Aptos" panose="020B0004020202020204" pitchFamily="34" charset="0"/>
              </a:rPr>
              <a:t>Requisiti Funzionali (FR)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1D51F80-6472-41D7-F948-67FE74B264EE}"/>
              </a:ext>
            </a:extLst>
          </p:cNvPr>
          <p:cNvSpPr txBox="1"/>
          <p:nvPr/>
        </p:nvSpPr>
        <p:spPr>
          <a:xfrm>
            <a:off x="799116" y="1627891"/>
            <a:ext cx="1059376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Gestione staff medico: </a:t>
            </a:r>
            <a:r>
              <a:rPr lang="it-IT" sz="2800" dirty="0">
                <a:latin typeface="Aptos" panose="020B0004020202020204" pitchFamily="34" charset="0"/>
              </a:rPr>
              <a:t>Registrazione, autenticazione e recupero credenziali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Analisi e diagnosi preliminare: </a:t>
            </a:r>
            <a:r>
              <a:rPr lang="it-IT" sz="2800" dirty="0">
                <a:latin typeface="Aptos" panose="020B0004020202020204" pitchFamily="34" charset="0"/>
              </a:rPr>
              <a:t>Invio</a:t>
            </a:r>
            <a:r>
              <a:rPr lang="it-IT" sz="2800" b="1" dirty="0">
                <a:latin typeface="Aptos" panose="020B0004020202020204" pitchFamily="34" charset="0"/>
              </a:rPr>
              <a:t> </a:t>
            </a:r>
            <a:r>
              <a:rPr lang="it-IT" sz="2800" dirty="0">
                <a:latin typeface="Aptos" panose="020B0004020202020204" pitchFamily="34" charset="0"/>
              </a:rPr>
              <a:t>dati clinici, classificazione con modelli AI, generazione di referti spiegabili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Gestione referti persistenti: </a:t>
            </a:r>
            <a:r>
              <a:rPr lang="it-IT" sz="2800" dirty="0">
                <a:latin typeface="Aptos" panose="020B0004020202020204" pitchFamily="34" charset="0"/>
              </a:rPr>
              <a:t>Consultazione, filtraggio e ricerca per paziente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Audit e monitoraggio: </a:t>
            </a:r>
            <a:r>
              <a:rPr lang="it-IT" sz="2800" dirty="0" err="1">
                <a:latin typeface="Aptos" panose="020B0004020202020204" pitchFamily="34" charset="0"/>
              </a:rPr>
              <a:t>Logging</a:t>
            </a:r>
            <a:r>
              <a:rPr lang="it-IT" sz="2800" dirty="0">
                <a:latin typeface="Aptos" panose="020B0004020202020204" pitchFamily="34" charset="0"/>
              </a:rPr>
              <a:t> di tutte le operazioni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8CDBEE1-D376-DBD5-47A7-A2AD0296C59E}"/>
              </a:ext>
            </a:extLst>
          </p:cNvPr>
          <p:cNvSpPr txBox="1"/>
          <p:nvPr/>
        </p:nvSpPr>
        <p:spPr>
          <a:xfrm>
            <a:off x="3047999" y="5062161"/>
            <a:ext cx="6096000" cy="1055608"/>
          </a:xfrm>
          <a:prstGeom prst="roundRect">
            <a:avLst/>
          </a:prstGeom>
          <a:solidFill>
            <a:srgbClr val="009999">
              <a:alpha val="10196"/>
            </a:srgbClr>
          </a:solidFill>
          <a:ln>
            <a:solidFill>
              <a:srgbClr val="00819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Aptos" panose="020B0004020202020204" pitchFamily="34" charset="0"/>
              </a:rPr>
              <a:t>L’utilizzo della piattaforma è</a:t>
            </a:r>
            <a:r>
              <a:rPr lang="it-IT" sz="2800" b="1" dirty="0">
                <a:latin typeface="Aptos" panose="020B0004020202020204" pitchFamily="34" charset="0"/>
              </a:rPr>
              <a:t> riservato </a:t>
            </a:r>
            <a:r>
              <a:rPr lang="it-IT" sz="2800" dirty="0">
                <a:latin typeface="Aptos" panose="020B0004020202020204" pitchFamily="34" charset="0"/>
              </a:rPr>
              <a:t>al</a:t>
            </a:r>
            <a:r>
              <a:rPr lang="it-IT" sz="2800" b="1" dirty="0">
                <a:latin typeface="Aptos" panose="020B0004020202020204" pitchFamily="34" charset="0"/>
              </a:rPr>
              <a:t> solo personale medico</a:t>
            </a:r>
          </a:p>
        </p:txBody>
      </p:sp>
      <p:pic>
        <p:nvPicPr>
          <p:cNvPr id="4098" name="Picture 2" descr="Warning - Free signaling icons">
            <a:extLst>
              <a:ext uri="{FF2B5EF4-FFF2-40B4-BE49-F238E27FC236}">
                <a16:creationId xmlns:a16="http://schemas.microsoft.com/office/drawing/2014/main" id="{97EE22C9-38DD-BDD7-9E15-7472908C8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199" y="4845010"/>
            <a:ext cx="8382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3C86A39F-AC73-74F9-A151-FE8DB6CEBDAB}"/>
              </a:ext>
            </a:extLst>
          </p:cNvPr>
          <p:cNvSpPr txBox="1"/>
          <p:nvPr/>
        </p:nvSpPr>
        <p:spPr>
          <a:xfrm>
            <a:off x="439017" y="6473090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>
                <a:solidFill>
                  <a:schemeClr val="bg1"/>
                </a:solidFill>
                <a:latin typeface="Aptos" panose="020B0004020202020204" pitchFamily="34" charset="0"/>
              </a:rPr>
              <a:t>EarlyCare</a:t>
            </a:r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 Gateway</a:t>
            </a:r>
          </a:p>
        </p:txBody>
      </p:sp>
    </p:spTree>
    <p:extLst>
      <p:ext uri="{BB962C8B-B14F-4D97-AF65-F5344CB8AC3E}">
        <p14:creationId xmlns:p14="http://schemas.microsoft.com/office/powerpoint/2010/main" val="35605993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73B6AD7-0145-718B-DC07-DBC116BB3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9">
            <a:extLst>
              <a:ext uri="{FF2B5EF4-FFF2-40B4-BE49-F238E27FC236}">
                <a16:creationId xmlns:a16="http://schemas.microsoft.com/office/drawing/2014/main" id="{912D8678-6BE4-D1C6-94A3-7905A24C0820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3" name="object 10">
              <a:extLst>
                <a:ext uri="{FF2B5EF4-FFF2-40B4-BE49-F238E27FC236}">
                  <a16:creationId xmlns:a16="http://schemas.microsoft.com/office/drawing/2014/main" id="{16C5E943-B593-DF7C-3D95-7AF36AA5C789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11">
              <a:extLst>
                <a:ext uri="{FF2B5EF4-FFF2-40B4-BE49-F238E27FC236}">
                  <a16:creationId xmlns:a16="http://schemas.microsoft.com/office/drawing/2014/main" id="{8DEF5E5C-6C51-DFE3-E01E-96C528419851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88854D3-F581-F271-4A15-100BADB7AEE4}"/>
              </a:ext>
            </a:extLst>
          </p:cNvPr>
          <p:cNvSpPr txBox="1"/>
          <p:nvPr/>
        </p:nvSpPr>
        <p:spPr>
          <a:xfrm>
            <a:off x="11444884" y="64892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998FE30C-C22A-8D13-4AE8-8F71B4787DEA}"/>
              </a:ext>
            </a:extLst>
          </p:cNvPr>
          <p:cNvSpPr txBox="1"/>
          <p:nvPr/>
        </p:nvSpPr>
        <p:spPr>
          <a:xfrm>
            <a:off x="723900" y="365720"/>
            <a:ext cx="1072761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>
                <a:latin typeface="Aptos" panose="020B0004020202020204" pitchFamily="34" charset="0"/>
              </a:rPr>
              <a:t>Requisiti Non Funzionali (NFR)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5443EAD-8907-D5D3-583F-82ADEEFDA602}"/>
              </a:ext>
            </a:extLst>
          </p:cNvPr>
          <p:cNvSpPr txBox="1"/>
          <p:nvPr/>
        </p:nvSpPr>
        <p:spPr>
          <a:xfrm>
            <a:off x="723900" y="1676400"/>
            <a:ext cx="9144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Privacy e sicurezza: </a:t>
            </a:r>
            <a:r>
              <a:rPr lang="it-IT" sz="2800" dirty="0">
                <a:latin typeface="Aptos" panose="020B0004020202020204" pitchFamily="34" charset="0"/>
              </a:rPr>
              <a:t>Anonimizzazione dati sensibili, autenticazione con JSON Web Token (JWT)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Tracciabilità e audit: </a:t>
            </a:r>
            <a:r>
              <a:rPr lang="it-IT" sz="2800" dirty="0" err="1">
                <a:latin typeface="Aptos" panose="020B0004020202020204" pitchFamily="34" charset="0"/>
              </a:rPr>
              <a:t>Logging</a:t>
            </a:r>
            <a:r>
              <a:rPr lang="it-IT" sz="2800" dirty="0">
                <a:latin typeface="Aptos" panose="020B0004020202020204" pitchFamily="34" charset="0"/>
              </a:rPr>
              <a:t> asincrono e frequente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Tempi di risposta configurabili (</a:t>
            </a:r>
            <a:r>
              <a:rPr lang="it-IT" sz="2800" b="1" dirty="0" err="1">
                <a:latin typeface="Aptos" panose="020B0004020202020204" pitchFamily="34" charset="0"/>
              </a:rPr>
              <a:t>Swappable</a:t>
            </a:r>
            <a:r>
              <a:rPr lang="it-IT" sz="2800" b="1" dirty="0">
                <a:latin typeface="Aptos" panose="020B0004020202020204" pitchFamily="34" charset="0"/>
              </a:rPr>
              <a:t> AI): </a:t>
            </a:r>
            <a:r>
              <a:rPr lang="it-IT" sz="2800" dirty="0">
                <a:latin typeface="Aptos" panose="020B0004020202020204" pitchFamily="34" charset="0"/>
              </a:rPr>
              <a:t>Scelta a </a:t>
            </a:r>
            <a:r>
              <a:rPr lang="it-IT" sz="2800" dirty="0" err="1">
                <a:latin typeface="Aptos" panose="020B0004020202020204" pitchFamily="34" charset="0"/>
              </a:rPr>
              <a:t>runtime</a:t>
            </a:r>
            <a:r>
              <a:rPr lang="it-IT" sz="2800" dirty="0">
                <a:latin typeface="Aptos" panose="020B0004020202020204" pitchFamily="34" charset="0"/>
              </a:rPr>
              <a:t> tra analisi rapida (ML) o approfondita (LLM)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 err="1">
                <a:latin typeface="Aptos" panose="020B0004020202020204" pitchFamily="34" charset="0"/>
              </a:rPr>
              <a:t>Spiegabilità</a:t>
            </a:r>
            <a:r>
              <a:rPr lang="it-IT" sz="2800" b="1" dirty="0">
                <a:latin typeface="Aptos" panose="020B0004020202020204" pitchFamily="34" charset="0"/>
              </a:rPr>
              <a:t>: </a:t>
            </a:r>
            <a:r>
              <a:rPr lang="it-IT" sz="2800" dirty="0">
                <a:latin typeface="Aptos" panose="020B0004020202020204" pitchFamily="34" charset="0"/>
              </a:rPr>
              <a:t>Analisi e spiegazione delle decisioni</a:t>
            </a:r>
            <a:endParaRPr lang="it-IT" sz="2800" b="1" dirty="0">
              <a:latin typeface="Aptos" panose="020B00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Scalabilità e manutenibilità: </a:t>
            </a:r>
            <a:r>
              <a:rPr lang="it-IT" sz="2800" dirty="0">
                <a:latin typeface="Aptos" panose="020B0004020202020204" pitchFamily="34" charset="0"/>
              </a:rPr>
              <a:t>Architettura a microservizi con </a:t>
            </a:r>
            <a:r>
              <a:rPr lang="it-IT" sz="2800" dirty="0" err="1">
                <a:latin typeface="Aptos" panose="020B0004020202020204" pitchFamily="34" charset="0"/>
              </a:rPr>
              <a:t>RESTful</a:t>
            </a:r>
            <a:r>
              <a:rPr lang="it-IT" sz="2800" dirty="0">
                <a:latin typeface="Aptos" panose="020B0004020202020204" pitchFamily="34" charset="0"/>
              </a:rPr>
              <a:t> API e database-per-service</a:t>
            </a:r>
          </a:p>
        </p:txBody>
      </p:sp>
      <p:pic>
        <p:nvPicPr>
          <p:cNvPr id="5126" name="Picture 6" descr="Non-Functional Requirements - UCD IT Services">
            <a:extLst>
              <a:ext uri="{FF2B5EF4-FFF2-40B4-BE49-F238E27FC236}">
                <a16:creationId xmlns:a16="http://schemas.microsoft.com/office/drawing/2014/main" id="{0E228737-AB4A-2F6E-1977-6B279EA6F9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86" t="659" r="24955" b="-659"/>
          <a:stretch>
            <a:fillRect/>
          </a:stretch>
        </p:blipFill>
        <p:spPr bwMode="auto">
          <a:xfrm>
            <a:off x="10210800" y="2709059"/>
            <a:ext cx="1700893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0B713F21-783B-C796-7A42-28CB6695D075}"/>
              </a:ext>
            </a:extLst>
          </p:cNvPr>
          <p:cNvSpPr txBox="1"/>
          <p:nvPr/>
        </p:nvSpPr>
        <p:spPr>
          <a:xfrm>
            <a:off x="439017" y="6473090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>
                <a:solidFill>
                  <a:schemeClr val="bg1"/>
                </a:solidFill>
                <a:latin typeface="Aptos" panose="020B0004020202020204" pitchFamily="34" charset="0"/>
              </a:rPr>
              <a:t>EarlyCare</a:t>
            </a:r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 Gateway</a:t>
            </a:r>
          </a:p>
        </p:txBody>
      </p:sp>
    </p:spTree>
    <p:extLst>
      <p:ext uri="{BB962C8B-B14F-4D97-AF65-F5344CB8AC3E}">
        <p14:creationId xmlns:p14="http://schemas.microsoft.com/office/powerpoint/2010/main" val="1578694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A1CE2E5-D78E-9207-8830-E0DD2F5F2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9">
            <a:extLst>
              <a:ext uri="{FF2B5EF4-FFF2-40B4-BE49-F238E27FC236}">
                <a16:creationId xmlns:a16="http://schemas.microsoft.com/office/drawing/2014/main" id="{DEDC11D6-6031-1CE7-6C7F-E180C69353A6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3" name="object 10">
              <a:extLst>
                <a:ext uri="{FF2B5EF4-FFF2-40B4-BE49-F238E27FC236}">
                  <a16:creationId xmlns:a16="http://schemas.microsoft.com/office/drawing/2014/main" id="{6A6981A6-50F6-0C66-6A28-F962D4F46D79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11">
              <a:extLst>
                <a:ext uri="{FF2B5EF4-FFF2-40B4-BE49-F238E27FC236}">
                  <a16:creationId xmlns:a16="http://schemas.microsoft.com/office/drawing/2014/main" id="{517DDF4F-7D7B-ABB9-85BF-F7C3350C4388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54EB24B-686A-D962-77DF-BA97AC4F6B6F}"/>
              </a:ext>
            </a:extLst>
          </p:cNvPr>
          <p:cNvSpPr txBox="1"/>
          <p:nvPr/>
        </p:nvSpPr>
        <p:spPr>
          <a:xfrm>
            <a:off x="11444884" y="64892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99721CA0-370C-E328-110D-953D9A758ABB}"/>
              </a:ext>
            </a:extLst>
          </p:cNvPr>
          <p:cNvSpPr txBox="1"/>
          <p:nvPr/>
        </p:nvSpPr>
        <p:spPr>
          <a:xfrm>
            <a:off x="723900" y="365720"/>
            <a:ext cx="442621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>
                <a:latin typeface="Aptos" panose="020B0004020202020204" pitchFamily="34" charset="0"/>
              </a:rPr>
              <a:t>Architettura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9479A86-E474-AAD0-9442-F3C05EE4880A}"/>
              </a:ext>
            </a:extLst>
          </p:cNvPr>
          <p:cNvSpPr txBox="1"/>
          <p:nvPr/>
        </p:nvSpPr>
        <p:spPr>
          <a:xfrm>
            <a:off x="723900" y="1524000"/>
            <a:ext cx="30099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800" dirty="0">
                <a:latin typeface="Aptos" panose="020B0004020202020204" pitchFamily="34" charset="0"/>
              </a:rPr>
              <a:t>Diagramma UML</a:t>
            </a:r>
          </a:p>
          <a:p>
            <a:pPr algn="just"/>
            <a:r>
              <a:rPr lang="it-IT" sz="2800" b="1" dirty="0">
                <a:latin typeface="Aptos" panose="020B0004020202020204" pitchFamily="34" charset="0"/>
              </a:rPr>
              <a:t>componenti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366A34C-E1BC-7999-6FB2-E4C98485E1B3}"/>
              </a:ext>
            </a:extLst>
          </p:cNvPr>
          <p:cNvSpPr txBox="1"/>
          <p:nvPr/>
        </p:nvSpPr>
        <p:spPr>
          <a:xfrm>
            <a:off x="439017" y="6473090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>
                <a:solidFill>
                  <a:schemeClr val="bg1"/>
                </a:solidFill>
                <a:latin typeface="Aptos" panose="020B0004020202020204" pitchFamily="34" charset="0"/>
              </a:rPr>
              <a:t>EarlyCare</a:t>
            </a:r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 Gateway</a:t>
            </a:r>
          </a:p>
        </p:txBody>
      </p:sp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2E29BC67-3622-11F3-5042-DC4991CD62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34184" y="7839"/>
            <a:ext cx="9410700" cy="652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6514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E6C8AE-63FC-8A96-38A4-8AA348086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9">
            <a:extLst>
              <a:ext uri="{FF2B5EF4-FFF2-40B4-BE49-F238E27FC236}">
                <a16:creationId xmlns:a16="http://schemas.microsoft.com/office/drawing/2014/main" id="{2EE95C98-22AC-A5DA-FCAE-5A5728EFD2F0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3" name="object 10">
              <a:extLst>
                <a:ext uri="{FF2B5EF4-FFF2-40B4-BE49-F238E27FC236}">
                  <a16:creationId xmlns:a16="http://schemas.microsoft.com/office/drawing/2014/main" id="{01CCD283-801A-350D-A578-34A3DB3F6733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11">
              <a:extLst>
                <a:ext uri="{FF2B5EF4-FFF2-40B4-BE49-F238E27FC236}">
                  <a16:creationId xmlns:a16="http://schemas.microsoft.com/office/drawing/2014/main" id="{6348388E-EB46-362E-F1BC-B70BBA5EC835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A8328F80-1F0F-F02D-9E42-5929580ACBE1}"/>
              </a:ext>
            </a:extLst>
          </p:cNvPr>
          <p:cNvSpPr txBox="1"/>
          <p:nvPr/>
        </p:nvSpPr>
        <p:spPr>
          <a:xfrm>
            <a:off x="11444884" y="64892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97160DC9-4268-3040-4C5B-3C0D7B1364B1}"/>
              </a:ext>
            </a:extLst>
          </p:cNvPr>
          <p:cNvSpPr txBox="1"/>
          <p:nvPr/>
        </p:nvSpPr>
        <p:spPr>
          <a:xfrm>
            <a:off x="723900" y="365720"/>
            <a:ext cx="575029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>
                <a:latin typeface="Aptos" panose="020B0004020202020204" pitchFamily="34" charset="0"/>
              </a:rPr>
              <a:t>Design Patterns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15ECF5C-018A-1D97-6AB1-765A51AE7265}"/>
              </a:ext>
            </a:extLst>
          </p:cNvPr>
          <p:cNvSpPr txBox="1"/>
          <p:nvPr/>
        </p:nvSpPr>
        <p:spPr>
          <a:xfrm>
            <a:off x="793826" y="1874728"/>
            <a:ext cx="1067544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800" dirty="0">
                <a:latin typeface="Aptos" panose="020B0004020202020204" pitchFamily="34" charset="0"/>
              </a:rPr>
              <a:t>A ciascun </a:t>
            </a:r>
            <a:r>
              <a:rPr lang="it-IT" sz="2800" b="1" dirty="0">
                <a:latin typeface="Aptos" panose="020B0004020202020204" pitchFamily="34" charset="0"/>
              </a:rPr>
              <a:t>componente</a:t>
            </a:r>
            <a:r>
              <a:rPr lang="it-IT" sz="2800" dirty="0">
                <a:latin typeface="Aptos" panose="020B0004020202020204" pitchFamily="34" charset="0"/>
              </a:rPr>
              <a:t> è associato almeno un </a:t>
            </a:r>
            <a:r>
              <a:rPr lang="it-IT" sz="2800" b="1" dirty="0">
                <a:latin typeface="Aptos" panose="020B0004020202020204" pitchFamily="34" charset="0"/>
              </a:rPr>
              <a:t>design pattern</a:t>
            </a:r>
            <a:r>
              <a:rPr lang="it-IT" sz="2800" dirty="0">
                <a:latin typeface="Aptos" panose="020B0004020202020204" pitchFamily="34" charset="0"/>
              </a:rPr>
              <a:t>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Gateway: </a:t>
            </a:r>
            <a:r>
              <a:rPr lang="it-IT" sz="2800" dirty="0" err="1">
                <a:latin typeface="Aptos" panose="020B0004020202020204" pitchFamily="34" charset="0"/>
              </a:rPr>
              <a:t>Facade</a:t>
            </a:r>
            <a:endParaRPr lang="it-IT" sz="2800" b="1" dirty="0">
              <a:latin typeface="Aptos" panose="020B00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Authentication: </a:t>
            </a:r>
            <a:r>
              <a:rPr lang="it-IT" sz="2800" dirty="0">
                <a:latin typeface="Aptos" panose="020B0004020202020204" pitchFamily="34" charset="0"/>
              </a:rPr>
              <a:t>Repository</a:t>
            </a:r>
            <a:endParaRPr lang="it-IT" sz="2800" b="1" dirty="0">
              <a:latin typeface="Aptos" panose="020B00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Data Processing: </a:t>
            </a:r>
            <a:r>
              <a:rPr lang="it-IT" sz="2800" dirty="0">
                <a:latin typeface="Aptos" panose="020B0004020202020204" pitchFamily="34" charset="0"/>
              </a:rPr>
              <a:t>Chain of </a:t>
            </a:r>
            <a:r>
              <a:rPr lang="it-IT" sz="2800" dirty="0" err="1">
                <a:latin typeface="Aptos" panose="020B0004020202020204" pitchFamily="34" charset="0"/>
              </a:rPr>
              <a:t>Responsibility</a:t>
            </a:r>
            <a:endParaRPr lang="it-IT" sz="2800" b="1" dirty="0">
              <a:latin typeface="Aptos" panose="020B00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 err="1">
                <a:latin typeface="Aptos" panose="020B0004020202020204" pitchFamily="34" charset="0"/>
              </a:rPr>
              <a:t>Explainable</a:t>
            </a:r>
            <a:r>
              <a:rPr lang="it-IT" sz="2800" b="1" dirty="0">
                <a:latin typeface="Aptos" panose="020B0004020202020204" pitchFamily="34" charset="0"/>
              </a:rPr>
              <a:t> AI: </a:t>
            </a:r>
            <a:r>
              <a:rPr lang="it-IT" sz="2800" dirty="0">
                <a:latin typeface="Aptos" panose="020B0004020202020204" pitchFamily="34" charset="0"/>
              </a:rPr>
              <a:t>Strategy</a:t>
            </a:r>
            <a:endParaRPr lang="it-IT" sz="2800" b="1" dirty="0">
              <a:latin typeface="Aptos" panose="020B00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Audit: </a:t>
            </a:r>
            <a:r>
              <a:rPr lang="it-IT" sz="2800" dirty="0">
                <a:latin typeface="Aptos" panose="020B0004020202020204" pitchFamily="34" charset="0"/>
              </a:rPr>
              <a:t>Observer</a:t>
            </a:r>
            <a:endParaRPr lang="it-IT" sz="2800" b="1" dirty="0">
              <a:latin typeface="Aptos" panose="020B00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it-IT" sz="2800" dirty="0">
              <a:latin typeface="Aptos" panose="020B0004020202020204" pitchFamily="34" charset="0"/>
            </a:endParaRPr>
          </a:p>
        </p:txBody>
      </p:sp>
      <p:pic>
        <p:nvPicPr>
          <p:cNvPr id="9218" name="Picture 2" descr="Design Patterns - bgasparotto">
            <a:extLst>
              <a:ext uri="{FF2B5EF4-FFF2-40B4-BE49-F238E27FC236}">
                <a16:creationId xmlns:a16="http://schemas.microsoft.com/office/drawing/2014/main" id="{8F4DC8FE-1E52-449B-C008-218CE9A8D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3886200"/>
            <a:ext cx="3925468" cy="2060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3E87F89A-E4A3-1C97-61C5-C93480AC06D9}"/>
              </a:ext>
            </a:extLst>
          </p:cNvPr>
          <p:cNvSpPr txBox="1"/>
          <p:nvPr/>
        </p:nvSpPr>
        <p:spPr>
          <a:xfrm>
            <a:off x="439017" y="6473090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>
                <a:solidFill>
                  <a:schemeClr val="bg1"/>
                </a:solidFill>
                <a:latin typeface="Aptos" panose="020B0004020202020204" pitchFamily="34" charset="0"/>
              </a:rPr>
              <a:t>EarlyCare</a:t>
            </a:r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 Gateway</a:t>
            </a:r>
          </a:p>
        </p:txBody>
      </p:sp>
    </p:spTree>
    <p:extLst>
      <p:ext uri="{BB962C8B-B14F-4D97-AF65-F5344CB8AC3E}">
        <p14:creationId xmlns:p14="http://schemas.microsoft.com/office/powerpoint/2010/main" val="352538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BD7FEB-3D4E-EEC8-BDF6-2A4B5E7E3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Api icon simple thin line flat symbol | Premium Vector">
            <a:extLst>
              <a:ext uri="{FF2B5EF4-FFF2-40B4-BE49-F238E27FC236}">
                <a16:creationId xmlns:a16="http://schemas.microsoft.com/office/drawing/2014/main" id="{8323E0A4-3513-B019-C57A-57AFD97E14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55" t="12699" r="18367" b="13370"/>
          <a:stretch>
            <a:fillRect/>
          </a:stretch>
        </p:blipFill>
        <p:spPr bwMode="auto">
          <a:xfrm>
            <a:off x="9751951" y="3243901"/>
            <a:ext cx="1692933" cy="2029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object 9">
            <a:extLst>
              <a:ext uri="{FF2B5EF4-FFF2-40B4-BE49-F238E27FC236}">
                <a16:creationId xmlns:a16="http://schemas.microsoft.com/office/drawing/2014/main" id="{195B3173-E3A6-3CF9-3ECE-18EEB410BA53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3" name="object 10">
              <a:extLst>
                <a:ext uri="{FF2B5EF4-FFF2-40B4-BE49-F238E27FC236}">
                  <a16:creationId xmlns:a16="http://schemas.microsoft.com/office/drawing/2014/main" id="{2A818DCB-DB5E-DC59-6999-1D813DE7F181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11">
              <a:extLst>
                <a:ext uri="{FF2B5EF4-FFF2-40B4-BE49-F238E27FC236}">
                  <a16:creationId xmlns:a16="http://schemas.microsoft.com/office/drawing/2014/main" id="{EEED4B13-2093-0819-1ACD-801A901DEB78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7A6022DE-C5BC-FACD-0B7C-5E9F34E970A8}"/>
              </a:ext>
            </a:extLst>
          </p:cNvPr>
          <p:cNvSpPr txBox="1"/>
          <p:nvPr/>
        </p:nvSpPr>
        <p:spPr>
          <a:xfrm>
            <a:off x="11444884" y="64892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47AB6765-1958-F209-E2AF-3EE738D5690E}"/>
              </a:ext>
            </a:extLst>
          </p:cNvPr>
          <p:cNvSpPr txBox="1"/>
          <p:nvPr/>
        </p:nvSpPr>
        <p:spPr>
          <a:xfrm>
            <a:off x="723900" y="365720"/>
            <a:ext cx="109347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6000" b="1" dirty="0">
                <a:latin typeface="Aptos" panose="020B0004020202020204" pitchFamily="34" charset="0"/>
              </a:rPr>
              <a:t>Application Programming</a:t>
            </a:r>
          </a:p>
          <a:p>
            <a:r>
              <a:rPr lang="it-IT" sz="6000" b="1" dirty="0">
                <a:latin typeface="Aptos" panose="020B0004020202020204" pitchFamily="34" charset="0"/>
              </a:rPr>
              <a:t>Interface (API)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55BD2A3-640F-37F5-FD6A-6E43379E67D5}"/>
              </a:ext>
            </a:extLst>
          </p:cNvPr>
          <p:cNvSpPr txBox="1"/>
          <p:nvPr/>
        </p:nvSpPr>
        <p:spPr>
          <a:xfrm>
            <a:off x="723900" y="2570773"/>
            <a:ext cx="83439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800" b="1" dirty="0">
                <a:latin typeface="Aptos" panose="020B0004020202020204" pitchFamily="34" charset="0"/>
              </a:rPr>
              <a:t>Endpoints pubblici: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POST /</a:t>
            </a:r>
            <a:r>
              <a:rPr lang="it-IT" sz="2800" b="1" dirty="0" err="1">
                <a:latin typeface="Aptos" panose="020B0004020202020204" pitchFamily="34" charset="0"/>
              </a:rPr>
              <a:t>register</a:t>
            </a:r>
            <a:r>
              <a:rPr lang="it-IT" sz="2800" b="1" dirty="0">
                <a:latin typeface="Aptos" panose="020B0004020202020204" pitchFamily="34" charset="0"/>
              </a:rPr>
              <a:t>: </a:t>
            </a:r>
            <a:r>
              <a:rPr lang="it-IT" sz="2800" dirty="0">
                <a:latin typeface="Aptos" panose="020B0004020202020204" pitchFamily="34" charset="0"/>
              </a:rPr>
              <a:t>Permette la registrazione del personale medico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POST /login: </a:t>
            </a:r>
            <a:r>
              <a:rPr lang="it-IT" sz="2800" dirty="0">
                <a:latin typeface="Aptos" panose="020B0004020202020204" pitchFamily="34" charset="0"/>
              </a:rPr>
              <a:t>Autentica l'utente e genera un token JWT, obbligatorio per autenticare le chiamate successive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POST /</a:t>
            </a:r>
            <a:r>
              <a:rPr lang="it-IT" sz="2800" b="1" dirty="0" err="1">
                <a:latin typeface="Aptos" panose="020B0004020202020204" pitchFamily="34" charset="0"/>
              </a:rPr>
              <a:t>forgot</a:t>
            </a:r>
            <a:r>
              <a:rPr lang="it-IT" sz="2800" b="1" dirty="0">
                <a:latin typeface="Aptos" panose="020B0004020202020204" pitchFamily="34" charset="0"/>
              </a:rPr>
              <a:t>-id, POST /</a:t>
            </a:r>
            <a:r>
              <a:rPr lang="it-IT" sz="2800" b="1" dirty="0" err="1">
                <a:latin typeface="Aptos" panose="020B0004020202020204" pitchFamily="34" charset="0"/>
              </a:rPr>
              <a:t>forgot</a:t>
            </a:r>
            <a:r>
              <a:rPr lang="it-IT" sz="2800" b="1" dirty="0">
                <a:latin typeface="Aptos" panose="020B0004020202020204" pitchFamily="34" charset="0"/>
              </a:rPr>
              <a:t>-password</a:t>
            </a:r>
            <a:r>
              <a:rPr lang="it-IT" sz="2800" dirty="0">
                <a:latin typeface="Aptos" panose="020B0004020202020204" pitchFamily="34" charset="0"/>
              </a:rPr>
              <a:t>: Recupero sicuro delle credenziali via email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02C5B18-F7BB-B3AB-E1B7-EAAB2AF7A721}"/>
              </a:ext>
            </a:extLst>
          </p:cNvPr>
          <p:cNvSpPr txBox="1"/>
          <p:nvPr/>
        </p:nvSpPr>
        <p:spPr>
          <a:xfrm>
            <a:off x="439017" y="6473090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>
                <a:solidFill>
                  <a:schemeClr val="bg1"/>
                </a:solidFill>
                <a:latin typeface="Aptos" panose="020B0004020202020204" pitchFamily="34" charset="0"/>
              </a:rPr>
              <a:t>EarlyCare</a:t>
            </a:r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 Gateway</a:t>
            </a:r>
          </a:p>
        </p:txBody>
      </p:sp>
    </p:spTree>
    <p:extLst>
      <p:ext uri="{BB962C8B-B14F-4D97-AF65-F5344CB8AC3E}">
        <p14:creationId xmlns:p14="http://schemas.microsoft.com/office/powerpoint/2010/main" val="3004411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9B7A6AE-1F68-C6EF-37D8-4B600D53F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9">
            <a:extLst>
              <a:ext uri="{FF2B5EF4-FFF2-40B4-BE49-F238E27FC236}">
                <a16:creationId xmlns:a16="http://schemas.microsoft.com/office/drawing/2014/main" id="{C119118A-6171-7C99-38B6-6A00F8F18976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3" name="object 10">
              <a:extLst>
                <a:ext uri="{FF2B5EF4-FFF2-40B4-BE49-F238E27FC236}">
                  <a16:creationId xmlns:a16="http://schemas.microsoft.com/office/drawing/2014/main" id="{2BE52C2C-7B67-84D1-A67F-4E416B030410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11">
              <a:extLst>
                <a:ext uri="{FF2B5EF4-FFF2-40B4-BE49-F238E27FC236}">
                  <a16:creationId xmlns:a16="http://schemas.microsoft.com/office/drawing/2014/main" id="{C4A7C163-497E-CA11-ECE0-F0E19A291157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91D9C8F2-0FD3-986B-30C1-8083FE85D901}"/>
              </a:ext>
            </a:extLst>
          </p:cNvPr>
          <p:cNvSpPr txBox="1"/>
          <p:nvPr/>
        </p:nvSpPr>
        <p:spPr>
          <a:xfrm>
            <a:off x="11444884" y="64892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271BC0E-ECA8-8E59-2D3E-2F6429AD9E84}"/>
              </a:ext>
            </a:extLst>
          </p:cNvPr>
          <p:cNvSpPr txBox="1"/>
          <p:nvPr/>
        </p:nvSpPr>
        <p:spPr>
          <a:xfrm>
            <a:off x="723900" y="2590800"/>
            <a:ext cx="84201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800" b="1" dirty="0">
                <a:latin typeface="Aptos" panose="020B0004020202020204" pitchFamily="34" charset="0"/>
              </a:rPr>
              <a:t>Endpoints autenticati: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POST /</a:t>
            </a:r>
            <a:r>
              <a:rPr lang="it-IT" sz="2800" b="1" dirty="0" err="1">
                <a:latin typeface="Aptos" panose="020B0004020202020204" pitchFamily="34" charset="0"/>
              </a:rPr>
              <a:t>analyse</a:t>
            </a:r>
            <a:r>
              <a:rPr lang="it-IT" sz="2800" b="1" dirty="0">
                <a:latin typeface="Aptos" panose="020B0004020202020204" pitchFamily="34" charset="0"/>
              </a:rPr>
              <a:t>: </a:t>
            </a:r>
            <a:r>
              <a:rPr lang="it-IT" sz="2800" dirty="0">
                <a:latin typeface="Aptos" panose="020B0004020202020204" pitchFamily="34" charset="0"/>
              </a:rPr>
              <a:t>Avvia il processo di processing dei dati e l’analisi AI per ottenere la diagnosi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GET /reports: </a:t>
            </a:r>
            <a:r>
              <a:rPr lang="it-IT" sz="2800" dirty="0">
                <a:latin typeface="Aptos" panose="020B0004020202020204" pitchFamily="34" charset="0"/>
              </a:rPr>
              <a:t>Permette al medico autenticato di recuperare la lista di tutti i referti generati o di filtrare la ricerca per un paziente specifico</a:t>
            </a:r>
          </a:p>
        </p:txBody>
      </p:sp>
      <p:pic>
        <p:nvPicPr>
          <p:cNvPr id="8196" name="Picture 4" descr="lucchetto icona nel piatto stile clip arte 22062243 PNG">
            <a:extLst>
              <a:ext uri="{FF2B5EF4-FFF2-40B4-BE49-F238E27FC236}">
                <a16:creationId xmlns:a16="http://schemas.microsoft.com/office/drawing/2014/main" id="{58517C18-FDFA-5339-5E5B-24A9DEC82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0" y="3200400"/>
            <a:ext cx="1447800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AE63FB91-EF3D-4063-1D64-550DB9C4830B}"/>
              </a:ext>
            </a:extLst>
          </p:cNvPr>
          <p:cNvSpPr txBox="1"/>
          <p:nvPr/>
        </p:nvSpPr>
        <p:spPr>
          <a:xfrm>
            <a:off x="723900" y="365720"/>
            <a:ext cx="109347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6000" b="1" dirty="0">
                <a:latin typeface="Aptos" panose="020B0004020202020204" pitchFamily="34" charset="0"/>
              </a:rPr>
              <a:t>Application Programming</a:t>
            </a:r>
          </a:p>
          <a:p>
            <a:r>
              <a:rPr lang="it-IT" sz="6000" b="1" dirty="0">
                <a:latin typeface="Aptos" panose="020B0004020202020204" pitchFamily="34" charset="0"/>
              </a:rPr>
              <a:t>Interface (API)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7E4D48A-3A95-CDAD-E08F-AD4B8F31C86B}"/>
              </a:ext>
            </a:extLst>
          </p:cNvPr>
          <p:cNvSpPr txBox="1"/>
          <p:nvPr/>
        </p:nvSpPr>
        <p:spPr>
          <a:xfrm>
            <a:off x="439017" y="6473090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>
                <a:solidFill>
                  <a:schemeClr val="bg1"/>
                </a:solidFill>
                <a:latin typeface="Aptos" panose="020B0004020202020204" pitchFamily="34" charset="0"/>
              </a:rPr>
              <a:t>EarlyCare</a:t>
            </a:r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 Gateway</a:t>
            </a:r>
          </a:p>
        </p:txBody>
      </p:sp>
    </p:spTree>
    <p:extLst>
      <p:ext uri="{BB962C8B-B14F-4D97-AF65-F5344CB8AC3E}">
        <p14:creationId xmlns:p14="http://schemas.microsoft.com/office/powerpoint/2010/main" val="1980125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6797AD4-30F5-6C53-088F-C66EAC33B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9">
            <a:extLst>
              <a:ext uri="{FF2B5EF4-FFF2-40B4-BE49-F238E27FC236}">
                <a16:creationId xmlns:a16="http://schemas.microsoft.com/office/drawing/2014/main" id="{552945E3-9076-AA8B-927D-26EB3CC1D10C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3" name="object 10">
              <a:extLst>
                <a:ext uri="{FF2B5EF4-FFF2-40B4-BE49-F238E27FC236}">
                  <a16:creationId xmlns:a16="http://schemas.microsoft.com/office/drawing/2014/main" id="{5E388517-003C-B1B1-3AC3-2AF7C1546D11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11">
              <a:extLst>
                <a:ext uri="{FF2B5EF4-FFF2-40B4-BE49-F238E27FC236}">
                  <a16:creationId xmlns:a16="http://schemas.microsoft.com/office/drawing/2014/main" id="{B5D99534-F6F1-641A-AEEE-20F5A83652F6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FF431806-382E-3301-18A1-3FE6FB69EBEA}"/>
              </a:ext>
            </a:extLst>
          </p:cNvPr>
          <p:cNvSpPr txBox="1"/>
          <p:nvPr/>
        </p:nvSpPr>
        <p:spPr>
          <a:xfrm>
            <a:off x="11444884" y="64892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1BBADE56-1068-AA23-91D3-5509BE3F66B4}"/>
              </a:ext>
            </a:extLst>
          </p:cNvPr>
          <p:cNvSpPr txBox="1"/>
          <p:nvPr/>
        </p:nvSpPr>
        <p:spPr>
          <a:xfrm>
            <a:off x="723900" y="365720"/>
            <a:ext cx="396775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>
                <a:latin typeface="Aptos" panose="020B0004020202020204" pitchFamily="34" charset="0"/>
              </a:rPr>
              <a:t>Casi d’Uso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28AF682-5446-0457-ADCB-AA7B6D420D28}"/>
              </a:ext>
            </a:extLst>
          </p:cNvPr>
          <p:cNvSpPr txBox="1"/>
          <p:nvPr/>
        </p:nvSpPr>
        <p:spPr>
          <a:xfrm>
            <a:off x="707136" y="1524000"/>
            <a:ext cx="46482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800" dirty="0">
                <a:latin typeface="Aptos" panose="020B0004020202020204" pitchFamily="34" charset="0"/>
              </a:rPr>
              <a:t>Diagramma UML</a:t>
            </a:r>
          </a:p>
          <a:p>
            <a:pPr algn="just"/>
            <a:r>
              <a:rPr lang="it-IT" sz="2800" b="1" dirty="0">
                <a:latin typeface="Aptos" panose="020B0004020202020204" pitchFamily="34" charset="0"/>
              </a:rPr>
              <a:t>casi d’uso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it-IT" sz="2800" dirty="0">
              <a:latin typeface="Aptos" panose="020B0004020202020204" pitchFamily="34" charset="0"/>
            </a:endParaRPr>
          </a:p>
          <a:p>
            <a:pPr algn="just"/>
            <a:r>
              <a:rPr lang="it-IT" sz="2800" b="1" dirty="0">
                <a:latin typeface="Aptos" panose="020B0004020202020204" pitchFamily="34" charset="0"/>
              </a:rPr>
              <a:t>Entità: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dirty="0">
                <a:latin typeface="Aptos" panose="020B0004020202020204" pitchFamily="34" charset="0"/>
              </a:rPr>
              <a:t>Sistema a microservizi</a:t>
            </a:r>
            <a:endParaRPr lang="it-IT" sz="2800" b="1" dirty="0">
              <a:latin typeface="Aptos" panose="020B0004020202020204" pitchFamily="34" charset="0"/>
            </a:endParaRPr>
          </a:p>
          <a:p>
            <a:pPr marL="457200" lvl="1" indent="-457200" algn="just">
              <a:buFont typeface="Arial" panose="020B0604020202020204" pitchFamily="34" charset="0"/>
              <a:buChar char="•"/>
            </a:pPr>
            <a:r>
              <a:rPr lang="it-IT" sz="2800" dirty="0">
                <a:latin typeface="Aptos" panose="020B0004020202020204" pitchFamily="34" charset="0"/>
              </a:rPr>
              <a:t>Medico (attore primario)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dirty="0">
                <a:latin typeface="Aptos" panose="020B0004020202020204" pitchFamily="34" charset="0"/>
              </a:rPr>
              <a:t>Servizio email (attore</a:t>
            </a:r>
          </a:p>
          <a:p>
            <a:pPr algn="just"/>
            <a:r>
              <a:rPr lang="it-IT" sz="2800" dirty="0">
                <a:latin typeface="Aptos" panose="020B0004020202020204" pitchFamily="34" charset="0"/>
              </a:rPr>
              <a:t>      secondario)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B3A9547-823F-84DE-555B-CAACB46104C1}"/>
              </a:ext>
            </a:extLst>
          </p:cNvPr>
          <p:cNvSpPr txBox="1"/>
          <p:nvPr/>
        </p:nvSpPr>
        <p:spPr>
          <a:xfrm>
            <a:off x="439017" y="6473090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>
                <a:solidFill>
                  <a:schemeClr val="bg1"/>
                </a:solidFill>
                <a:latin typeface="Aptos" panose="020B0004020202020204" pitchFamily="34" charset="0"/>
              </a:rPr>
              <a:t>EarlyCare</a:t>
            </a:r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 Gateway</a:t>
            </a:r>
          </a:p>
        </p:txBody>
      </p:sp>
      <p:pic>
        <p:nvPicPr>
          <p:cNvPr id="11" name="Elemento grafico 10">
            <a:extLst>
              <a:ext uri="{FF2B5EF4-FFF2-40B4-BE49-F238E27FC236}">
                <a16:creationId xmlns:a16="http://schemas.microsoft.com/office/drawing/2014/main" id="{5E2277FD-9931-F8DE-EA15-9517F87B01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67300" y="152400"/>
            <a:ext cx="6743700" cy="630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706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3E80469-F382-419F-4927-F317350BF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683DD8E6-E380-7AD0-BDE4-6ED8AA702A4B}"/>
              </a:ext>
            </a:extLst>
          </p:cNvPr>
          <p:cNvSpPr txBox="1"/>
          <p:nvPr/>
        </p:nvSpPr>
        <p:spPr>
          <a:xfrm>
            <a:off x="647700" y="1905000"/>
            <a:ext cx="108966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Agile: </a:t>
            </a:r>
            <a:r>
              <a:rPr lang="it-IT" sz="2800" dirty="0" err="1">
                <a:latin typeface="Aptos" panose="020B0004020202020204" pitchFamily="34" charset="0"/>
              </a:rPr>
              <a:t>Kanban</a:t>
            </a:r>
            <a:endParaRPr lang="it-IT" sz="2800" dirty="0">
              <a:latin typeface="Aptos" panose="020B00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Pianificazione delle tasks: </a:t>
            </a:r>
            <a:r>
              <a:rPr lang="it-IT" sz="2800" dirty="0" err="1">
                <a:latin typeface="Aptos" panose="020B0004020202020204" pitchFamily="34" charset="0"/>
              </a:rPr>
              <a:t>Gantt</a:t>
            </a:r>
            <a:endParaRPr lang="it-IT" sz="2800" dirty="0">
              <a:latin typeface="Aptos" panose="020B00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Chat/Meetings: </a:t>
            </a:r>
            <a:r>
              <a:rPr lang="it-IT" sz="2800" dirty="0">
                <a:latin typeface="Aptos" panose="020B0004020202020204" pitchFamily="34" charset="0"/>
              </a:rPr>
              <a:t>Microsoft Teams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 err="1">
                <a:latin typeface="Aptos" panose="020B0004020202020204" pitchFamily="34" charset="0"/>
              </a:rPr>
              <a:t>Versioning</a:t>
            </a:r>
            <a:r>
              <a:rPr lang="it-IT" sz="2800" b="1" dirty="0">
                <a:latin typeface="Aptos" panose="020B0004020202020204" pitchFamily="34" charset="0"/>
              </a:rPr>
              <a:t>: </a:t>
            </a:r>
            <a:r>
              <a:rPr lang="it-IT" sz="2800" dirty="0" err="1">
                <a:latin typeface="Aptos" panose="020B0004020202020204" pitchFamily="34" charset="0"/>
              </a:rPr>
              <a:t>Git</a:t>
            </a:r>
            <a:r>
              <a:rPr lang="it-IT" sz="2800" dirty="0">
                <a:latin typeface="Aptos" panose="020B0004020202020204" pitchFamily="34" charset="0"/>
              </a:rPr>
              <a:t>/GitHub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IDE: </a:t>
            </a:r>
            <a:r>
              <a:rPr lang="it-IT" sz="2800" dirty="0" err="1">
                <a:latin typeface="Aptos" panose="020B0004020202020204" pitchFamily="34" charset="0"/>
              </a:rPr>
              <a:t>PyCharm</a:t>
            </a:r>
            <a:endParaRPr lang="it-IT" sz="2800" b="1" dirty="0">
              <a:latin typeface="Aptos" panose="020B00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Containerizzazione e deployment: </a:t>
            </a:r>
            <a:r>
              <a:rPr lang="it-IT" sz="2800" dirty="0">
                <a:latin typeface="Aptos" panose="020B0004020202020204" pitchFamily="34" charset="0"/>
              </a:rPr>
              <a:t>Docker, Hosting VPS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 err="1">
                <a:latin typeface="Aptos" panose="020B0004020202020204" pitchFamily="34" charset="0"/>
              </a:rPr>
              <a:t>Stack</a:t>
            </a:r>
            <a:r>
              <a:rPr lang="it-IT" sz="2800" b="1" dirty="0">
                <a:latin typeface="Aptos" panose="020B0004020202020204" pitchFamily="34" charset="0"/>
              </a:rPr>
              <a:t> tecnologico: </a:t>
            </a:r>
            <a:r>
              <a:rPr lang="it-IT" sz="2800" dirty="0">
                <a:latin typeface="Aptos" panose="020B0004020202020204" pitchFamily="34" charset="0"/>
              </a:rPr>
              <a:t>Python (</a:t>
            </a:r>
            <a:r>
              <a:rPr lang="it-IT" sz="2800" dirty="0" err="1">
                <a:latin typeface="Aptos" panose="020B0004020202020204" pitchFamily="34" charset="0"/>
              </a:rPr>
              <a:t>FastAPI</a:t>
            </a:r>
            <a:r>
              <a:rPr lang="it-IT" sz="2800" dirty="0">
                <a:latin typeface="Aptos" panose="020B0004020202020204" pitchFamily="34" charset="0"/>
              </a:rPr>
              <a:t>), React, </a:t>
            </a:r>
            <a:r>
              <a:rPr lang="it-IT" sz="2800" dirty="0" err="1">
                <a:latin typeface="Aptos" panose="020B0004020202020204" pitchFamily="34" charset="0"/>
              </a:rPr>
              <a:t>PostgreSQL</a:t>
            </a:r>
            <a:r>
              <a:rPr lang="it-IT" sz="2800" dirty="0">
                <a:latin typeface="Aptos" panose="020B0004020202020204" pitchFamily="34" charset="0"/>
              </a:rPr>
              <a:t>, </a:t>
            </a:r>
            <a:r>
              <a:rPr lang="it-IT" sz="2800" dirty="0" err="1">
                <a:latin typeface="Aptos" panose="020B0004020202020204" pitchFamily="34" charset="0"/>
              </a:rPr>
              <a:t>MongoDB</a:t>
            </a:r>
            <a:r>
              <a:rPr lang="it-IT" sz="2800" dirty="0">
                <a:latin typeface="Aptos" panose="020B0004020202020204" pitchFamily="34" charset="0"/>
              </a:rPr>
              <a:t> </a:t>
            </a:r>
            <a:endParaRPr lang="it-IT" sz="2800" b="1" dirty="0">
              <a:latin typeface="Aptos" panose="020B0004020202020204" pitchFamily="34" charset="0"/>
            </a:endParaRPr>
          </a:p>
        </p:txBody>
      </p:sp>
      <p:pic>
        <p:nvPicPr>
          <p:cNvPr id="10258" name="Picture 18" descr="MongoDB SVG and transparent PNG icons | TechIcons">
            <a:extLst>
              <a:ext uri="{FF2B5EF4-FFF2-40B4-BE49-F238E27FC236}">
                <a16:creationId xmlns:a16="http://schemas.microsoft.com/office/drawing/2014/main" id="{0CC448F4-6AB2-2218-DDAF-9429C3FA6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1257" y="5136979"/>
            <a:ext cx="1007601" cy="1007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object 9">
            <a:extLst>
              <a:ext uri="{FF2B5EF4-FFF2-40B4-BE49-F238E27FC236}">
                <a16:creationId xmlns:a16="http://schemas.microsoft.com/office/drawing/2014/main" id="{A9267283-8762-44A1-DCC9-57DA786E9C23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3" name="object 10">
              <a:extLst>
                <a:ext uri="{FF2B5EF4-FFF2-40B4-BE49-F238E27FC236}">
                  <a16:creationId xmlns:a16="http://schemas.microsoft.com/office/drawing/2014/main" id="{94BA8B42-3E47-CBF1-AC42-215275B02EBD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11">
              <a:extLst>
                <a:ext uri="{FF2B5EF4-FFF2-40B4-BE49-F238E27FC236}">
                  <a16:creationId xmlns:a16="http://schemas.microsoft.com/office/drawing/2014/main" id="{4B72FF38-62F3-2156-E5AC-80D917E35389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5CD035E4-A620-A033-E134-56846CB49517}"/>
              </a:ext>
            </a:extLst>
          </p:cNvPr>
          <p:cNvSpPr txBox="1"/>
          <p:nvPr/>
        </p:nvSpPr>
        <p:spPr>
          <a:xfrm>
            <a:off x="11383169" y="648926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74460A44-2D99-EFE8-681A-FD39FBB76A7E}"/>
              </a:ext>
            </a:extLst>
          </p:cNvPr>
          <p:cNvSpPr txBox="1"/>
          <p:nvPr/>
        </p:nvSpPr>
        <p:spPr>
          <a:xfrm>
            <a:off x="723900" y="365720"/>
            <a:ext cx="112165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>
                <a:latin typeface="Aptos" panose="020B0004020202020204" pitchFamily="34" charset="0"/>
              </a:rPr>
              <a:t>Metodologia e Tools di Sviluppo</a:t>
            </a:r>
          </a:p>
        </p:txBody>
      </p:sp>
      <p:pic>
        <p:nvPicPr>
          <p:cNvPr id="10242" name="Picture 2" descr="GitHub Logos and Usage · GitHub">
            <a:extLst>
              <a:ext uri="{FF2B5EF4-FFF2-40B4-BE49-F238E27FC236}">
                <a16:creationId xmlns:a16="http://schemas.microsoft.com/office/drawing/2014/main" id="{45307F2F-53D5-83A7-E212-860FE119E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216" y="1477500"/>
            <a:ext cx="1070740" cy="1070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F2C229F0-3B64-9006-FDCE-114D6A576E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375"/>
          <a:stretch>
            <a:fillRect/>
          </a:stretch>
        </p:blipFill>
        <p:spPr bwMode="auto">
          <a:xfrm>
            <a:off x="9376976" y="1794276"/>
            <a:ext cx="988082" cy="733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2" name="Picture 12" descr="Getting started with FastAPI - learnBATTA">
            <a:extLst>
              <a:ext uri="{FF2B5EF4-FFF2-40B4-BE49-F238E27FC236}">
                <a16:creationId xmlns:a16="http://schemas.microsoft.com/office/drawing/2014/main" id="{702F24C4-1EBC-0B48-2626-64DCFE72A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2468" y="2705069"/>
            <a:ext cx="2622379" cy="945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6" name="Picture 16" descr="PostgreSQL Pros and Cons | User Likes &amp; Dislikes">
            <a:extLst>
              <a:ext uri="{FF2B5EF4-FFF2-40B4-BE49-F238E27FC236}">
                <a16:creationId xmlns:a16="http://schemas.microsoft.com/office/drawing/2014/main" id="{7B819C6B-0E74-828D-594E-A470B01DF7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000"/>
          <a:stretch>
            <a:fillRect/>
          </a:stretch>
        </p:blipFill>
        <p:spPr bwMode="auto">
          <a:xfrm>
            <a:off x="8575037" y="5237447"/>
            <a:ext cx="1407163" cy="1094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0" name="Picture 20">
            <a:extLst>
              <a:ext uri="{FF2B5EF4-FFF2-40B4-BE49-F238E27FC236}">
                <a16:creationId xmlns:a16="http://schemas.microsoft.com/office/drawing/2014/main" id="{D55698EB-2263-1010-D58D-5F287A842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6650" y="5180378"/>
            <a:ext cx="968387" cy="88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2" name="Picture 22">
            <a:extLst>
              <a:ext uri="{FF2B5EF4-FFF2-40B4-BE49-F238E27FC236}">
                <a16:creationId xmlns:a16="http://schemas.microsoft.com/office/drawing/2014/main" id="{328ABFF9-44EB-6E5C-E415-3DF6422A50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3128" y="2586313"/>
            <a:ext cx="861375" cy="945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C503030-9086-31EF-3B4C-827447A94F27}"/>
              </a:ext>
            </a:extLst>
          </p:cNvPr>
          <p:cNvSpPr txBox="1"/>
          <p:nvPr/>
        </p:nvSpPr>
        <p:spPr>
          <a:xfrm>
            <a:off x="439017" y="6473090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>
                <a:solidFill>
                  <a:schemeClr val="bg1"/>
                </a:solidFill>
                <a:latin typeface="Aptos" panose="020B0004020202020204" pitchFamily="34" charset="0"/>
              </a:rPr>
              <a:t>EarlyCare</a:t>
            </a:r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 Gateway</a:t>
            </a:r>
          </a:p>
        </p:txBody>
      </p:sp>
    </p:spTree>
    <p:extLst>
      <p:ext uri="{BB962C8B-B14F-4D97-AF65-F5344CB8AC3E}">
        <p14:creationId xmlns:p14="http://schemas.microsoft.com/office/powerpoint/2010/main" val="42928446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AA3D793-8D02-6A87-449B-27932F03A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9">
            <a:extLst>
              <a:ext uri="{FF2B5EF4-FFF2-40B4-BE49-F238E27FC236}">
                <a16:creationId xmlns:a16="http://schemas.microsoft.com/office/drawing/2014/main" id="{EBD598B0-08B7-E42B-C88F-FBA6FF317935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3" name="object 10">
              <a:extLst>
                <a:ext uri="{FF2B5EF4-FFF2-40B4-BE49-F238E27FC236}">
                  <a16:creationId xmlns:a16="http://schemas.microsoft.com/office/drawing/2014/main" id="{D91A5F96-B6C5-0D3B-42B3-9C2C0F8DF0CD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11">
              <a:extLst>
                <a:ext uri="{FF2B5EF4-FFF2-40B4-BE49-F238E27FC236}">
                  <a16:creationId xmlns:a16="http://schemas.microsoft.com/office/drawing/2014/main" id="{0E7D7320-E854-51B7-57F8-FB309579169B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E6451DD-AD8C-D4DB-BF2C-53903B2ABFF2}"/>
              </a:ext>
            </a:extLst>
          </p:cNvPr>
          <p:cNvSpPr txBox="1"/>
          <p:nvPr/>
        </p:nvSpPr>
        <p:spPr>
          <a:xfrm>
            <a:off x="11383169" y="648926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CC082A61-7313-5646-6E7F-D4822779B4E3}"/>
              </a:ext>
            </a:extLst>
          </p:cNvPr>
          <p:cNvSpPr txBox="1"/>
          <p:nvPr/>
        </p:nvSpPr>
        <p:spPr>
          <a:xfrm>
            <a:off x="723900" y="365720"/>
            <a:ext cx="591059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>
                <a:latin typeface="Aptos" panose="020B0004020202020204" pitchFamily="34" charset="0"/>
              </a:rPr>
              <a:t>Progettazione AI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2369E99-4400-BD6E-B153-07A141243E09}"/>
              </a:ext>
            </a:extLst>
          </p:cNvPr>
          <p:cNvSpPr txBox="1"/>
          <p:nvPr/>
        </p:nvSpPr>
        <p:spPr>
          <a:xfrm>
            <a:off x="439017" y="6473090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>
                <a:solidFill>
                  <a:schemeClr val="bg1"/>
                </a:solidFill>
                <a:latin typeface="Aptos" panose="020B0004020202020204" pitchFamily="34" charset="0"/>
              </a:rPr>
              <a:t>EarlyCare</a:t>
            </a:r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 Gateway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67A032E-00E3-F29C-72CE-C87D57CF3826}"/>
              </a:ext>
            </a:extLst>
          </p:cNvPr>
          <p:cNvSpPr txBox="1"/>
          <p:nvPr/>
        </p:nvSpPr>
        <p:spPr>
          <a:xfrm>
            <a:off x="647699" y="1656566"/>
            <a:ext cx="10896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800" dirty="0">
                <a:latin typeface="Aptos" panose="020B0004020202020204" pitchFamily="34" charset="0"/>
              </a:rPr>
              <a:t>Al momento della richiesta: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Client (medico): </a:t>
            </a:r>
            <a:r>
              <a:rPr lang="it-IT" sz="2800" dirty="0">
                <a:latin typeface="Aptos" panose="020B0004020202020204" pitchFamily="34" charset="0"/>
              </a:rPr>
              <a:t>Seleziona la strategia desiderata in base alla natura dei dati disponibili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 err="1">
                <a:latin typeface="Aptos" panose="020B0004020202020204" pitchFamily="34" charset="0"/>
              </a:rPr>
              <a:t>Explainable</a:t>
            </a:r>
            <a:r>
              <a:rPr lang="it-IT" sz="2800" b="1" dirty="0">
                <a:latin typeface="Aptos" panose="020B0004020202020204" pitchFamily="34" charset="0"/>
              </a:rPr>
              <a:t> AI Service: </a:t>
            </a:r>
            <a:r>
              <a:rPr lang="it-IT" sz="2800" dirty="0">
                <a:latin typeface="Aptos" panose="020B0004020202020204" pitchFamily="34" charset="0"/>
              </a:rPr>
              <a:t>Esegue l’algoritmo corrispondente</a:t>
            </a:r>
          </a:p>
          <a:p>
            <a:pPr algn="just"/>
            <a:r>
              <a:rPr lang="it-IT" sz="2800" dirty="0">
                <a:latin typeface="Aptos" panose="020B0004020202020204" pitchFamily="34" charset="0"/>
              </a:rPr>
              <a:t>→ Aggiungere, rimuovere o modificare i modelli di AI senza alterare la logica del client</a:t>
            </a:r>
          </a:p>
        </p:txBody>
      </p:sp>
      <p:pic>
        <p:nvPicPr>
          <p:cNvPr id="13" name="Immagine 12" descr="Immagine che contiene calligrafia, testo, bianco, Carattere&#10;&#10;Il contenuto generato dall'IA potrebbe non essere corretto.">
            <a:extLst>
              <a:ext uri="{FF2B5EF4-FFF2-40B4-BE49-F238E27FC236}">
                <a16:creationId xmlns:a16="http://schemas.microsoft.com/office/drawing/2014/main" id="{66ECBBAD-6276-3266-8B59-9AA522511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47" b="2419"/>
          <a:stretch>
            <a:fillRect/>
          </a:stretch>
        </p:blipFill>
        <p:spPr>
          <a:xfrm>
            <a:off x="3455506" y="4069630"/>
            <a:ext cx="5280985" cy="226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776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BBBE5F9-A7F0-8F3C-7DEF-8D266DA15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9">
            <a:extLst>
              <a:ext uri="{FF2B5EF4-FFF2-40B4-BE49-F238E27FC236}">
                <a16:creationId xmlns:a16="http://schemas.microsoft.com/office/drawing/2014/main" id="{FE39E717-ADB4-1B4B-B79E-037A8E9C7B3D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3" name="object 10">
              <a:extLst>
                <a:ext uri="{FF2B5EF4-FFF2-40B4-BE49-F238E27FC236}">
                  <a16:creationId xmlns:a16="http://schemas.microsoft.com/office/drawing/2014/main" id="{3716ADD0-9735-8778-8A94-8DA0A3C408FB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11">
              <a:extLst>
                <a:ext uri="{FF2B5EF4-FFF2-40B4-BE49-F238E27FC236}">
                  <a16:creationId xmlns:a16="http://schemas.microsoft.com/office/drawing/2014/main" id="{1E008910-9F54-4BEB-89BE-066F94C66355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ABD5EACA-F7F3-5C91-C1E9-55ECE4C423BA}"/>
              </a:ext>
            </a:extLst>
          </p:cNvPr>
          <p:cNvSpPr txBox="1"/>
          <p:nvPr/>
        </p:nvSpPr>
        <p:spPr>
          <a:xfrm>
            <a:off x="11383169" y="648926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A51C4E3-7393-1F88-377C-0E35D57346F3}"/>
              </a:ext>
            </a:extLst>
          </p:cNvPr>
          <p:cNvSpPr txBox="1"/>
          <p:nvPr/>
        </p:nvSpPr>
        <p:spPr>
          <a:xfrm>
            <a:off x="439017" y="6473090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>
                <a:solidFill>
                  <a:schemeClr val="bg1"/>
                </a:solidFill>
                <a:latin typeface="Aptos" panose="020B0004020202020204" pitchFamily="34" charset="0"/>
              </a:rPr>
              <a:t>EarlyCare</a:t>
            </a:r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 Gateway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851C590-6F5D-1FC6-48E6-AF2184D24E09}"/>
              </a:ext>
            </a:extLst>
          </p:cNvPr>
          <p:cNvSpPr txBox="1"/>
          <p:nvPr/>
        </p:nvSpPr>
        <p:spPr>
          <a:xfrm>
            <a:off x="723900" y="1381383"/>
            <a:ext cx="108966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800" dirty="0">
                <a:latin typeface="Aptos" panose="020B0004020202020204" pitchFamily="34" charset="0"/>
              </a:rPr>
              <a:t>Strategia AI «</a:t>
            </a:r>
            <a:r>
              <a:rPr lang="it-IT" sz="2800" dirty="0" err="1">
                <a:latin typeface="Aptos" panose="020B0004020202020204" pitchFamily="34" charset="0"/>
              </a:rPr>
              <a:t>swappable</a:t>
            </a:r>
            <a:r>
              <a:rPr lang="it-IT" sz="2800" dirty="0">
                <a:latin typeface="Aptos" panose="020B0004020202020204" pitchFamily="34" charset="0"/>
              </a:rPr>
              <a:t> by domain/</a:t>
            </a:r>
            <a:r>
              <a:rPr lang="it-IT" sz="2800" dirty="0" err="1">
                <a:latin typeface="Aptos" panose="020B0004020202020204" pitchFamily="34" charset="0"/>
              </a:rPr>
              <a:t>pathology</a:t>
            </a:r>
            <a:r>
              <a:rPr lang="it-IT" sz="2800" dirty="0">
                <a:latin typeface="Aptos" panose="020B0004020202020204" pitchFamily="34" charset="0"/>
              </a:rPr>
              <a:t>»</a:t>
            </a:r>
          </a:p>
          <a:p>
            <a:pPr algn="just"/>
            <a:endParaRPr lang="it-IT" sz="2800" dirty="0">
              <a:latin typeface="Aptos" panose="020B0004020202020204" pitchFamily="34" charset="0"/>
            </a:endParaRPr>
          </a:p>
          <a:p>
            <a:pPr algn="just"/>
            <a:r>
              <a:rPr lang="it-IT" sz="2800" b="1" dirty="0">
                <a:latin typeface="Aptos" panose="020B0004020202020204" pitchFamily="34" charset="0"/>
              </a:rPr>
              <a:t>Testo: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 err="1">
                <a:latin typeface="Aptos" panose="020B0004020202020204" pitchFamily="34" charset="0"/>
              </a:rPr>
              <a:t>ClinicalBERT</a:t>
            </a:r>
            <a:r>
              <a:rPr lang="it-IT" sz="2800" b="1" dirty="0">
                <a:latin typeface="Aptos" panose="020B0004020202020204" pitchFamily="34" charset="0"/>
              </a:rPr>
              <a:t>: </a:t>
            </a:r>
            <a:r>
              <a:rPr lang="it-IT" sz="2800" dirty="0">
                <a:latin typeface="Aptos" panose="020B0004020202020204" pitchFamily="34" charset="0"/>
              </a:rPr>
              <a:t>Transformer </a:t>
            </a:r>
            <a:r>
              <a:rPr lang="it-IT" sz="2800" dirty="0" err="1">
                <a:latin typeface="Aptos" panose="020B0004020202020204" pitchFamily="34" charset="0"/>
              </a:rPr>
              <a:t>pre</a:t>
            </a:r>
            <a:r>
              <a:rPr lang="it-IT" sz="2800" dirty="0">
                <a:latin typeface="Aptos" panose="020B0004020202020204" pitchFamily="34" charset="0"/>
              </a:rPr>
              <a:t>-addestrato specificatamente su testi biomedici</a:t>
            </a:r>
            <a:endParaRPr lang="it-IT" sz="2800" b="1" dirty="0">
              <a:latin typeface="Aptos" panose="020B0004020202020204" pitchFamily="34" charset="0"/>
            </a:endParaRPr>
          </a:p>
          <a:p>
            <a:pPr algn="just"/>
            <a:r>
              <a:rPr lang="it-IT" sz="2800" b="1" dirty="0">
                <a:latin typeface="Aptos" panose="020B0004020202020204" pitchFamily="34" charset="0"/>
              </a:rPr>
              <a:t>Immagini e segnali: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 err="1">
                <a:latin typeface="Aptos" panose="020B0004020202020204" pitchFamily="34" charset="0"/>
              </a:rPr>
              <a:t>CheXNet</a:t>
            </a:r>
            <a:r>
              <a:rPr lang="it-IT" sz="2800" dirty="0">
                <a:latin typeface="Aptos" panose="020B0004020202020204" pitchFamily="34" charset="0"/>
              </a:rPr>
              <a:t>: CNN specializzata per radiografie toraciche (RX)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 err="1">
                <a:latin typeface="Aptos" panose="020B0004020202020204" pitchFamily="34" charset="0"/>
              </a:rPr>
              <a:t>EfficientNet</a:t>
            </a:r>
            <a:r>
              <a:rPr lang="it-IT" sz="2800" b="1" dirty="0">
                <a:latin typeface="Aptos" panose="020B0004020202020204" pitchFamily="34" charset="0"/>
              </a:rPr>
              <a:t>: </a:t>
            </a:r>
            <a:r>
              <a:rPr lang="it-IT" sz="2800" dirty="0">
                <a:latin typeface="Aptos" panose="020B0004020202020204" pitchFamily="34" charset="0"/>
              </a:rPr>
              <a:t>CNN specializzata per lesioni cutanee</a:t>
            </a:r>
            <a:endParaRPr lang="it-IT" sz="2800" b="1" dirty="0">
              <a:latin typeface="Aptos" panose="020B00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Google Gemini: </a:t>
            </a:r>
            <a:r>
              <a:rPr lang="it-IT" sz="2800" dirty="0">
                <a:latin typeface="Aptos" panose="020B0004020202020204" pitchFamily="34" charset="0"/>
              </a:rPr>
              <a:t>Per altri domini di imaging e segnali</a:t>
            </a:r>
          </a:p>
          <a:p>
            <a:pPr algn="just"/>
            <a:r>
              <a:rPr lang="it-IT" sz="2800" b="1" dirty="0">
                <a:latin typeface="Aptos" panose="020B0004020202020204" pitchFamily="34" charset="0"/>
              </a:rPr>
              <a:t>Dati strutturati: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 err="1">
                <a:latin typeface="Aptos" panose="020B0004020202020204" pitchFamily="34" charset="0"/>
              </a:rPr>
              <a:t>XGBoost</a:t>
            </a:r>
            <a:r>
              <a:rPr lang="it-IT" sz="2800" b="1" dirty="0">
                <a:latin typeface="Aptos" panose="020B0004020202020204" pitchFamily="34" charset="0"/>
              </a:rPr>
              <a:t>: </a:t>
            </a:r>
            <a:r>
              <a:rPr lang="it-IT" sz="2800" dirty="0">
                <a:latin typeface="Aptos" panose="020B0004020202020204" pitchFamily="34" charset="0"/>
              </a:rPr>
              <a:t>Modello basato su </a:t>
            </a:r>
            <a:r>
              <a:rPr lang="it-IT" sz="2800" dirty="0" err="1">
                <a:latin typeface="Aptos" panose="020B0004020202020204" pitchFamily="34" charset="0"/>
              </a:rPr>
              <a:t>Gradient</a:t>
            </a:r>
            <a:r>
              <a:rPr lang="it-IT" sz="2800" dirty="0">
                <a:latin typeface="Aptos" panose="020B0004020202020204" pitchFamily="34" charset="0"/>
              </a:rPr>
              <a:t> </a:t>
            </a:r>
            <a:r>
              <a:rPr lang="it-IT" sz="2800" dirty="0" err="1">
                <a:latin typeface="Aptos" panose="020B0004020202020204" pitchFamily="34" charset="0"/>
              </a:rPr>
              <a:t>Boosting</a:t>
            </a:r>
            <a:r>
              <a:rPr lang="it-IT" sz="2800" dirty="0">
                <a:latin typeface="Aptos" panose="020B0004020202020204" pitchFamily="34" charset="0"/>
              </a:rPr>
              <a:t> per dati tabulari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7448AFF-CFFE-40AA-8936-6D640900CBCD}"/>
              </a:ext>
            </a:extLst>
          </p:cNvPr>
          <p:cNvSpPr txBox="1"/>
          <p:nvPr/>
        </p:nvSpPr>
        <p:spPr>
          <a:xfrm>
            <a:off x="723900" y="365720"/>
            <a:ext cx="591059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>
                <a:latin typeface="Aptos" panose="020B0004020202020204" pitchFamily="34" charset="0"/>
              </a:rPr>
              <a:t>Progettazione AI</a:t>
            </a:r>
          </a:p>
        </p:txBody>
      </p:sp>
    </p:spTree>
    <p:extLst>
      <p:ext uri="{BB962C8B-B14F-4D97-AF65-F5344CB8AC3E}">
        <p14:creationId xmlns:p14="http://schemas.microsoft.com/office/powerpoint/2010/main" val="3570085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E694049-FC97-DABA-54F0-885315F74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9">
            <a:extLst>
              <a:ext uri="{FF2B5EF4-FFF2-40B4-BE49-F238E27FC236}">
                <a16:creationId xmlns:a16="http://schemas.microsoft.com/office/drawing/2014/main" id="{39917611-D1C3-4165-95BD-3FCDB3906425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3" name="object 10">
              <a:extLst>
                <a:ext uri="{FF2B5EF4-FFF2-40B4-BE49-F238E27FC236}">
                  <a16:creationId xmlns:a16="http://schemas.microsoft.com/office/drawing/2014/main" id="{F787A9B5-188C-EEAC-1204-3A94879FCF4F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11">
              <a:extLst>
                <a:ext uri="{FF2B5EF4-FFF2-40B4-BE49-F238E27FC236}">
                  <a16:creationId xmlns:a16="http://schemas.microsoft.com/office/drawing/2014/main" id="{8C6B3D82-58BE-8AAA-55F7-95EF94702729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0DE28BB-8EC1-98FA-BACF-BCF98EE14048}"/>
              </a:ext>
            </a:extLst>
          </p:cNvPr>
          <p:cNvSpPr txBox="1"/>
          <p:nvPr/>
        </p:nvSpPr>
        <p:spPr>
          <a:xfrm>
            <a:off x="11383168" y="648926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D6C7A8D5-ADFA-BB4D-37D0-27AD6EC6CD1B}"/>
              </a:ext>
            </a:extLst>
          </p:cNvPr>
          <p:cNvSpPr txBox="1"/>
          <p:nvPr/>
        </p:nvSpPr>
        <p:spPr>
          <a:xfrm>
            <a:off x="723900" y="365720"/>
            <a:ext cx="51539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 err="1">
                <a:latin typeface="Aptos" panose="020B0004020202020204" pitchFamily="34" charset="0"/>
              </a:rPr>
              <a:t>Explainable</a:t>
            </a:r>
            <a:r>
              <a:rPr lang="it-IT" sz="6000" b="1" dirty="0">
                <a:latin typeface="Aptos" panose="020B0004020202020204" pitchFamily="34" charset="0"/>
              </a:rPr>
              <a:t> AI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7014BA3-D452-B989-4FD3-60B58A33A823}"/>
              </a:ext>
            </a:extLst>
          </p:cNvPr>
          <p:cNvSpPr txBox="1"/>
          <p:nvPr/>
        </p:nvSpPr>
        <p:spPr>
          <a:xfrm>
            <a:off x="439017" y="6473090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>
                <a:solidFill>
                  <a:schemeClr val="bg1"/>
                </a:solidFill>
                <a:latin typeface="Aptos" panose="020B0004020202020204" pitchFamily="34" charset="0"/>
              </a:rPr>
              <a:t>EarlyCare</a:t>
            </a:r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 Gateway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9F42627-50AF-A130-9F10-C8FFC616F379}"/>
              </a:ext>
            </a:extLst>
          </p:cNvPr>
          <p:cNvSpPr txBox="1"/>
          <p:nvPr/>
        </p:nvSpPr>
        <p:spPr>
          <a:xfrm>
            <a:off x="723900" y="2057400"/>
            <a:ext cx="108966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800" dirty="0">
                <a:latin typeface="Aptos" panose="020B0004020202020204" pitchFamily="34" charset="0"/>
              </a:rPr>
              <a:t>Requisito non funzionale critico</a:t>
            </a:r>
          </a:p>
          <a:p>
            <a:pPr algn="just"/>
            <a:endParaRPr lang="it-IT" sz="2800" dirty="0">
              <a:latin typeface="Aptos" panose="020B0004020202020204" pitchFamily="34" charset="0"/>
            </a:endParaRPr>
          </a:p>
          <a:p>
            <a:pPr algn="just"/>
            <a:r>
              <a:rPr lang="it-IT" sz="2800" b="1" dirty="0">
                <a:latin typeface="Aptos" panose="020B0004020202020204" pitchFamily="34" charset="0"/>
              </a:rPr>
              <a:t>Modelli non-LLM: </a:t>
            </a:r>
            <a:r>
              <a:rPr lang="it-IT" sz="2800" dirty="0">
                <a:latin typeface="Aptos" panose="020B0004020202020204" pitchFamily="34" charset="0"/>
              </a:rPr>
              <a:t>Post-Hoc</a:t>
            </a:r>
            <a:endParaRPr lang="it-IT" sz="2800" b="1" dirty="0">
              <a:latin typeface="Aptos" panose="020B00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SHAP (Post-Hoc): </a:t>
            </a:r>
            <a:r>
              <a:rPr lang="it-IT" sz="2800" dirty="0">
                <a:latin typeface="Aptos" panose="020B0004020202020204" pitchFamily="34" charset="0"/>
              </a:rPr>
              <a:t>Calcola il contributo di ciascuna feature di input alla decisione finale</a:t>
            </a:r>
          </a:p>
          <a:p>
            <a:pPr algn="just"/>
            <a:r>
              <a:rPr lang="it-IT" sz="2800" b="1" dirty="0">
                <a:latin typeface="Aptos" panose="020B0004020202020204" pitchFamily="34" charset="0"/>
              </a:rPr>
              <a:t>Modello LLM: </a:t>
            </a:r>
            <a:r>
              <a:rPr lang="it-IT" sz="2800" dirty="0">
                <a:latin typeface="Aptos" panose="020B0004020202020204" pitchFamily="34" charset="0"/>
              </a:rPr>
              <a:t>Intrinseca con prompt engineering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Chain of </a:t>
            </a:r>
            <a:r>
              <a:rPr lang="it-IT" sz="2800" b="1" dirty="0" err="1">
                <a:latin typeface="Aptos" panose="020B0004020202020204" pitchFamily="34" charset="0"/>
              </a:rPr>
              <a:t>Thought</a:t>
            </a:r>
            <a:r>
              <a:rPr lang="it-IT" sz="2800" b="1" dirty="0">
                <a:latin typeface="Aptos" panose="020B0004020202020204" pitchFamily="34" charset="0"/>
              </a:rPr>
              <a:t>: </a:t>
            </a:r>
            <a:r>
              <a:rPr lang="it-IT" sz="2800" dirty="0">
                <a:latin typeface="Aptos" panose="020B0004020202020204" pitchFamily="34" charset="0"/>
              </a:rPr>
              <a:t>Output testuale che descrive il processo di ragionamento passo-passo per la specifica predizione</a:t>
            </a:r>
            <a:endParaRPr lang="it-IT" sz="2800" b="1" dirty="0">
              <a:latin typeface="Aptos" panose="020B0004020202020204" pitchFamily="34" charset="0"/>
            </a:endParaRPr>
          </a:p>
        </p:txBody>
      </p:sp>
      <p:pic>
        <p:nvPicPr>
          <p:cNvPr id="1026" name="Picture 2" descr="Explainable AI: Ensuring Design Decisions are Transparent and Accountable">
            <a:extLst>
              <a:ext uri="{FF2B5EF4-FFF2-40B4-BE49-F238E27FC236}">
                <a16:creationId xmlns:a16="http://schemas.microsoft.com/office/drawing/2014/main" id="{42623A82-5385-76E3-C457-321D65CCA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1381383"/>
            <a:ext cx="2951168" cy="198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1790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F7311FD-176A-901D-861C-EC4DC40D7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30F8B961-C8D8-E606-8AA3-29F063CC30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27" b="21155"/>
          <a:stretch>
            <a:fillRect/>
          </a:stretch>
        </p:blipFill>
        <p:spPr>
          <a:xfrm>
            <a:off x="457200" y="376926"/>
            <a:ext cx="6535282" cy="1107996"/>
          </a:xfrm>
          <a:prstGeom prst="rect">
            <a:avLst/>
          </a:prstGeom>
        </p:spPr>
      </p:pic>
      <p:grpSp>
        <p:nvGrpSpPr>
          <p:cNvPr id="9" name="object 9">
            <a:extLst>
              <a:ext uri="{FF2B5EF4-FFF2-40B4-BE49-F238E27FC236}">
                <a16:creationId xmlns:a16="http://schemas.microsoft.com/office/drawing/2014/main" id="{DDD781F5-F216-9124-430F-3B9126776A65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CF63B901-51AE-78CB-F631-981299CD1254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29E4E8E9-DD3F-3780-3227-F2430A5C7725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791A2B1-996B-80C5-D595-6B97A0EB13CD}"/>
              </a:ext>
            </a:extLst>
          </p:cNvPr>
          <p:cNvSpPr txBox="1"/>
          <p:nvPr/>
        </p:nvSpPr>
        <p:spPr>
          <a:xfrm>
            <a:off x="107189" y="6470980"/>
            <a:ext cx="4296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Software Architecture and Pattern Design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BDCDCD88-2FF8-7091-A816-53E7950B0E19}"/>
              </a:ext>
            </a:extLst>
          </p:cNvPr>
          <p:cNvSpPr txBox="1"/>
          <p:nvPr/>
        </p:nvSpPr>
        <p:spPr>
          <a:xfrm>
            <a:off x="10389315" y="6480829"/>
            <a:ext cx="17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A.A. 2025/2026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73C139E-A6CB-B15A-5287-7279220B73A3}"/>
              </a:ext>
            </a:extLst>
          </p:cNvPr>
          <p:cNvSpPr txBox="1"/>
          <p:nvPr/>
        </p:nvSpPr>
        <p:spPr>
          <a:xfrm>
            <a:off x="1932841" y="2904856"/>
            <a:ext cx="832631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6000" b="1" dirty="0">
                <a:latin typeface="Aptos" panose="020B0004020202020204" pitchFamily="34" charset="0"/>
              </a:rPr>
              <a:t>Grazie per l’attenzione!</a:t>
            </a:r>
          </a:p>
        </p:txBody>
      </p:sp>
      <p:pic>
        <p:nvPicPr>
          <p:cNvPr id="1028" name="Picture 4" descr="SisInfLab - Home - SisInfLab">
            <a:extLst>
              <a:ext uri="{FF2B5EF4-FFF2-40B4-BE49-F238E27FC236}">
                <a16:creationId xmlns:a16="http://schemas.microsoft.com/office/drawing/2014/main" id="{8C6A2BDE-3860-DD86-4EA6-022E14762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400" y="486160"/>
            <a:ext cx="2619166" cy="88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4936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6788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290</TotalTime>
  <Words>678</Words>
  <Application>Microsoft Office PowerPoint</Application>
  <PresentationFormat>Widescreen</PresentationFormat>
  <Paragraphs>131</Paragraphs>
  <Slides>15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19" baseType="lpstr">
      <vt:lpstr>Aptos</vt:lpstr>
      <vt:lpstr>Arial</vt:lpstr>
      <vt:lpstr>Trebuchet MS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Giovanni Mignogna</dc:creator>
  <cp:lastModifiedBy>CARRIERO ROBERTO</cp:lastModifiedBy>
  <cp:revision>27</cp:revision>
  <dcterms:created xsi:type="dcterms:W3CDTF">2025-10-25T17:39:58Z</dcterms:created>
  <dcterms:modified xsi:type="dcterms:W3CDTF">2025-11-19T18:33:49Z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2025-10-06T00:00:00Z</vt:filetime>
  </property>
  <property fmtid="{D5CDD505-2E9C-101B-9397-08002B2CF9AE}" pid="3" name="Creator">
    <vt:lpwstr>Microsoft® PowerPoint® per Microsoft 365</vt:lpwstr>
  </property>
  <property fmtid="{D5CDD505-2E9C-101B-9397-08002B2CF9AE}" pid="4" name="LastSaved">
    <vt:filetime>2025-10-25T00:00:00Z</vt:filetime>
  </property>
  <property fmtid="{D5CDD505-2E9C-101B-9397-08002B2CF9AE}" pid="5" name="Producer">
    <vt:lpwstr>Microsoft® PowerPoint® per Microsoft 365</vt:lpwstr>
  </property>
</Properties>
</file>