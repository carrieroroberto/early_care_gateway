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8" r:id="rId2"/>
    <p:sldId id="257" r:id="rId3"/>
    <p:sldId id="259" r:id="rId4"/>
    <p:sldId id="260" r:id="rId5"/>
    <p:sldId id="261" r:id="rId6"/>
    <p:sldId id="262" r:id="rId7"/>
    <p:sldId id="266" r:id="rId8"/>
    <p:sldId id="263" r:id="rId9"/>
    <p:sldId id="265" r:id="rId10"/>
    <p:sldId id="264" r:id="rId11"/>
    <p:sldId id="267" r:id="rId12"/>
    <p:sldId id="271" r:id="rId13"/>
    <p:sldId id="270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008196"/>
    <a:srgbClr val="1B3C6A"/>
    <a:srgbClr val="1A3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8230C-D1F6-4E0E-8922-3E4801866759}" v="29" dt="2025-11-15T12:20:30.38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IERO ROBERTO" userId="S::r.carriero5@studenti.poliba.it::839c6d36-e8ba-4078-b5eb-e04afc776ee8" providerId="AD" clId="Web-{23685348-B5AD-4948-16CB-D7DA22389B18}"/>
    <pc:docChg chg="modSld">
      <pc:chgData name="CARRIERO ROBERTO" userId="S::r.carriero5@studenti.poliba.it::839c6d36-e8ba-4078-b5eb-e04afc776ee8" providerId="AD" clId="Web-{23685348-B5AD-4948-16CB-D7DA22389B18}" dt="2025-11-13T18:08:30.715" v="32" actId="1076"/>
      <pc:docMkLst>
        <pc:docMk/>
      </pc:docMkLst>
      <pc:sldChg chg="addSp modSp">
        <pc:chgData name="CARRIERO ROBERTO" userId="S::r.carriero5@studenti.poliba.it::839c6d36-e8ba-4078-b5eb-e04afc776ee8" providerId="AD" clId="Web-{23685348-B5AD-4948-16CB-D7DA22389B18}" dt="2025-11-13T18:08:30.715" v="32" actId="1076"/>
        <pc:sldMkLst>
          <pc:docMk/>
          <pc:sldMk cId="2860120205" sldId="259"/>
        </pc:sldMkLst>
        <pc:spChg chg="mod">
          <ac:chgData name="CARRIERO ROBERTO" userId="S::r.carriero5@studenti.poliba.it::839c6d36-e8ba-4078-b5eb-e04afc776ee8" providerId="AD" clId="Web-{23685348-B5AD-4948-16CB-D7DA22389B18}" dt="2025-11-13T18:08:17.668" v="30" actId="1076"/>
          <ac:spMkLst>
            <pc:docMk/>
            <pc:sldMk cId="2860120205" sldId="259"/>
            <ac:spMk id="21" creationId="{8B248CF0-AFA9-1996-D476-CD38B2F1ACDF}"/>
          </ac:spMkLst>
        </pc:spChg>
        <pc:picChg chg="add mod ord modCrop">
          <ac:chgData name="CARRIERO ROBERTO" userId="S::r.carriero5@studenti.poliba.it::839c6d36-e8ba-4078-b5eb-e04afc776ee8" providerId="AD" clId="Web-{23685348-B5AD-4948-16CB-D7DA22389B18}" dt="2025-11-13T18:08:30.715" v="32" actId="1076"/>
          <ac:picMkLst>
            <pc:docMk/>
            <pc:sldMk cId="2860120205" sldId="259"/>
            <ac:picMk id="7" creationId="{E7146A0F-752F-48F1-2426-8CA591B8322F}"/>
          </ac:picMkLst>
        </pc:picChg>
      </pc:sldChg>
    </pc:docChg>
  </pc:docChgLst>
  <pc:docChgLst>
    <pc:chgData name="CARRIERO ROBERTO" userId="839c6d36-e8ba-4078-b5eb-e04afc776ee8" providerId="ADAL" clId="{5FC01E38-F614-4025-BD4B-CDE0B90E919E}"/>
    <pc:docChg chg="undo custSel modSld">
      <pc:chgData name="CARRIERO ROBERTO" userId="839c6d36-e8ba-4078-b5eb-e04afc776ee8" providerId="ADAL" clId="{5FC01E38-F614-4025-BD4B-CDE0B90E919E}" dt="2025-11-15T12:20:40.836" v="72" actId="1038"/>
      <pc:docMkLst>
        <pc:docMk/>
      </pc:docMkLst>
      <pc:sldChg chg="addSp delSp modSp mod">
        <pc:chgData name="CARRIERO ROBERTO" userId="839c6d36-e8ba-4078-b5eb-e04afc776ee8" providerId="ADAL" clId="{5FC01E38-F614-4025-BD4B-CDE0B90E919E}" dt="2025-11-15T12:20:09.883" v="63" actId="1076"/>
        <pc:sldMkLst>
          <pc:docMk/>
          <pc:sldMk cId="3834651424" sldId="262"/>
        </pc:sldMkLst>
        <pc:spChg chg="mod">
          <ac:chgData name="CARRIERO ROBERTO" userId="839c6d36-e8ba-4078-b5eb-e04afc776ee8" providerId="ADAL" clId="{5FC01E38-F614-4025-BD4B-CDE0B90E919E}" dt="2025-11-15T12:19:52.019" v="62" actId="14100"/>
          <ac:spMkLst>
            <pc:docMk/>
            <pc:sldMk cId="3834651424" sldId="262"/>
            <ac:spMk id="8" creationId="{D9479A86-E474-AAD0-9442-F3C05EE4880A}"/>
          </ac:spMkLst>
        </pc:spChg>
        <pc:picChg chg="add mod">
          <ac:chgData name="CARRIERO ROBERTO" userId="839c6d36-e8ba-4078-b5eb-e04afc776ee8" providerId="ADAL" clId="{5FC01E38-F614-4025-BD4B-CDE0B90E919E}" dt="2025-11-15T12:20:09.883" v="63" actId="1076"/>
          <ac:picMkLst>
            <pc:docMk/>
            <pc:sldMk cId="3834651424" sldId="262"/>
            <ac:picMk id="6" creationId="{2E29BC67-3622-11F3-5042-DC4991CD6200}"/>
          </ac:picMkLst>
        </pc:picChg>
        <pc:picChg chg="del">
          <ac:chgData name="CARRIERO ROBERTO" userId="839c6d36-e8ba-4078-b5eb-e04afc776ee8" providerId="ADAL" clId="{5FC01E38-F614-4025-BD4B-CDE0B90E919E}" dt="2025-11-15T12:18:56.559" v="44" actId="478"/>
          <ac:picMkLst>
            <pc:docMk/>
            <pc:sldMk cId="3834651424" sldId="262"/>
            <ac:picMk id="7" creationId="{90953FAB-64BB-3663-14E7-54AA02002902}"/>
          </ac:picMkLst>
        </pc:picChg>
      </pc:sldChg>
      <pc:sldChg chg="modSp">
        <pc:chgData name="CARRIERO ROBERTO" userId="839c6d36-e8ba-4078-b5eb-e04afc776ee8" providerId="ADAL" clId="{5FC01E38-F614-4025-BD4B-CDE0B90E919E}" dt="2025-11-15T12:17:42.948" v="24" actId="1076"/>
        <pc:sldMkLst>
          <pc:docMk/>
          <pc:sldMk cId="3004411109" sldId="263"/>
        </pc:sldMkLst>
        <pc:picChg chg="mod">
          <ac:chgData name="CARRIERO ROBERTO" userId="839c6d36-e8ba-4078-b5eb-e04afc776ee8" providerId="ADAL" clId="{5FC01E38-F614-4025-BD4B-CDE0B90E919E}" dt="2025-11-15T12:17:42.948" v="24" actId="1076"/>
          <ac:picMkLst>
            <pc:docMk/>
            <pc:sldMk cId="3004411109" sldId="263"/>
            <ac:picMk id="6146" creationId="{8323E0A4-3513-B019-C57A-57AFD97E14BF}"/>
          </ac:picMkLst>
        </pc:picChg>
      </pc:sldChg>
      <pc:sldChg chg="addSp delSp modSp mod">
        <pc:chgData name="CARRIERO ROBERTO" userId="839c6d36-e8ba-4078-b5eb-e04afc776ee8" providerId="ADAL" clId="{5FC01E38-F614-4025-BD4B-CDE0B90E919E}" dt="2025-11-15T12:20:40.836" v="72" actId="1038"/>
        <pc:sldMkLst>
          <pc:docMk/>
          <pc:sldMk cId="159970639" sldId="264"/>
        </pc:sldMkLst>
        <pc:spChg chg="mod">
          <ac:chgData name="CARRIERO ROBERTO" userId="839c6d36-e8ba-4078-b5eb-e04afc776ee8" providerId="ADAL" clId="{5FC01E38-F614-4025-BD4B-CDE0B90E919E}" dt="2025-11-15T12:20:35.438" v="69" actId="1076"/>
          <ac:spMkLst>
            <pc:docMk/>
            <pc:sldMk cId="159970639" sldId="264"/>
            <ac:spMk id="8" creationId="{F28AF682-5446-0457-ADCB-AA7B6D420D28}"/>
          </ac:spMkLst>
        </pc:spChg>
        <pc:spChg chg="add del">
          <ac:chgData name="CARRIERO ROBERTO" userId="839c6d36-e8ba-4078-b5eb-e04afc776ee8" providerId="ADAL" clId="{5FC01E38-F614-4025-BD4B-CDE0B90E919E}" dt="2025-11-15T12:16:38.869" v="2" actId="22"/>
          <ac:spMkLst>
            <pc:docMk/>
            <pc:sldMk cId="159970639" sldId="264"/>
            <ac:spMk id="9" creationId="{3586AFFB-19E2-E1A7-CAF3-EFB2FB1C80B1}"/>
          </ac:spMkLst>
        </pc:spChg>
        <pc:spChg chg="add del mod">
          <ac:chgData name="CARRIERO ROBERTO" userId="839c6d36-e8ba-4078-b5eb-e04afc776ee8" providerId="ADAL" clId="{5FC01E38-F614-4025-BD4B-CDE0B90E919E}" dt="2025-11-15T12:20:37.378" v="70" actId="478"/>
          <ac:spMkLst>
            <pc:docMk/>
            <pc:sldMk cId="159970639" sldId="264"/>
            <ac:spMk id="12" creationId="{12C60C09-6CDE-13BA-2943-05A975AF3D32}"/>
          </ac:spMkLst>
        </pc:spChg>
        <pc:picChg chg="del">
          <ac:chgData name="CARRIERO ROBERTO" userId="839c6d36-e8ba-4078-b5eb-e04afc776ee8" providerId="ADAL" clId="{5FC01E38-F614-4025-BD4B-CDE0B90E919E}" dt="2025-11-15T12:16:37.084" v="0" actId="478"/>
          <ac:picMkLst>
            <pc:docMk/>
            <pc:sldMk cId="159970639" sldId="264"/>
            <ac:picMk id="6" creationId="{D88C8B96-A02E-6D76-0AFD-4FE488AFE9BD}"/>
          </ac:picMkLst>
        </pc:picChg>
        <pc:picChg chg="add mod">
          <ac:chgData name="CARRIERO ROBERTO" userId="839c6d36-e8ba-4078-b5eb-e04afc776ee8" providerId="ADAL" clId="{5FC01E38-F614-4025-BD4B-CDE0B90E919E}" dt="2025-11-15T12:20:40.836" v="72" actId="1038"/>
          <ac:picMkLst>
            <pc:docMk/>
            <pc:sldMk cId="159970639" sldId="264"/>
            <ac:picMk id="11" creationId="{5E2277FD-9931-F8DE-EA15-9517F87B0164}"/>
          </ac:picMkLst>
        </pc:picChg>
      </pc:sldChg>
      <pc:sldChg chg="modSp">
        <pc:chgData name="CARRIERO ROBERTO" userId="839c6d36-e8ba-4078-b5eb-e04afc776ee8" providerId="ADAL" clId="{5FC01E38-F614-4025-BD4B-CDE0B90E919E}" dt="2025-11-15T12:17:48.485" v="26" actId="1076"/>
        <pc:sldMkLst>
          <pc:docMk/>
          <pc:sldMk cId="1980125024" sldId="265"/>
        </pc:sldMkLst>
        <pc:picChg chg="mod">
          <ac:chgData name="CARRIERO ROBERTO" userId="839c6d36-e8ba-4078-b5eb-e04afc776ee8" providerId="ADAL" clId="{5FC01E38-F614-4025-BD4B-CDE0B90E919E}" dt="2025-11-15T12:17:48.485" v="26" actId="1076"/>
          <ac:picMkLst>
            <pc:docMk/>
            <pc:sldMk cId="1980125024" sldId="265"/>
            <ac:picMk id="8196" creationId="{58517C18-FDFA-5339-5E5B-24A9DEC8292B}"/>
          </ac:picMkLst>
        </pc:picChg>
      </pc:sldChg>
      <pc:sldChg chg="modSp">
        <pc:chgData name="CARRIERO ROBERTO" userId="839c6d36-e8ba-4078-b5eb-e04afc776ee8" providerId="ADAL" clId="{5FC01E38-F614-4025-BD4B-CDE0B90E919E}" dt="2025-11-15T12:18:18.645" v="42" actId="1076"/>
        <pc:sldMkLst>
          <pc:docMk/>
          <pc:sldMk cId="4292844660" sldId="267"/>
        </pc:sldMkLst>
        <pc:picChg chg="mod">
          <ac:chgData name="CARRIERO ROBERTO" userId="839c6d36-e8ba-4078-b5eb-e04afc776ee8" providerId="ADAL" clId="{5FC01E38-F614-4025-BD4B-CDE0B90E919E}" dt="2025-11-15T12:18:06.695" v="34" actId="1076"/>
          <ac:picMkLst>
            <pc:docMk/>
            <pc:sldMk cId="4292844660" sldId="267"/>
            <ac:picMk id="10242" creationId="{45307F2F-53D5-83A7-E212-860FE119E6C8}"/>
          </ac:picMkLst>
        </pc:picChg>
        <pc:picChg chg="mod">
          <ac:chgData name="CARRIERO ROBERTO" userId="839c6d36-e8ba-4078-b5eb-e04afc776ee8" providerId="ADAL" clId="{5FC01E38-F614-4025-BD4B-CDE0B90E919E}" dt="2025-11-15T12:18:03.700" v="32" actId="1076"/>
          <ac:picMkLst>
            <pc:docMk/>
            <pc:sldMk cId="4292844660" sldId="267"/>
            <ac:picMk id="10244" creationId="{F2C229F0-3B64-9006-FDCE-114D6A576EBD}"/>
          </ac:picMkLst>
        </pc:picChg>
        <pc:picChg chg="mod">
          <ac:chgData name="CARRIERO ROBERTO" userId="839c6d36-e8ba-4078-b5eb-e04afc776ee8" providerId="ADAL" clId="{5FC01E38-F614-4025-BD4B-CDE0B90E919E}" dt="2025-11-15T12:17:55.809" v="28" actId="1076"/>
          <ac:picMkLst>
            <pc:docMk/>
            <pc:sldMk cId="4292844660" sldId="267"/>
            <ac:picMk id="10252" creationId="{702F24C4-1EBC-0B48-2626-64DCFE72A847}"/>
          </ac:picMkLst>
        </pc:picChg>
        <pc:picChg chg="mod">
          <ac:chgData name="CARRIERO ROBERTO" userId="839c6d36-e8ba-4078-b5eb-e04afc776ee8" providerId="ADAL" clId="{5FC01E38-F614-4025-BD4B-CDE0B90E919E}" dt="2025-11-15T12:18:16.777" v="40" actId="1076"/>
          <ac:picMkLst>
            <pc:docMk/>
            <pc:sldMk cId="4292844660" sldId="267"/>
            <ac:picMk id="10256" creationId="{7B819C6B-0E74-828D-594E-A470B01DF73D}"/>
          </ac:picMkLst>
        </pc:picChg>
        <pc:picChg chg="mod">
          <ac:chgData name="CARRIERO ROBERTO" userId="839c6d36-e8ba-4078-b5eb-e04afc776ee8" providerId="ADAL" clId="{5FC01E38-F614-4025-BD4B-CDE0B90E919E}" dt="2025-11-15T12:18:17.563" v="41" actId="1076"/>
          <ac:picMkLst>
            <pc:docMk/>
            <pc:sldMk cId="4292844660" sldId="267"/>
            <ac:picMk id="10258" creationId="{0CC448F4-6AB2-2218-DDAF-9429C3FA635C}"/>
          </ac:picMkLst>
        </pc:picChg>
        <pc:picChg chg="mod">
          <ac:chgData name="CARRIERO ROBERTO" userId="839c6d36-e8ba-4078-b5eb-e04afc776ee8" providerId="ADAL" clId="{5FC01E38-F614-4025-BD4B-CDE0B90E919E}" dt="2025-11-15T12:18:18.645" v="42" actId="1076"/>
          <ac:picMkLst>
            <pc:docMk/>
            <pc:sldMk cId="4292844660" sldId="267"/>
            <ac:picMk id="10260" creationId="{D55698EB-2263-1010-D58D-5F287A842837}"/>
          </ac:picMkLst>
        </pc:picChg>
        <pc:picChg chg="mod">
          <ac:chgData name="CARRIERO ROBERTO" userId="839c6d36-e8ba-4078-b5eb-e04afc776ee8" providerId="ADAL" clId="{5FC01E38-F614-4025-BD4B-CDE0B90E919E}" dt="2025-11-15T12:18:01.155" v="30" actId="1076"/>
          <ac:picMkLst>
            <pc:docMk/>
            <pc:sldMk cId="4292844660" sldId="267"/>
            <ac:picMk id="10262" creationId="{328ABFF9-44EB-6E5C-E415-3DF6422A50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04F21-9B18-4DE1-AB54-6E38A9691DB2}" type="datetimeFigureOut">
              <a:rPr lang="it-IT" smtClean="0"/>
              <a:t>15/11/2025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9A3EF-1CD3-4928-B014-184E8B8B84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2040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0223" y="311336"/>
            <a:ext cx="4325963" cy="6792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73693" y="150441"/>
            <a:ext cx="2906776" cy="9948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9115" y="139509"/>
            <a:ext cx="2290445" cy="9872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0679" y="244551"/>
            <a:ext cx="8971280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0679" y="2143709"/>
            <a:ext cx="5407025" cy="249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551921" y="6503246"/>
            <a:ext cx="1532890" cy="30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75" dirty="0"/>
              <a:t>A.A.</a:t>
            </a:r>
            <a:r>
              <a:rPr spc="-145" dirty="0"/>
              <a:t> </a:t>
            </a:r>
            <a:r>
              <a:rPr spc="-25" dirty="0"/>
              <a:t>2025/2026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17490" y="6513000"/>
            <a:ext cx="2557145" cy="30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50"/>
              </a:lnSpc>
            </a:pPr>
            <a:r>
              <a:rPr spc="-30" dirty="0"/>
              <a:t>Prof.ssa</a:t>
            </a:r>
            <a:r>
              <a:rPr spc="-180" dirty="0"/>
              <a:t> </a:t>
            </a:r>
            <a:r>
              <a:rPr spc="-10" dirty="0"/>
              <a:t>Marina</a:t>
            </a:r>
            <a:r>
              <a:rPr spc="-160" dirty="0"/>
              <a:t> </a:t>
            </a:r>
            <a:r>
              <a:rPr spc="-10" dirty="0"/>
              <a:t>Mongiello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04295F-58E4-0812-6E92-299E7EE9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6A980E5-AA13-5FFD-9054-C9D95612D6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27" b="21155"/>
          <a:stretch>
            <a:fillRect/>
          </a:stretch>
        </p:blipFill>
        <p:spPr>
          <a:xfrm>
            <a:off x="457200" y="376926"/>
            <a:ext cx="6535282" cy="1107996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55D19251-AFED-A1A7-3C36-46CA429AA2CA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BD99A0D-FE52-8B89-133B-B7BA269B3E4A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1DA3B0D-999D-A943-3040-B696143029C2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36012D0-2B51-9377-95A2-D6926BC7DAE7}"/>
              </a:ext>
            </a:extLst>
          </p:cNvPr>
          <p:cNvSpPr txBox="1"/>
          <p:nvPr/>
        </p:nvSpPr>
        <p:spPr>
          <a:xfrm>
            <a:off x="107189" y="6470980"/>
            <a:ext cx="429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Software Architecture and Pattern Design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6280421-BFF3-F590-C790-F842B68259D0}"/>
              </a:ext>
            </a:extLst>
          </p:cNvPr>
          <p:cNvSpPr txBox="1"/>
          <p:nvPr/>
        </p:nvSpPr>
        <p:spPr>
          <a:xfrm>
            <a:off x="10389315" y="6480829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A.A. 2025/2026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C2602A5-1867-86CD-C745-E827FB4624A9}"/>
              </a:ext>
            </a:extLst>
          </p:cNvPr>
          <p:cNvSpPr txBox="1"/>
          <p:nvPr/>
        </p:nvSpPr>
        <p:spPr>
          <a:xfrm>
            <a:off x="2508314" y="2116086"/>
            <a:ext cx="68483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6000" b="1" dirty="0" err="1">
                <a:latin typeface="Aptos" panose="020B0004020202020204" pitchFamily="34" charset="0"/>
              </a:rPr>
              <a:t>EarlyCare</a:t>
            </a:r>
            <a:r>
              <a:rPr lang="it-IT" sz="6000" b="1" dirty="0">
                <a:latin typeface="Aptos" panose="020B0004020202020204" pitchFamily="34" charset="0"/>
              </a:rPr>
              <a:t> Gateway</a:t>
            </a:r>
          </a:p>
        </p:txBody>
      </p:sp>
      <p:pic>
        <p:nvPicPr>
          <p:cNvPr id="1028" name="Picture 4" descr="SisInfLab - Home - SisInfLab">
            <a:extLst>
              <a:ext uri="{FF2B5EF4-FFF2-40B4-BE49-F238E27FC236}">
                <a16:creationId xmlns:a16="http://schemas.microsoft.com/office/drawing/2014/main" id="{BF9F2C98-5A13-33BE-0141-C04D69411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86160"/>
            <a:ext cx="2619166" cy="88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9BB2BC8-9DC2-8DC8-6A5D-C2C9C777B6E6}"/>
              </a:ext>
            </a:extLst>
          </p:cNvPr>
          <p:cNvSpPr txBox="1"/>
          <p:nvPr/>
        </p:nvSpPr>
        <p:spPr>
          <a:xfrm>
            <a:off x="1257300" y="3075646"/>
            <a:ext cx="9677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Aptos" panose="020B0004020202020204" pitchFamily="34" charset="0"/>
              </a:rPr>
              <a:t>Architettura a Microservizi per il Supporto Decisionale nella Diagnosi Clinica con </a:t>
            </a:r>
            <a:r>
              <a:rPr lang="it-IT" sz="2800" dirty="0" err="1">
                <a:latin typeface="Aptos" panose="020B0004020202020204" pitchFamily="34" charset="0"/>
              </a:rPr>
              <a:t>Explainable</a:t>
            </a:r>
            <a:r>
              <a:rPr lang="it-IT" sz="2800" dirty="0">
                <a:latin typeface="Aptos" panose="020B0004020202020204" pitchFamily="34" charset="0"/>
              </a:rPr>
              <a:t> AI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154D679-D22A-5AB2-F951-4013E483763F}"/>
              </a:ext>
            </a:extLst>
          </p:cNvPr>
          <p:cNvSpPr txBox="1"/>
          <p:nvPr/>
        </p:nvSpPr>
        <p:spPr>
          <a:xfrm>
            <a:off x="8428108" y="4439839"/>
            <a:ext cx="277351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Gruppo:</a:t>
            </a:r>
          </a:p>
          <a:p>
            <a:pPr algn="l"/>
            <a:r>
              <a:rPr lang="it-IT" sz="2800" dirty="0">
                <a:latin typeface="Aptos" panose="020B0004020202020204" pitchFamily="34" charset="0"/>
              </a:rPr>
              <a:t>Roberto Carriero</a:t>
            </a:r>
          </a:p>
          <a:p>
            <a:pPr algn="l"/>
            <a:r>
              <a:rPr lang="it-IT" sz="2800" dirty="0">
                <a:latin typeface="Aptos" panose="020B0004020202020204" pitchFamily="34" charset="0"/>
              </a:rPr>
              <a:t>Luca Cianci</a:t>
            </a:r>
          </a:p>
          <a:p>
            <a:pPr algn="l"/>
            <a:r>
              <a:rPr lang="it-IT" sz="2800" dirty="0">
                <a:latin typeface="Aptos" panose="020B0004020202020204" pitchFamily="34" charset="0"/>
              </a:rPr>
              <a:t>Luca Serio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0815B8B-2A81-8CC3-FBB7-F00F7F512C4A}"/>
              </a:ext>
            </a:extLst>
          </p:cNvPr>
          <p:cNvSpPr txBox="1"/>
          <p:nvPr/>
        </p:nvSpPr>
        <p:spPr>
          <a:xfrm>
            <a:off x="990600" y="4439839"/>
            <a:ext cx="41889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800" b="1" dirty="0">
                <a:latin typeface="Aptos" panose="020B0004020202020204" pitchFamily="34" charset="0"/>
              </a:rPr>
              <a:t>Docente:</a:t>
            </a:r>
          </a:p>
          <a:p>
            <a:pPr algn="l"/>
            <a:r>
              <a:rPr lang="it-IT" sz="2800" dirty="0">
                <a:latin typeface="Aptos" panose="020B0004020202020204" pitchFamily="34" charset="0"/>
              </a:rPr>
              <a:t>Prof.ssa Marina Mongiello</a:t>
            </a:r>
          </a:p>
        </p:txBody>
      </p:sp>
    </p:spTree>
    <p:extLst>
      <p:ext uri="{BB962C8B-B14F-4D97-AF65-F5344CB8AC3E}">
        <p14:creationId xmlns:p14="http://schemas.microsoft.com/office/powerpoint/2010/main" val="236093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nto Soccorso e Triage - Delta Informatica">
            <a:extLst>
              <a:ext uri="{FF2B5EF4-FFF2-40B4-BE49-F238E27FC236}">
                <a16:creationId xmlns:a16="http://schemas.microsoft.com/office/drawing/2014/main" id="{CFAF91A9-5D42-F314-A839-F6638B412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5" t="13033" r="7759" b="17228"/>
          <a:stretch>
            <a:fillRect/>
          </a:stretch>
        </p:blipFill>
        <p:spPr bwMode="auto">
          <a:xfrm>
            <a:off x="7620000" y="2667000"/>
            <a:ext cx="4232905" cy="285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object 9">
            <a:extLst>
              <a:ext uri="{FF2B5EF4-FFF2-40B4-BE49-F238E27FC236}">
                <a16:creationId xmlns:a16="http://schemas.microsoft.com/office/drawing/2014/main" id="{6BBE9099-5CDD-3007-1210-B543A3A8E003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9BD870F1-AEB6-F68B-D98F-589DE7126AB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DA979EE0-288E-6566-E518-4C99150B0A66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A2E8FA1-4185-62B3-BF0A-3ABD98479D9C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BA55FC4-151F-27B2-172B-5CD5332FE2A5}"/>
              </a:ext>
            </a:extLst>
          </p:cNvPr>
          <p:cNvSpPr txBox="1"/>
          <p:nvPr/>
        </p:nvSpPr>
        <p:spPr>
          <a:xfrm>
            <a:off x="11444886" y="6489268"/>
            <a:ext cx="308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9A47F04-4709-7E4F-5150-AC3A593ED5A3}"/>
              </a:ext>
            </a:extLst>
          </p:cNvPr>
          <p:cNvSpPr txBox="1"/>
          <p:nvPr/>
        </p:nvSpPr>
        <p:spPr>
          <a:xfrm>
            <a:off x="609600" y="381000"/>
            <a:ext cx="46249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Introduzione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E877240-2B0A-8841-50EC-13E979DD0AF6}"/>
              </a:ext>
            </a:extLst>
          </p:cNvPr>
          <p:cNvSpPr txBox="1"/>
          <p:nvPr/>
        </p:nvSpPr>
        <p:spPr>
          <a:xfrm>
            <a:off x="685800" y="1653911"/>
            <a:ext cx="88857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>
                <a:latin typeface="Aptos" panose="020B0004020202020204" pitchFamily="34" charset="0"/>
              </a:rPr>
              <a:t>Problema</a:t>
            </a:r>
            <a:endParaRPr lang="en-US" sz="2800" b="1" dirty="0">
              <a:latin typeface="Aptos" panose="020B0004020202020204" pitchFamily="34" charset="0"/>
            </a:endParaRPr>
          </a:p>
          <a:p>
            <a:pPr algn="just"/>
            <a:r>
              <a:rPr lang="en-US" sz="2800" dirty="0" err="1">
                <a:latin typeface="Aptos" panose="020B0004020202020204" pitchFamily="34" charset="0"/>
              </a:rPr>
              <a:t>L’attuale</a:t>
            </a:r>
            <a:r>
              <a:rPr lang="en-US" sz="2800" dirty="0">
                <a:latin typeface="Aptos" panose="020B0004020202020204" pitchFamily="34" charset="0"/>
              </a:rPr>
              <a:t> </a:t>
            </a:r>
            <a:r>
              <a:rPr lang="it-IT" sz="2800" dirty="0">
                <a:latin typeface="Aptos" panose="020B0004020202020204" pitchFamily="34" charset="0"/>
              </a:rPr>
              <a:t>processo di </a:t>
            </a:r>
            <a:r>
              <a:rPr lang="it-IT" sz="2800" b="1" dirty="0">
                <a:latin typeface="Aptos" panose="020B0004020202020204" pitchFamily="34" charset="0"/>
              </a:rPr>
              <a:t>triage</a:t>
            </a:r>
            <a:r>
              <a:rPr lang="it-IT" sz="2800" dirty="0">
                <a:latin typeface="Aptos" panose="020B0004020202020204" pitchFamily="34" charset="0"/>
              </a:rPr>
              <a:t> risulta </a:t>
            </a:r>
            <a:r>
              <a:rPr lang="it-IT" sz="2800" b="1" dirty="0">
                <a:latin typeface="Aptos" panose="020B0004020202020204" pitchFamily="34" charset="0"/>
              </a:rPr>
              <a:t>poco efficiente</a:t>
            </a:r>
            <a:r>
              <a:rPr lang="it-IT" sz="2800" dirty="0">
                <a:latin typeface="Aptos" panose="020B000402020202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Carenza di personale sanitario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Elevata affluenza di pazienti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Processi decisionali lenti e ridondanti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b="1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Conseguenza</a:t>
            </a: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Ritardi, errori e stress per lo staff medico</a:t>
            </a: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→</a:t>
            </a:r>
            <a:r>
              <a:rPr lang="it-IT" sz="2800" b="1" dirty="0">
                <a:latin typeface="Aptos" panose="020B0004020202020204" pitchFamily="34" charset="0"/>
              </a:rPr>
              <a:t> Peggioramento dell’esperienza del paziente.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74C1DB-7385-E2A7-7609-0065A8C4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Artificial Intelligence Head Icon Vector Ai Icon Vector Design Used In Ai  Concepts Artificial Intelligence Icon Stock Illustration - Download Image  Now - iStock">
            <a:extLst>
              <a:ext uri="{FF2B5EF4-FFF2-40B4-BE49-F238E27FC236}">
                <a16:creationId xmlns:a16="http://schemas.microsoft.com/office/drawing/2014/main" id="{E7146A0F-752F-48F1-2426-8CA591B8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1" t="16830" r="18791" b="15686"/>
          <a:stretch>
            <a:fillRect/>
          </a:stretch>
        </p:blipFill>
        <p:spPr>
          <a:xfrm>
            <a:off x="9610725" y="2819400"/>
            <a:ext cx="2238383" cy="2505083"/>
          </a:xfrm>
          <a:prstGeom prst="rect">
            <a:avLst/>
          </a:prstGeom>
        </p:spPr>
      </p:pic>
      <p:grpSp>
        <p:nvGrpSpPr>
          <p:cNvPr id="2" name="object 9">
            <a:extLst>
              <a:ext uri="{FF2B5EF4-FFF2-40B4-BE49-F238E27FC236}">
                <a16:creationId xmlns:a16="http://schemas.microsoft.com/office/drawing/2014/main" id="{91CD54C2-49A9-857D-84B6-B1DBFBA37EA2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87103B7E-240E-0F8C-FB5B-4E87DEEF15C3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CB11E399-AFFE-00E1-D1B0-4A7CAFF06ED0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F68881D-03EC-1B58-3270-E7C12074A98B}"/>
              </a:ext>
            </a:extLst>
          </p:cNvPr>
          <p:cNvSpPr txBox="1"/>
          <p:nvPr/>
        </p:nvSpPr>
        <p:spPr>
          <a:xfrm>
            <a:off x="11444885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B248CF0-AFA9-1996-D476-CD38B2F1ACDF}"/>
              </a:ext>
            </a:extLst>
          </p:cNvPr>
          <p:cNvSpPr txBox="1"/>
          <p:nvPr/>
        </p:nvSpPr>
        <p:spPr>
          <a:xfrm>
            <a:off x="628650" y="1640235"/>
            <a:ext cx="9915525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800" b="1" dirty="0" err="1">
                <a:latin typeface="Aptos" panose="020B0004020202020204" pitchFamily="34" charset="0"/>
              </a:rPr>
              <a:t>Soluzione</a:t>
            </a:r>
            <a:endParaRPr lang="en-US" sz="2800" b="1" dirty="0">
              <a:latin typeface="Aptos" panose="020B0004020202020204" pitchFamily="34" charset="0"/>
            </a:endParaRP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Piattaforma</a:t>
            </a:r>
            <a:r>
              <a:rPr lang="it-IT" sz="2800" b="1" dirty="0">
                <a:latin typeface="Aptos" panose="020B0004020202020204" pitchFamily="34" charset="0"/>
              </a:rPr>
              <a:t> intelligente </a:t>
            </a:r>
            <a:r>
              <a:rPr lang="it-IT" sz="2800" dirty="0">
                <a:latin typeface="Aptos" panose="020B0004020202020204" pitchFamily="34" charset="0"/>
              </a:rPr>
              <a:t>di </a:t>
            </a:r>
            <a:r>
              <a:rPr lang="it-IT" sz="2800" b="1" dirty="0">
                <a:latin typeface="Aptos" panose="020B0004020202020204" pitchFamily="34" charset="0"/>
              </a:rPr>
              <a:t>supporto decisionale</a:t>
            </a:r>
            <a:r>
              <a:rPr lang="it-IT" sz="2800" dirty="0">
                <a:latin typeface="Aptos" panose="020B0004020202020204" pitchFamily="34" charset="0"/>
              </a:rPr>
              <a:t> per i </a:t>
            </a:r>
            <a:r>
              <a:rPr lang="it-IT" sz="2800" b="1" dirty="0">
                <a:latin typeface="Aptos" panose="020B0004020202020204" pitchFamily="34" charset="0"/>
              </a:rPr>
              <a:t>medici</a:t>
            </a: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→ Fornisce</a:t>
            </a:r>
            <a:r>
              <a:rPr lang="it-IT" sz="2800" b="1" dirty="0">
                <a:latin typeface="Aptos" panose="020B0004020202020204" pitchFamily="34" charset="0"/>
              </a:rPr>
              <a:t> diagnosi preliminari</a:t>
            </a:r>
            <a:r>
              <a:rPr lang="it-IT" sz="2800" dirty="0">
                <a:latin typeface="Aptos" panose="020B0004020202020204" pitchFamily="34" charset="0"/>
              </a:rPr>
              <a:t> e </a:t>
            </a:r>
            <a:r>
              <a:rPr lang="it-IT" sz="2800" b="1" dirty="0">
                <a:latin typeface="Aptos" panose="020B0004020202020204" pitchFamily="34" charset="0"/>
              </a:rPr>
              <a:t>ottimizza </a:t>
            </a:r>
            <a:r>
              <a:rPr lang="it-IT" sz="2800" dirty="0">
                <a:latin typeface="Aptos" panose="020B0004020202020204" pitchFamily="34" charset="0"/>
              </a:rPr>
              <a:t>il processo di </a:t>
            </a:r>
            <a:r>
              <a:rPr lang="it-IT" sz="2800" b="1" dirty="0">
                <a:latin typeface="Aptos" panose="020B0004020202020204" pitchFamily="34" charset="0"/>
              </a:rPr>
              <a:t>triage</a:t>
            </a:r>
            <a:endParaRPr lang="it-IT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Caratteristiche principali</a:t>
            </a:r>
          </a:p>
          <a:p>
            <a:pPr marL="457200" indent="-457200" algn="just">
              <a:buFont typeface="Arial"/>
              <a:buChar char="•"/>
            </a:pPr>
            <a:r>
              <a:rPr lang="it-IT" sz="2800" b="1" dirty="0" err="1">
                <a:latin typeface="Aptos"/>
              </a:rPr>
              <a:t>Explainable</a:t>
            </a:r>
            <a:r>
              <a:rPr lang="it-IT" sz="2800" b="1" dirty="0">
                <a:latin typeface="Aptos"/>
              </a:rPr>
              <a:t> AI: </a:t>
            </a:r>
            <a:r>
              <a:rPr lang="it-IT" sz="2800" dirty="0">
                <a:latin typeface="Aptos"/>
              </a:rPr>
              <a:t>Analisi multimodale con spiegazioni</a:t>
            </a:r>
          </a:p>
          <a:p>
            <a:pPr marL="457200" indent="-457200" algn="just">
              <a:buFont typeface="Arial"/>
              <a:buChar char="•"/>
            </a:pPr>
            <a:r>
              <a:rPr lang="it-IT" sz="2800" b="1" dirty="0">
                <a:latin typeface="Aptos"/>
              </a:rPr>
              <a:t>Architettura distribuita: </a:t>
            </a:r>
            <a:r>
              <a:rPr lang="it-IT" sz="2800" dirty="0">
                <a:latin typeface="Aptos"/>
              </a:rPr>
              <a:t>Accesso immediato e sicuro</a:t>
            </a:r>
            <a:endParaRPr lang="it-IT" dirty="0"/>
          </a:p>
          <a:p>
            <a:pPr marL="457200" indent="-457200" algn="just">
              <a:buFont typeface="Arial"/>
              <a:buChar char="•"/>
            </a:pPr>
            <a:r>
              <a:rPr lang="it-IT" sz="2800" b="1" dirty="0">
                <a:latin typeface="Aptos"/>
              </a:rPr>
              <a:t>Dashboard clinica: </a:t>
            </a:r>
            <a:r>
              <a:rPr lang="it-IT" sz="2800" dirty="0">
                <a:latin typeface="Aptos"/>
              </a:rPr>
              <a:t>Interfaccia per gestire analisi e referti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BB238DD-29C3-41EF-3505-92631C94ED76}"/>
              </a:ext>
            </a:extLst>
          </p:cNvPr>
          <p:cNvSpPr txBox="1"/>
          <p:nvPr/>
        </p:nvSpPr>
        <p:spPr>
          <a:xfrm>
            <a:off x="609600" y="381000"/>
            <a:ext cx="46249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Introduzione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DC7CAB2-791A-DBCB-EF67-0A065CFAB965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2860120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81DB36-9DFC-E87D-8552-C57C2D64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A8556418-6BC7-0B06-5123-939042B7A604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46934F27-2DC1-C3DC-263F-1E7A5FA0D4C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CA31F60B-29A9-81F2-9D6B-101E1D5124DB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0EF8E48-B666-D3AF-4827-DC0BB16FFC02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3E5E8C3-AE96-66EB-B191-7CACB37CB7F4}"/>
              </a:ext>
            </a:extLst>
          </p:cNvPr>
          <p:cNvSpPr txBox="1"/>
          <p:nvPr/>
        </p:nvSpPr>
        <p:spPr>
          <a:xfrm>
            <a:off x="723900" y="365720"/>
            <a:ext cx="85747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Requisiti Funzionali (FR)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1D51F80-6472-41D7-F948-67FE74B264EE}"/>
              </a:ext>
            </a:extLst>
          </p:cNvPr>
          <p:cNvSpPr txBox="1"/>
          <p:nvPr/>
        </p:nvSpPr>
        <p:spPr>
          <a:xfrm>
            <a:off x="799116" y="1627891"/>
            <a:ext cx="1059376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Gestione staff medico: </a:t>
            </a:r>
            <a:r>
              <a:rPr lang="it-IT" sz="2800" dirty="0">
                <a:latin typeface="Aptos" panose="020B0004020202020204" pitchFamily="34" charset="0"/>
              </a:rPr>
              <a:t>Registrazione, autenticazione e recupero credenziali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Analisi e diagnosi preliminare: </a:t>
            </a:r>
            <a:r>
              <a:rPr lang="it-IT" sz="2800" dirty="0">
                <a:latin typeface="Aptos" panose="020B0004020202020204" pitchFamily="34" charset="0"/>
              </a:rPr>
              <a:t>Invio</a:t>
            </a:r>
            <a:r>
              <a:rPr lang="it-IT" sz="2800" b="1" dirty="0">
                <a:latin typeface="Aptos" panose="020B0004020202020204" pitchFamily="34" charset="0"/>
              </a:rPr>
              <a:t> </a:t>
            </a:r>
            <a:r>
              <a:rPr lang="it-IT" sz="2800" dirty="0">
                <a:latin typeface="Aptos" panose="020B0004020202020204" pitchFamily="34" charset="0"/>
              </a:rPr>
              <a:t>dati clinici, classificazione con modelli AI, generazione di referti spiegabili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Gestione referti persistenti: </a:t>
            </a:r>
            <a:r>
              <a:rPr lang="it-IT" sz="2800" dirty="0">
                <a:latin typeface="Aptos" panose="020B0004020202020204" pitchFamily="34" charset="0"/>
              </a:rPr>
              <a:t>Consultazione, filtraggio e ricerca per paziente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Audit e monitoraggio: </a:t>
            </a:r>
            <a:r>
              <a:rPr lang="it-IT" sz="2800" dirty="0" err="1">
                <a:latin typeface="Aptos" panose="020B0004020202020204" pitchFamily="34" charset="0"/>
              </a:rPr>
              <a:t>Logging</a:t>
            </a:r>
            <a:r>
              <a:rPr lang="it-IT" sz="2800" dirty="0">
                <a:latin typeface="Aptos" panose="020B0004020202020204" pitchFamily="34" charset="0"/>
              </a:rPr>
              <a:t> di tutte le operazioni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8CDBEE1-D376-DBD5-47A7-A2AD0296C59E}"/>
              </a:ext>
            </a:extLst>
          </p:cNvPr>
          <p:cNvSpPr txBox="1"/>
          <p:nvPr/>
        </p:nvSpPr>
        <p:spPr>
          <a:xfrm>
            <a:off x="3047999" y="5062161"/>
            <a:ext cx="6096000" cy="1055608"/>
          </a:xfrm>
          <a:prstGeom prst="roundRect">
            <a:avLst/>
          </a:prstGeom>
          <a:solidFill>
            <a:srgbClr val="009999">
              <a:alpha val="10196"/>
            </a:srgbClr>
          </a:solidFill>
          <a:ln>
            <a:solidFill>
              <a:srgbClr val="00819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Aptos" panose="020B0004020202020204" pitchFamily="34" charset="0"/>
              </a:rPr>
              <a:t>L’utilizzo della piattaforma è</a:t>
            </a:r>
            <a:r>
              <a:rPr lang="it-IT" sz="2800" b="1" dirty="0">
                <a:latin typeface="Aptos" panose="020B0004020202020204" pitchFamily="34" charset="0"/>
              </a:rPr>
              <a:t> riservato </a:t>
            </a:r>
            <a:r>
              <a:rPr lang="it-IT" sz="2800" dirty="0">
                <a:latin typeface="Aptos" panose="020B0004020202020204" pitchFamily="34" charset="0"/>
              </a:rPr>
              <a:t>al</a:t>
            </a:r>
            <a:r>
              <a:rPr lang="it-IT" sz="2800" b="1" dirty="0">
                <a:latin typeface="Aptos" panose="020B0004020202020204" pitchFamily="34" charset="0"/>
              </a:rPr>
              <a:t> solo personale medico</a:t>
            </a:r>
          </a:p>
        </p:txBody>
      </p:sp>
      <p:pic>
        <p:nvPicPr>
          <p:cNvPr id="4098" name="Picture 2" descr="Warning - Free signaling icons">
            <a:extLst>
              <a:ext uri="{FF2B5EF4-FFF2-40B4-BE49-F238E27FC236}">
                <a16:creationId xmlns:a16="http://schemas.microsoft.com/office/drawing/2014/main" id="{97EE22C9-38DD-BDD7-9E15-7472908C8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99" y="4845010"/>
            <a:ext cx="838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C86A39F-AC73-74F9-A151-FE8DB6CEBDAB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3560599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3B6AD7-0145-718B-DC07-DBC116BB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912D8678-6BE4-D1C6-94A3-7905A24C0820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16C5E943-B593-DF7C-3D95-7AF36AA5C78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8DEF5E5C-6C51-DFE3-E01E-96C528419851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88854D3-F581-F271-4A15-100BADB7AEE4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98FE30C-C22A-8D13-4AE8-8F71B4787DEA}"/>
              </a:ext>
            </a:extLst>
          </p:cNvPr>
          <p:cNvSpPr txBox="1"/>
          <p:nvPr/>
        </p:nvSpPr>
        <p:spPr>
          <a:xfrm>
            <a:off x="723900" y="365720"/>
            <a:ext cx="107276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Requisiti Non Funzionali (NFR)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5443EAD-8907-D5D3-583F-82ADEEFDA602}"/>
              </a:ext>
            </a:extLst>
          </p:cNvPr>
          <p:cNvSpPr txBox="1"/>
          <p:nvPr/>
        </p:nvSpPr>
        <p:spPr>
          <a:xfrm>
            <a:off x="723900" y="1676400"/>
            <a:ext cx="9144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Privacy e sicurezza: </a:t>
            </a:r>
            <a:r>
              <a:rPr lang="it-IT" sz="2800" dirty="0">
                <a:latin typeface="Aptos" panose="020B0004020202020204" pitchFamily="34" charset="0"/>
              </a:rPr>
              <a:t>Anonimizzazione dati sensibili, autenticazione con JSON Web Token (JWT)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Tracciabilità e audit: </a:t>
            </a:r>
            <a:r>
              <a:rPr lang="it-IT" sz="2800" dirty="0" err="1">
                <a:latin typeface="Aptos" panose="020B0004020202020204" pitchFamily="34" charset="0"/>
              </a:rPr>
              <a:t>Logging</a:t>
            </a:r>
            <a:r>
              <a:rPr lang="it-IT" sz="2800" dirty="0">
                <a:latin typeface="Aptos" panose="020B0004020202020204" pitchFamily="34" charset="0"/>
              </a:rPr>
              <a:t> asincrono e frequente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Tempi di risposta configurabili (</a:t>
            </a:r>
            <a:r>
              <a:rPr lang="it-IT" sz="2800" b="1" dirty="0" err="1">
                <a:latin typeface="Aptos" panose="020B0004020202020204" pitchFamily="34" charset="0"/>
              </a:rPr>
              <a:t>Swappable</a:t>
            </a:r>
            <a:r>
              <a:rPr lang="it-IT" sz="2800" b="1" dirty="0">
                <a:latin typeface="Aptos" panose="020B0004020202020204" pitchFamily="34" charset="0"/>
              </a:rPr>
              <a:t> AI): </a:t>
            </a:r>
            <a:r>
              <a:rPr lang="it-IT" sz="2800" dirty="0">
                <a:latin typeface="Aptos" panose="020B0004020202020204" pitchFamily="34" charset="0"/>
              </a:rPr>
              <a:t>Scelta a </a:t>
            </a:r>
            <a:r>
              <a:rPr lang="it-IT" sz="2800" dirty="0" err="1">
                <a:latin typeface="Aptos" panose="020B0004020202020204" pitchFamily="34" charset="0"/>
              </a:rPr>
              <a:t>runtime</a:t>
            </a:r>
            <a:r>
              <a:rPr lang="it-IT" sz="2800" dirty="0">
                <a:latin typeface="Aptos" panose="020B0004020202020204" pitchFamily="34" charset="0"/>
              </a:rPr>
              <a:t> tra analisi rapida (ML) o approfondita (LLM)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Scalabilità e manutenibilità: </a:t>
            </a:r>
            <a:r>
              <a:rPr lang="it-IT" sz="2800" dirty="0">
                <a:latin typeface="Aptos" panose="020B0004020202020204" pitchFamily="34" charset="0"/>
              </a:rPr>
              <a:t>Architettura a microservizi containerizzati via API </a:t>
            </a:r>
            <a:r>
              <a:rPr lang="it-IT" sz="2800" dirty="0" err="1">
                <a:latin typeface="Aptos" panose="020B0004020202020204" pitchFamily="34" charset="0"/>
              </a:rPr>
              <a:t>RESTful</a:t>
            </a:r>
            <a:r>
              <a:rPr lang="it-IT" sz="2800" dirty="0">
                <a:latin typeface="Aptos" panose="020B0004020202020204" pitchFamily="34" charset="0"/>
              </a:rPr>
              <a:t> e database per ogni servizio</a:t>
            </a:r>
          </a:p>
        </p:txBody>
      </p:sp>
      <p:pic>
        <p:nvPicPr>
          <p:cNvPr id="5126" name="Picture 6" descr="Non-Functional Requirements - UCD IT Services">
            <a:extLst>
              <a:ext uri="{FF2B5EF4-FFF2-40B4-BE49-F238E27FC236}">
                <a16:creationId xmlns:a16="http://schemas.microsoft.com/office/drawing/2014/main" id="{0E228737-AB4A-2F6E-1977-6B279EA6F9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6" t="659" r="24955" b="-659"/>
          <a:stretch>
            <a:fillRect/>
          </a:stretch>
        </p:blipFill>
        <p:spPr bwMode="auto">
          <a:xfrm>
            <a:off x="10134600" y="2383229"/>
            <a:ext cx="1867448" cy="209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B713F21-783B-C796-7A42-28CB6695D075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157869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1CE2E5-D78E-9207-8830-E0DD2F5F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DEDC11D6-6031-1CE7-6C7F-E180C69353A6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6A6981A6-50F6-0C66-6A28-F962D4F46D7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517DDF4F-7D7B-ABB9-85BF-F7C3350C4388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54EB24B-686A-D962-77DF-BA97AC4F6B6F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9721CA0-370C-E328-110D-953D9A758ABB}"/>
              </a:ext>
            </a:extLst>
          </p:cNvPr>
          <p:cNvSpPr txBox="1"/>
          <p:nvPr/>
        </p:nvSpPr>
        <p:spPr>
          <a:xfrm>
            <a:off x="723900" y="365720"/>
            <a:ext cx="44262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Architettura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9479A86-E474-AAD0-9442-F3C05EE4880A}"/>
              </a:ext>
            </a:extLst>
          </p:cNvPr>
          <p:cNvSpPr txBox="1"/>
          <p:nvPr/>
        </p:nvSpPr>
        <p:spPr>
          <a:xfrm>
            <a:off x="723900" y="1524000"/>
            <a:ext cx="3009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dirty="0">
                <a:latin typeface="Aptos" panose="020B0004020202020204" pitchFamily="34" charset="0"/>
              </a:rPr>
              <a:t>Diagramma UML</a:t>
            </a: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componenti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366A34C-E1BC-7999-6FB2-E4C98485E1B3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2E29BC67-3622-11F3-5042-DC4991CD6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4184" y="7839"/>
            <a:ext cx="9410700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51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E6C8AE-63FC-8A96-38A4-8AA348086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2EE95C98-22AC-A5DA-FCAE-5A5728EFD2F0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01CCD283-801A-350D-A578-34A3DB3F6733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6348388E-EB46-362E-F1BC-B70BBA5EC835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8328F80-1F0F-F02D-9E42-5929580ACBE1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7160DC9-4268-3040-4C5B-3C0D7B1364B1}"/>
              </a:ext>
            </a:extLst>
          </p:cNvPr>
          <p:cNvSpPr txBox="1"/>
          <p:nvPr/>
        </p:nvSpPr>
        <p:spPr>
          <a:xfrm>
            <a:off x="723900" y="365720"/>
            <a:ext cx="57502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Design Patterns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15ECF5C-018A-1D97-6AB1-765A51AE7265}"/>
              </a:ext>
            </a:extLst>
          </p:cNvPr>
          <p:cNvSpPr txBox="1"/>
          <p:nvPr/>
        </p:nvSpPr>
        <p:spPr>
          <a:xfrm>
            <a:off x="793826" y="1874728"/>
            <a:ext cx="1067544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dirty="0">
                <a:latin typeface="Aptos" panose="020B0004020202020204" pitchFamily="34" charset="0"/>
              </a:rPr>
              <a:t>A ciascun </a:t>
            </a:r>
            <a:r>
              <a:rPr lang="it-IT" sz="2800" b="1" dirty="0">
                <a:latin typeface="Aptos" panose="020B0004020202020204" pitchFamily="34" charset="0"/>
              </a:rPr>
              <a:t>componente</a:t>
            </a:r>
            <a:r>
              <a:rPr lang="it-IT" sz="2800" dirty="0">
                <a:latin typeface="Aptos" panose="020B0004020202020204" pitchFamily="34" charset="0"/>
              </a:rPr>
              <a:t> è associato almeno un </a:t>
            </a:r>
            <a:r>
              <a:rPr lang="it-IT" sz="2800" b="1" dirty="0">
                <a:latin typeface="Aptos" panose="020B0004020202020204" pitchFamily="34" charset="0"/>
              </a:rPr>
              <a:t>design pattern</a:t>
            </a:r>
            <a:r>
              <a:rPr lang="it-IT" sz="2800" dirty="0">
                <a:latin typeface="Aptos" panose="020B000402020202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Gateway: </a:t>
            </a:r>
            <a:r>
              <a:rPr lang="it-IT" sz="2800" dirty="0" err="1">
                <a:latin typeface="Aptos" panose="020B0004020202020204" pitchFamily="34" charset="0"/>
              </a:rPr>
              <a:t>Facade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Authentication: </a:t>
            </a:r>
            <a:r>
              <a:rPr lang="it-IT" sz="2800" dirty="0">
                <a:latin typeface="Aptos" panose="020B0004020202020204" pitchFamily="34" charset="0"/>
              </a:rPr>
              <a:t>Repository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Data Processing: </a:t>
            </a:r>
            <a:r>
              <a:rPr lang="it-IT" sz="2800" dirty="0">
                <a:latin typeface="Aptos" panose="020B0004020202020204" pitchFamily="34" charset="0"/>
              </a:rPr>
              <a:t>Chain of </a:t>
            </a:r>
            <a:r>
              <a:rPr lang="it-IT" sz="2800" dirty="0" err="1">
                <a:latin typeface="Aptos" panose="020B0004020202020204" pitchFamily="34" charset="0"/>
              </a:rPr>
              <a:t>Responsibility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Explainable</a:t>
            </a:r>
            <a:r>
              <a:rPr lang="it-IT" sz="2800" b="1" dirty="0">
                <a:latin typeface="Aptos" panose="020B0004020202020204" pitchFamily="34" charset="0"/>
              </a:rPr>
              <a:t> AI: </a:t>
            </a:r>
            <a:r>
              <a:rPr lang="it-IT" sz="2800" dirty="0">
                <a:latin typeface="Aptos" panose="020B0004020202020204" pitchFamily="34" charset="0"/>
              </a:rPr>
              <a:t>Strategy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Audit: </a:t>
            </a:r>
            <a:r>
              <a:rPr lang="it-IT" sz="2800" dirty="0">
                <a:latin typeface="Aptos" panose="020B0004020202020204" pitchFamily="34" charset="0"/>
              </a:rPr>
              <a:t>Observer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</p:txBody>
      </p:sp>
      <p:pic>
        <p:nvPicPr>
          <p:cNvPr id="9218" name="Picture 2" descr="Design Patterns - bgasparotto">
            <a:extLst>
              <a:ext uri="{FF2B5EF4-FFF2-40B4-BE49-F238E27FC236}">
                <a16:creationId xmlns:a16="http://schemas.microsoft.com/office/drawing/2014/main" id="{8F4DC8FE-1E52-449B-C008-218CE9A8D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886200"/>
            <a:ext cx="3925468" cy="206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E87F89A-E4A3-1C97-61C5-C93480AC06D9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352538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BD7FEB-3D4E-EEC8-BDF6-2A4B5E7E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pi icon simple thin line flat symbol | Premium Vector">
            <a:extLst>
              <a:ext uri="{FF2B5EF4-FFF2-40B4-BE49-F238E27FC236}">
                <a16:creationId xmlns:a16="http://schemas.microsoft.com/office/drawing/2014/main" id="{8323E0A4-3513-B019-C57A-57AFD97E1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5" t="12699" r="18367" b="13370"/>
          <a:stretch>
            <a:fillRect/>
          </a:stretch>
        </p:blipFill>
        <p:spPr bwMode="auto">
          <a:xfrm>
            <a:off x="9751951" y="3243901"/>
            <a:ext cx="1692933" cy="202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object 9">
            <a:extLst>
              <a:ext uri="{FF2B5EF4-FFF2-40B4-BE49-F238E27FC236}">
                <a16:creationId xmlns:a16="http://schemas.microsoft.com/office/drawing/2014/main" id="{195B3173-E3A6-3CF9-3ECE-18EEB410BA53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2A818DCB-DB5E-DC59-6999-1D813DE7F181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EEED4B13-2093-0819-1ACD-801A901DEB78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A6022DE-C5BC-FACD-0B7C-5E9F34E970A8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7AB6765-1958-F209-E2AF-3EE738D5690E}"/>
              </a:ext>
            </a:extLst>
          </p:cNvPr>
          <p:cNvSpPr txBox="1"/>
          <p:nvPr/>
        </p:nvSpPr>
        <p:spPr>
          <a:xfrm>
            <a:off x="723900" y="365720"/>
            <a:ext cx="10934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Application Programming</a:t>
            </a:r>
          </a:p>
          <a:p>
            <a:r>
              <a:rPr lang="it-IT" sz="6000" b="1" dirty="0">
                <a:latin typeface="Aptos" panose="020B0004020202020204" pitchFamily="34" charset="0"/>
              </a:rPr>
              <a:t>Interface (API)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55BD2A3-640F-37F5-FD6A-6E43379E67D5}"/>
              </a:ext>
            </a:extLst>
          </p:cNvPr>
          <p:cNvSpPr txBox="1"/>
          <p:nvPr/>
        </p:nvSpPr>
        <p:spPr>
          <a:xfrm>
            <a:off x="723900" y="2570773"/>
            <a:ext cx="83439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Endpoints pubblici: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POST /</a:t>
            </a:r>
            <a:r>
              <a:rPr lang="it-IT" sz="2800" b="1" dirty="0" err="1">
                <a:latin typeface="Aptos" panose="020B0004020202020204" pitchFamily="34" charset="0"/>
              </a:rPr>
              <a:t>register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>
                <a:latin typeface="Aptos" panose="020B0004020202020204" pitchFamily="34" charset="0"/>
              </a:rPr>
              <a:t>Permette la registrazione del personale medico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POST /login: </a:t>
            </a:r>
            <a:r>
              <a:rPr lang="it-IT" sz="2800" dirty="0">
                <a:latin typeface="Aptos" panose="020B0004020202020204" pitchFamily="34" charset="0"/>
              </a:rPr>
              <a:t>Autentica l'utente e genera un token JWT, obbligatorio per autenticare le chiamate successive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POST /</a:t>
            </a:r>
            <a:r>
              <a:rPr lang="it-IT" sz="2800" b="1" dirty="0" err="1">
                <a:latin typeface="Aptos" panose="020B0004020202020204" pitchFamily="34" charset="0"/>
              </a:rPr>
              <a:t>forgot</a:t>
            </a:r>
            <a:r>
              <a:rPr lang="it-IT" sz="2800" b="1" dirty="0">
                <a:latin typeface="Aptos" panose="020B0004020202020204" pitchFamily="34" charset="0"/>
              </a:rPr>
              <a:t>-id, POST /</a:t>
            </a:r>
            <a:r>
              <a:rPr lang="it-IT" sz="2800" b="1" dirty="0" err="1">
                <a:latin typeface="Aptos" panose="020B0004020202020204" pitchFamily="34" charset="0"/>
              </a:rPr>
              <a:t>forgot</a:t>
            </a:r>
            <a:r>
              <a:rPr lang="it-IT" sz="2800" b="1" dirty="0">
                <a:latin typeface="Aptos" panose="020B0004020202020204" pitchFamily="34" charset="0"/>
              </a:rPr>
              <a:t>-password</a:t>
            </a:r>
            <a:r>
              <a:rPr lang="it-IT" sz="2800" dirty="0">
                <a:latin typeface="Aptos" panose="020B0004020202020204" pitchFamily="34" charset="0"/>
              </a:rPr>
              <a:t>: Recupero sicuro delle credenziali via email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02C5B18-F7BB-B3AB-E1B7-EAAB2AF7A721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3004411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B7A6AE-1F68-C6EF-37D8-4B600D53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C119118A-6171-7C99-38B6-6A00F8F18976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2BE52C2C-7B67-84D1-A67F-4E416B030410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C4A7C163-497E-CA11-ECE0-F0E19A291157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1D9C8F2-0FD3-986B-30C1-8083FE85D901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271BC0E-ECA8-8E59-2D3E-2F6429AD9E84}"/>
              </a:ext>
            </a:extLst>
          </p:cNvPr>
          <p:cNvSpPr txBox="1"/>
          <p:nvPr/>
        </p:nvSpPr>
        <p:spPr>
          <a:xfrm>
            <a:off x="723900" y="2590800"/>
            <a:ext cx="8420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b="1" dirty="0">
                <a:latin typeface="Aptos" panose="020B0004020202020204" pitchFamily="34" charset="0"/>
              </a:rPr>
              <a:t>Endpoints autenticati: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POST /</a:t>
            </a:r>
            <a:r>
              <a:rPr lang="it-IT" sz="2800" b="1" dirty="0" err="1">
                <a:latin typeface="Aptos" panose="020B0004020202020204" pitchFamily="34" charset="0"/>
              </a:rPr>
              <a:t>analyse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>
                <a:latin typeface="Aptos" panose="020B0004020202020204" pitchFamily="34" charset="0"/>
              </a:rPr>
              <a:t>Avvia il processo di processing dei dati e l’analisi AI per ottenere la diagnosi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GET /reports: </a:t>
            </a:r>
            <a:r>
              <a:rPr lang="it-IT" sz="2800" dirty="0">
                <a:latin typeface="Aptos" panose="020B0004020202020204" pitchFamily="34" charset="0"/>
              </a:rPr>
              <a:t>Permette al medico autenticato di recuperare la lista di tutti i referti generati o di filtrare la ricerca per un paziente specifico</a:t>
            </a:r>
          </a:p>
        </p:txBody>
      </p:sp>
      <p:pic>
        <p:nvPicPr>
          <p:cNvPr id="8196" name="Picture 4" descr="lucchetto icona nel piatto stile clip arte 22062243 PNG">
            <a:extLst>
              <a:ext uri="{FF2B5EF4-FFF2-40B4-BE49-F238E27FC236}">
                <a16:creationId xmlns:a16="http://schemas.microsoft.com/office/drawing/2014/main" id="{58517C18-FDFA-5339-5E5B-24A9DEC82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3200400"/>
            <a:ext cx="14478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E63FB91-EF3D-4063-1D64-550DB9C4830B}"/>
              </a:ext>
            </a:extLst>
          </p:cNvPr>
          <p:cNvSpPr txBox="1"/>
          <p:nvPr/>
        </p:nvSpPr>
        <p:spPr>
          <a:xfrm>
            <a:off x="723900" y="365720"/>
            <a:ext cx="109347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Application Programming</a:t>
            </a:r>
          </a:p>
          <a:p>
            <a:r>
              <a:rPr lang="it-IT" sz="6000" b="1" dirty="0">
                <a:latin typeface="Aptos" panose="020B0004020202020204" pitchFamily="34" charset="0"/>
              </a:rPr>
              <a:t>Interface (API)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7E4D48A-3A95-CDAD-E08F-AD4B8F31C86B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1980125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797AD4-30F5-6C53-088F-C66EAC33B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552945E3-9076-AA8B-927D-26EB3CC1D10C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5E388517-003C-B1B1-3AC3-2AF7C1546D11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B5D99534-F6F1-641A-AEEE-20F5A83652F6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F431806-382E-3301-18A1-3FE6FB69EBEA}"/>
              </a:ext>
            </a:extLst>
          </p:cNvPr>
          <p:cNvSpPr txBox="1"/>
          <p:nvPr/>
        </p:nvSpPr>
        <p:spPr>
          <a:xfrm>
            <a:off x="11444884" y="64892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BBADE56-1068-AA23-91D3-5509BE3F66B4}"/>
              </a:ext>
            </a:extLst>
          </p:cNvPr>
          <p:cNvSpPr txBox="1"/>
          <p:nvPr/>
        </p:nvSpPr>
        <p:spPr>
          <a:xfrm>
            <a:off x="723900" y="365720"/>
            <a:ext cx="3967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Casi d’Uso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28AF682-5446-0457-ADCB-AA7B6D420D28}"/>
              </a:ext>
            </a:extLst>
          </p:cNvPr>
          <p:cNvSpPr txBox="1"/>
          <p:nvPr/>
        </p:nvSpPr>
        <p:spPr>
          <a:xfrm>
            <a:off x="707136" y="1524000"/>
            <a:ext cx="4648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800" dirty="0">
                <a:latin typeface="Aptos" panose="020B0004020202020204" pitchFamily="34" charset="0"/>
              </a:rPr>
              <a:t>Diagramma UML</a:t>
            </a: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casi d’uso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800" dirty="0">
              <a:latin typeface="Aptos" panose="020B0004020202020204" pitchFamily="34" charset="0"/>
            </a:endParaRPr>
          </a:p>
          <a:p>
            <a:pPr algn="just"/>
            <a:r>
              <a:rPr lang="it-IT" sz="2800" b="1" dirty="0">
                <a:latin typeface="Aptos" panose="020B0004020202020204" pitchFamily="34" charset="0"/>
              </a:rPr>
              <a:t>Entità: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Sistema a microservizi</a:t>
            </a:r>
            <a:endParaRPr lang="it-IT" sz="2800" b="1" dirty="0">
              <a:latin typeface="Aptos" panose="020B0004020202020204" pitchFamily="34" charset="0"/>
            </a:endParaRPr>
          </a:p>
          <a:p>
            <a:pPr marL="457200" lvl="1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Medico (attore primario)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latin typeface="Aptos" panose="020B0004020202020204" pitchFamily="34" charset="0"/>
              </a:rPr>
              <a:t>Servizio email (attore</a:t>
            </a:r>
          </a:p>
          <a:p>
            <a:pPr algn="just"/>
            <a:r>
              <a:rPr lang="it-IT" sz="2800" dirty="0">
                <a:latin typeface="Aptos" panose="020B0004020202020204" pitchFamily="34" charset="0"/>
              </a:rPr>
              <a:t>      secondario)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B3A9547-823F-84DE-555B-CAACB46104C1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5E2277FD-9931-F8DE-EA15-9517F87B0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7300" y="152400"/>
            <a:ext cx="67437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0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E80469-F382-419F-4927-F317350B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683DD8E6-E380-7AD0-BDE4-6ED8AA702A4B}"/>
              </a:ext>
            </a:extLst>
          </p:cNvPr>
          <p:cNvSpPr txBox="1"/>
          <p:nvPr/>
        </p:nvSpPr>
        <p:spPr>
          <a:xfrm>
            <a:off x="647700" y="1905000"/>
            <a:ext cx="10896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Agile: </a:t>
            </a:r>
            <a:r>
              <a:rPr lang="it-IT" sz="2800" dirty="0" err="1">
                <a:latin typeface="Aptos" panose="020B0004020202020204" pitchFamily="34" charset="0"/>
              </a:rPr>
              <a:t>Kanban</a:t>
            </a:r>
            <a:endParaRPr lang="it-IT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Pianificazione delle tasks: </a:t>
            </a:r>
            <a:r>
              <a:rPr lang="it-IT" sz="2800" dirty="0" err="1">
                <a:latin typeface="Aptos" panose="020B0004020202020204" pitchFamily="34" charset="0"/>
              </a:rPr>
              <a:t>Gantt</a:t>
            </a:r>
            <a:endParaRPr lang="it-IT" sz="2800" dirty="0">
              <a:latin typeface="Aptos" panose="020B00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Chat/Meetings: </a:t>
            </a:r>
            <a:r>
              <a:rPr lang="it-IT" sz="2800" dirty="0">
                <a:latin typeface="Aptos" panose="020B0004020202020204" pitchFamily="34" charset="0"/>
              </a:rPr>
              <a:t>Microsoft Teams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Versioning</a:t>
            </a:r>
            <a:r>
              <a:rPr lang="it-IT" sz="2800" b="1" dirty="0">
                <a:latin typeface="Aptos" panose="020B0004020202020204" pitchFamily="34" charset="0"/>
              </a:rPr>
              <a:t>: </a:t>
            </a:r>
            <a:r>
              <a:rPr lang="it-IT" sz="2800" dirty="0" err="1">
                <a:latin typeface="Aptos" panose="020B0004020202020204" pitchFamily="34" charset="0"/>
              </a:rPr>
              <a:t>Git</a:t>
            </a:r>
            <a:r>
              <a:rPr lang="it-IT" sz="2800" dirty="0">
                <a:latin typeface="Aptos" panose="020B0004020202020204" pitchFamily="34" charset="0"/>
              </a:rPr>
              <a:t>/GitHub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Containerizzazione e deployment: </a:t>
            </a:r>
            <a:r>
              <a:rPr lang="it-IT" sz="2800" dirty="0">
                <a:latin typeface="Aptos" panose="020B0004020202020204" pitchFamily="34" charset="0"/>
              </a:rPr>
              <a:t>Docker, VPS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 err="1">
                <a:latin typeface="Aptos" panose="020B0004020202020204" pitchFamily="34" charset="0"/>
              </a:rPr>
              <a:t>Stack</a:t>
            </a:r>
            <a:r>
              <a:rPr lang="it-IT" sz="2800" b="1" dirty="0">
                <a:latin typeface="Aptos" panose="020B0004020202020204" pitchFamily="34" charset="0"/>
              </a:rPr>
              <a:t> tecnologico: </a:t>
            </a:r>
            <a:r>
              <a:rPr lang="it-IT" sz="2800" dirty="0">
                <a:latin typeface="Aptos" panose="020B0004020202020204" pitchFamily="34" charset="0"/>
              </a:rPr>
              <a:t>Python (</a:t>
            </a:r>
            <a:r>
              <a:rPr lang="it-IT" sz="2800" dirty="0" err="1">
                <a:latin typeface="Aptos" panose="020B0004020202020204" pitchFamily="34" charset="0"/>
              </a:rPr>
              <a:t>FastAPI</a:t>
            </a:r>
            <a:r>
              <a:rPr lang="it-IT" sz="2800" dirty="0">
                <a:latin typeface="Aptos" panose="020B0004020202020204" pitchFamily="34" charset="0"/>
              </a:rPr>
              <a:t>), React, </a:t>
            </a:r>
            <a:r>
              <a:rPr lang="it-IT" sz="2800" dirty="0" err="1">
                <a:latin typeface="Aptos" panose="020B0004020202020204" pitchFamily="34" charset="0"/>
              </a:rPr>
              <a:t>PostgreSQL</a:t>
            </a:r>
            <a:r>
              <a:rPr lang="it-IT" sz="2800" dirty="0">
                <a:latin typeface="Aptos" panose="020B0004020202020204" pitchFamily="34" charset="0"/>
              </a:rPr>
              <a:t>, </a:t>
            </a:r>
            <a:r>
              <a:rPr lang="it-IT" sz="2800" dirty="0" err="1">
                <a:latin typeface="Aptos" panose="020B0004020202020204" pitchFamily="34" charset="0"/>
              </a:rPr>
              <a:t>MongoDB</a:t>
            </a:r>
            <a:r>
              <a:rPr lang="it-IT" sz="2800" dirty="0">
                <a:latin typeface="Aptos" panose="020B0004020202020204" pitchFamily="34" charset="0"/>
              </a:rPr>
              <a:t> </a:t>
            </a:r>
            <a:endParaRPr lang="it-IT" sz="2800" b="1" dirty="0">
              <a:latin typeface="Aptos" panose="020B0004020202020204" pitchFamily="34" charset="0"/>
            </a:endParaRPr>
          </a:p>
        </p:txBody>
      </p:sp>
      <p:pic>
        <p:nvPicPr>
          <p:cNvPr id="10258" name="Picture 18" descr="MongoDB SVG and transparent PNG icons | TechIcons">
            <a:extLst>
              <a:ext uri="{FF2B5EF4-FFF2-40B4-BE49-F238E27FC236}">
                <a16:creationId xmlns:a16="http://schemas.microsoft.com/office/drawing/2014/main" id="{0CC448F4-6AB2-2218-DDAF-9429C3FA6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0" y="5033359"/>
            <a:ext cx="1007601" cy="100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object 9">
            <a:extLst>
              <a:ext uri="{FF2B5EF4-FFF2-40B4-BE49-F238E27FC236}">
                <a16:creationId xmlns:a16="http://schemas.microsoft.com/office/drawing/2014/main" id="{A9267283-8762-44A1-DCC9-57DA786E9C23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94BA8B42-3E47-CBF1-AC42-215275B02EBD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4B72FF38-62F3-2156-E5AC-80D917E3538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CD035E4-A620-A033-E134-56846CB49517}"/>
              </a:ext>
            </a:extLst>
          </p:cNvPr>
          <p:cNvSpPr txBox="1"/>
          <p:nvPr/>
        </p:nvSpPr>
        <p:spPr>
          <a:xfrm>
            <a:off x="11383169" y="64892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74460A44-2D99-EFE8-681A-FD39FBB76A7E}"/>
              </a:ext>
            </a:extLst>
          </p:cNvPr>
          <p:cNvSpPr txBox="1"/>
          <p:nvPr/>
        </p:nvSpPr>
        <p:spPr>
          <a:xfrm>
            <a:off x="723900" y="365720"/>
            <a:ext cx="112165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Metodologia e Tools di Sviluppo</a:t>
            </a:r>
          </a:p>
        </p:txBody>
      </p:sp>
      <p:pic>
        <p:nvPicPr>
          <p:cNvPr id="10242" name="Picture 2" descr="GitHub Logos and Usage · GitHub">
            <a:extLst>
              <a:ext uri="{FF2B5EF4-FFF2-40B4-BE49-F238E27FC236}">
                <a16:creationId xmlns:a16="http://schemas.microsoft.com/office/drawing/2014/main" id="{45307F2F-53D5-83A7-E212-860FE119E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846" y="1498552"/>
            <a:ext cx="1070740" cy="107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F2C229F0-3B64-9006-FDCE-114D6A576E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375"/>
          <a:stretch>
            <a:fillRect/>
          </a:stretch>
        </p:blipFill>
        <p:spPr bwMode="auto">
          <a:xfrm>
            <a:off x="9342217" y="1778394"/>
            <a:ext cx="988082" cy="73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 descr="Getting started with FastAPI - learnBATTA">
            <a:extLst>
              <a:ext uri="{FF2B5EF4-FFF2-40B4-BE49-F238E27FC236}">
                <a16:creationId xmlns:a16="http://schemas.microsoft.com/office/drawing/2014/main" id="{702F24C4-1EBC-0B48-2626-64DCFE72A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879" y="2658979"/>
            <a:ext cx="2622379" cy="945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PostgreSQL Pros and Cons | User Likes &amp; Dislikes">
            <a:extLst>
              <a:ext uri="{FF2B5EF4-FFF2-40B4-BE49-F238E27FC236}">
                <a16:creationId xmlns:a16="http://schemas.microsoft.com/office/drawing/2014/main" id="{7B819C6B-0E74-828D-594E-A470B01DF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00"/>
          <a:stretch>
            <a:fillRect/>
          </a:stretch>
        </p:blipFill>
        <p:spPr bwMode="auto">
          <a:xfrm>
            <a:off x="8305800" y="4534654"/>
            <a:ext cx="1407163" cy="1094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0" name="Picture 20">
            <a:extLst>
              <a:ext uri="{FF2B5EF4-FFF2-40B4-BE49-F238E27FC236}">
                <a16:creationId xmlns:a16="http://schemas.microsoft.com/office/drawing/2014/main" id="{D55698EB-2263-1010-D58D-5F287A842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885672"/>
            <a:ext cx="968387" cy="88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2" name="Picture 22">
            <a:extLst>
              <a:ext uri="{FF2B5EF4-FFF2-40B4-BE49-F238E27FC236}">
                <a16:creationId xmlns:a16="http://schemas.microsoft.com/office/drawing/2014/main" id="{328ABFF9-44EB-6E5C-E415-3DF6422A5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569" y="2852562"/>
            <a:ext cx="916673" cy="100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C503030-9086-31EF-3B4C-827447A94F27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</p:spTree>
    <p:extLst>
      <p:ext uri="{BB962C8B-B14F-4D97-AF65-F5344CB8AC3E}">
        <p14:creationId xmlns:p14="http://schemas.microsoft.com/office/powerpoint/2010/main" val="4292844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A3D793-8D02-6A87-449B-27932F03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EBD598B0-08B7-E42B-C88F-FBA6FF317935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D91A5F96-B6C5-0D3B-42B3-9C2C0F8DF0CD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0E7D7320-E854-51B7-57F8-FB309579169B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E6451DD-AD8C-D4DB-BF2C-53903B2ABFF2}"/>
              </a:ext>
            </a:extLst>
          </p:cNvPr>
          <p:cNvSpPr txBox="1"/>
          <p:nvPr/>
        </p:nvSpPr>
        <p:spPr>
          <a:xfrm>
            <a:off x="11383169" y="64892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C082A61-7313-5646-6E7F-D4822779B4E3}"/>
              </a:ext>
            </a:extLst>
          </p:cNvPr>
          <p:cNvSpPr txBox="1"/>
          <p:nvPr/>
        </p:nvSpPr>
        <p:spPr>
          <a:xfrm>
            <a:off x="723900" y="365720"/>
            <a:ext cx="87334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>
                <a:latin typeface="Aptos" panose="020B0004020202020204" pitchFamily="34" charset="0"/>
              </a:rPr>
              <a:t>Progettazione modelli AI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2369E99-4400-BD6E-B153-07A141243E09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9F50FF-19D7-19D2-3C22-1DF991DA0EAA}"/>
              </a:ext>
            </a:extLst>
          </p:cNvPr>
          <p:cNvSpPr txBox="1"/>
          <p:nvPr/>
        </p:nvSpPr>
        <p:spPr>
          <a:xfrm>
            <a:off x="723900" y="1905000"/>
            <a:ext cx="107823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Tipologie di analisi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Tecnologie (es. BERT, CNN, …)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Limiti di dominio</a:t>
            </a:r>
          </a:p>
        </p:txBody>
      </p:sp>
    </p:spTree>
    <p:extLst>
      <p:ext uri="{BB962C8B-B14F-4D97-AF65-F5344CB8AC3E}">
        <p14:creationId xmlns:p14="http://schemas.microsoft.com/office/powerpoint/2010/main" val="602776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694049-FC97-DABA-54F0-885315F7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39917611-D1C3-4165-95BD-3FCDB3906425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F787A9B5-188C-EEAC-1204-3A94879FCF4F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8C6B3D82-58BE-8AAA-55F7-95EF94702729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0DE28BB-8EC1-98FA-BACF-BCF98EE14048}"/>
              </a:ext>
            </a:extLst>
          </p:cNvPr>
          <p:cNvSpPr txBox="1"/>
          <p:nvPr/>
        </p:nvSpPr>
        <p:spPr>
          <a:xfrm>
            <a:off x="11383168" y="648926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6C7A8D5-ADFA-BB4D-37D0-27AD6EC6CD1B}"/>
              </a:ext>
            </a:extLst>
          </p:cNvPr>
          <p:cNvSpPr txBox="1"/>
          <p:nvPr/>
        </p:nvSpPr>
        <p:spPr>
          <a:xfrm>
            <a:off x="723900" y="365720"/>
            <a:ext cx="5153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6000" b="1" dirty="0" err="1">
                <a:latin typeface="Aptos" panose="020B0004020202020204" pitchFamily="34" charset="0"/>
              </a:rPr>
              <a:t>Explainable</a:t>
            </a:r>
            <a:r>
              <a:rPr lang="it-IT" sz="6000" b="1" dirty="0">
                <a:latin typeface="Aptos" panose="020B0004020202020204" pitchFamily="34" charset="0"/>
              </a:rPr>
              <a:t> AI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7014BA3-D452-B989-4FD3-60B58A33A823}"/>
              </a:ext>
            </a:extLst>
          </p:cNvPr>
          <p:cNvSpPr txBox="1"/>
          <p:nvPr/>
        </p:nvSpPr>
        <p:spPr>
          <a:xfrm>
            <a:off x="439017" y="647309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>
                <a:solidFill>
                  <a:schemeClr val="bg1"/>
                </a:solidFill>
                <a:latin typeface="Aptos" panose="020B0004020202020204" pitchFamily="34" charset="0"/>
              </a:rPr>
              <a:t>EarlyCare</a:t>
            </a:r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 Gateway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03EF8C1-6D00-AE8B-2F8F-B4B0609B2619}"/>
              </a:ext>
            </a:extLst>
          </p:cNvPr>
          <p:cNvSpPr txBox="1"/>
          <p:nvPr/>
        </p:nvSpPr>
        <p:spPr>
          <a:xfrm>
            <a:off x="723900" y="1905000"/>
            <a:ext cx="10782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b="1" dirty="0">
                <a:latin typeface="Aptos" panose="020B0004020202020204" pitchFamily="34" charset="0"/>
              </a:rPr>
              <a:t>Metodi per ogni modello per ottenere testo/grafici di spiegazione</a:t>
            </a:r>
          </a:p>
        </p:txBody>
      </p:sp>
    </p:spTree>
    <p:extLst>
      <p:ext uri="{BB962C8B-B14F-4D97-AF65-F5344CB8AC3E}">
        <p14:creationId xmlns:p14="http://schemas.microsoft.com/office/powerpoint/2010/main" val="184179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7311FD-176A-901D-861C-EC4DC40D7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0F8B961-C8D8-E606-8AA3-29F063CC30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27" b="21155"/>
          <a:stretch>
            <a:fillRect/>
          </a:stretch>
        </p:blipFill>
        <p:spPr>
          <a:xfrm>
            <a:off x="457200" y="376926"/>
            <a:ext cx="6535282" cy="1107996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DDD781F5-F216-9124-430F-3B9126776A65}"/>
              </a:ext>
            </a:extLst>
          </p:cNvPr>
          <p:cNvGrpSpPr/>
          <p:nvPr/>
        </p:nvGrpSpPr>
        <p:grpSpPr>
          <a:xfrm>
            <a:off x="-7209" y="6455826"/>
            <a:ext cx="12211050" cy="403860"/>
            <a:chOff x="-7209" y="6455826"/>
            <a:chExt cx="12211050" cy="403860"/>
          </a:xfrm>
          <a:solidFill>
            <a:srgbClr val="009999"/>
          </a:solidFill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F63B901-51AE-78CB-F631-981299CD1254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12191619" y="0"/>
                  </a:moveTo>
                  <a:lnTo>
                    <a:pt x="0" y="0"/>
                  </a:lnTo>
                  <a:lnTo>
                    <a:pt x="0" y="384657"/>
                  </a:lnTo>
                  <a:lnTo>
                    <a:pt x="12191619" y="384657"/>
                  </a:lnTo>
                  <a:lnTo>
                    <a:pt x="12191619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9E4E8E9-DD3F-3780-3227-F2430A5C7725}"/>
                </a:ext>
              </a:extLst>
            </p:cNvPr>
            <p:cNvSpPr/>
            <p:nvPr/>
          </p:nvSpPr>
          <p:spPr>
            <a:xfrm>
              <a:off x="2315" y="6465351"/>
              <a:ext cx="12192000" cy="384810"/>
            </a:xfrm>
            <a:custGeom>
              <a:avLst/>
              <a:gdLst/>
              <a:ahLst/>
              <a:cxnLst/>
              <a:rect l="l" t="t" r="r" b="b"/>
              <a:pathLst>
                <a:path w="12192000" h="384809">
                  <a:moveTo>
                    <a:pt x="0" y="384657"/>
                  </a:moveTo>
                  <a:lnTo>
                    <a:pt x="12191619" y="384657"/>
                  </a:lnTo>
                  <a:lnTo>
                    <a:pt x="12191619" y="0"/>
                  </a:lnTo>
                  <a:lnTo>
                    <a:pt x="0" y="0"/>
                  </a:lnTo>
                  <a:lnTo>
                    <a:pt x="0" y="384657"/>
                  </a:lnTo>
                  <a:close/>
                </a:path>
              </a:pathLst>
            </a:custGeom>
            <a:grpFill/>
            <a:ln w="1905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791A2B1-996B-80C5-D595-6B97A0EB13CD}"/>
              </a:ext>
            </a:extLst>
          </p:cNvPr>
          <p:cNvSpPr txBox="1"/>
          <p:nvPr/>
        </p:nvSpPr>
        <p:spPr>
          <a:xfrm>
            <a:off x="107189" y="6470980"/>
            <a:ext cx="429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Software Architecture and Pattern Design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DCDCD88-2FF8-7091-A816-53E7950B0E19}"/>
              </a:ext>
            </a:extLst>
          </p:cNvPr>
          <p:cNvSpPr txBox="1"/>
          <p:nvPr/>
        </p:nvSpPr>
        <p:spPr>
          <a:xfrm>
            <a:off x="10389315" y="6480829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  <a:latin typeface="Aptos" panose="020B0004020202020204" pitchFamily="34" charset="0"/>
              </a:rPr>
              <a:t>A.A. 2025/2026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73C139E-A6CB-B15A-5287-7279220B73A3}"/>
              </a:ext>
            </a:extLst>
          </p:cNvPr>
          <p:cNvSpPr txBox="1"/>
          <p:nvPr/>
        </p:nvSpPr>
        <p:spPr>
          <a:xfrm>
            <a:off x="1932841" y="2819400"/>
            <a:ext cx="83263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6000" b="1" dirty="0">
                <a:latin typeface="Aptos" panose="020B0004020202020204" pitchFamily="34" charset="0"/>
              </a:rPr>
              <a:t>Grazie per l’attenzione!</a:t>
            </a:r>
          </a:p>
        </p:txBody>
      </p:sp>
      <p:pic>
        <p:nvPicPr>
          <p:cNvPr id="1028" name="Picture 4" descr="SisInfLab - Home - SisInfLab">
            <a:extLst>
              <a:ext uri="{FF2B5EF4-FFF2-40B4-BE49-F238E27FC236}">
                <a16:creationId xmlns:a16="http://schemas.microsoft.com/office/drawing/2014/main" id="{8C6A2BDE-3860-DD86-4EA6-022E14762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86160"/>
            <a:ext cx="2619166" cy="88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936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540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Aptos</vt:lpstr>
      <vt:lpstr>Arial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Giovanni Mignogna</dc:creator>
  <cp:lastModifiedBy>CARRIERO ROBERTO</cp:lastModifiedBy>
  <cp:revision>21</cp:revision>
  <dcterms:created xsi:type="dcterms:W3CDTF">2025-10-25T17:39:58Z</dcterms:created>
  <dcterms:modified xsi:type="dcterms:W3CDTF">2025-11-15T12:20:47Z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2025-10-06T00:00:00Z</vt:filetime>
  </property>
  <property fmtid="{D5CDD505-2E9C-101B-9397-08002B2CF9AE}" pid="3" name="Creator">
    <vt:lpwstr>Microsoft® PowerPoint® per Microsoft 365</vt:lpwstr>
  </property>
  <property fmtid="{D5CDD505-2E9C-101B-9397-08002B2CF9AE}" pid="4" name="LastSaved">
    <vt:filetime>2025-10-25T00:00:00Z</vt:filetime>
  </property>
  <property fmtid="{D5CDD505-2E9C-101B-9397-08002B2CF9AE}" pid="5" name="Producer">
    <vt:lpwstr>Microsoft® PowerPoint® per Microsoft 365</vt:lpwstr>
  </property>
</Properties>
</file>