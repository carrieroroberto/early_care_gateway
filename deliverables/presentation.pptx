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8" r:id="rId2"/>
    <p:sldId id="277" r:id="rId3"/>
    <p:sldId id="257" r:id="rId4"/>
    <p:sldId id="259" r:id="rId5"/>
    <p:sldId id="260" r:id="rId6"/>
    <p:sldId id="261" r:id="rId7"/>
    <p:sldId id="262" r:id="rId8"/>
    <p:sldId id="266" r:id="rId9"/>
    <p:sldId id="263" r:id="rId10"/>
    <p:sldId id="265" r:id="rId11"/>
    <p:sldId id="264" r:id="rId12"/>
    <p:sldId id="267" r:id="rId13"/>
    <p:sldId id="272" r:id="rId14"/>
    <p:sldId id="278" r:id="rId15"/>
    <p:sldId id="271" r:id="rId16"/>
    <p:sldId id="270" r:id="rId17"/>
    <p:sldId id="276" r:id="rId18"/>
    <p:sldId id="279" r:id="rId19"/>
    <p:sldId id="275" r:id="rId20"/>
    <p:sldId id="269" r:id="rId21"/>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99"/>
    <a:srgbClr val="008196"/>
    <a:srgbClr val="1B3C6A"/>
    <a:srgbClr val="1A3C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5FE53A-09A0-44D4-B929-E8069082C630}" v="40" dt="2026-01-18T20:17:51.29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592" autoAdjust="0"/>
  </p:normalViewPr>
  <p:slideViewPr>
    <p:cSldViewPr snapToGrid="0">
      <p:cViewPr varScale="1">
        <p:scale>
          <a:sx n="84" d="100"/>
          <a:sy n="84" d="100"/>
        </p:scale>
        <p:origin x="1596" y="60"/>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6604F21-9B18-4DE1-AB54-6E38A9691DB2}" type="datetimeFigureOut">
              <a:rPr lang="it-IT" smtClean="0"/>
              <a:t>19/01/2026</a:t>
            </a:fld>
            <a:endParaRPr lang="it-IT"/>
          </a:p>
        </p:txBody>
      </p:sp>
      <p:sp>
        <p:nvSpPr>
          <p:cNvPr id="4" name="Segnaposto immagin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8C9A3EF-1CD3-4928-B014-184E8B8B8430}" type="slidenum">
              <a:rPr lang="it-IT" smtClean="0"/>
              <a:t>‹N›</a:t>
            </a:fld>
            <a:endParaRPr lang="it-IT"/>
          </a:p>
        </p:txBody>
      </p:sp>
    </p:spTree>
    <p:extLst>
      <p:ext uri="{BB962C8B-B14F-4D97-AF65-F5344CB8AC3E}">
        <p14:creationId xmlns:p14="http://schemas.microsoft.com/office/powerpoint/2010/main" val="4022040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08C9A3EF-1CD3-4928-B014-184E8B8B8430}" type="slidenum">
              <a:rPr lang="it-IT" smtClean="0"/>
              <a:t>1</a:t>
            </a:fld>
            <a:endParaRPr lang="it-IT"/>
          </a:p>
        </p:txBody>
      </p:sp>
    </p:spTree>
    <p:extLst>
      <p:ext uri="{BB962C8B-B14F-4D97-AF65-F5344CB8AC3E}">
        <p14:creationId xmlns:p14="http://schemas.microsoft.com/office/powerpoint/2010/main" val="14714440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D401E-474E-7A71-DD06-2AA159CBE33D}"/>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403D271-B2A2-BF2F-517A-2C19B1B2769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3E5441C-37CF-3FC5-7C67-886B5A934293}"/>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FEA1CFF3-1E64-B477-5E76-32B4671E69EC}"/>
              </a:ext>
            </a:extLst>
          </p:cNvPr>
          <p:cNvSpPr>
            <a:spLocks noGrp="1"/>
          </p:cNvSpPr>
          <p:nvPr>
            <p:ph type="sldNum" sz="quarter" idx="5"/>
          </p:nvPr>
        </p:nvSpPr>
        <p:spPr/>
        <p:txBody>
          <a:bodyPr/>
          <a:lstStyle/>
          <a:p>
            <a:fld id="{08C9A3EF-1CD3-4928-B014-184E8B8B8430}" type="slidenum">
              <a:rPr lang="it-IT" smtClean="0"/>
              <a:t>2</a:t>
            </a:fld>
            <a:endParaRPr lang="it-IT"/>
          </a:p>
        </p:txBody>
      </p:sp>
    </p:spTree>
    <p:extLst>
      <p:ext uri="{BB962C8B-B14F-4D97-AF65-F5344CB8AC3E}">
        <p14:creationId xmlns:p14="http://schemas.microsoft.com/office/powerpoint/2010/main" val="23949325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Il problema alla base del progetto è l'attuale processo di triage, in quanto l’odierna analisi preliminare soffre di gravi inefficienze dovute alla carenza di personale, all'elevato afflusso di pazienti e a processi decisionali spesso lenti o ridondanti. Queste criticità si traducono in stress per il personale medico e in un potenziale deterioramento dell'esperienza del paziente.</a:t>
            </a:r>
          </a:p>
        </p:txBody>
      </p:sp>
      <p:sp>
        <p:nvSpPr>
          <p:cNvPr id="4" name="Segnaposto numero diapositiva 3"/>
          <p:cNvSpPr>
            <a:spLocks noGrp="1"/>
          </p:cNvSpPr>
          <p:nvPr>
            <p:ph type="sldNum" sz="quarter" idx="5"/>
          </p:nvPr>
        </p:nvSpPr>
        <p:spPr/>
        <p:txBody>
          <a:bodyPr/>
          <a:lstStyle/>
          <a:p>
            <a:fld id="{08C9A3EF-1CD3-4928-B014-184E8B8B8430}" type="slidenum">
              <a:rPr lang="it-IT" smtClean="0"/>
              <a:t>3</a:t>
            </a:fld>
            <a:endParaRPr lang="it-IT"/>
          </a:p>
        </p:txBody>
      </p:sp>
    </p:spTree>
    <p:extLst>
      <p:ext uri="{BB962C8B-B14F-4D97-AF65-F5344CB8AC3E}">
        <p14:creationId xmlns:p14="http://schemas.microsoft.com/office/powerpoint/2010/main" val="22390582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Si è, dunque, pensato di limitare il problema progettando una piattaforma di analisi intelligente dedicata esclusivamente ai medici. Il sistema fornisce diagnosi preliminari e supporto decisionale basato su AI spiegabile, </a:t>
            </a:r>
            <a:r>
              <a:rPr lang="it-IT" dirty="0" err="1"/>
              <a:t>poichè</a:t>
            </a:r>
            <a:r>
              <a:rPr lang="it-IT" dirty="0"/>
              <a:t> in ambiti critici come quello sanitario, è necessario non solo ottenere delle indicazioni sulle diagnosi, ma soprattutto comprendere le relazioni che hanno contribuito a tali risultati.</a:t>
            </a:r>
          </a:p>
          <a:p>
            <a:endParaRPr lang="it-IT" dirty="0"/>
          </a:p>
          <a:p>
            <a:r>
              <a:rPr lang="it-IT" dirty="0"/>
              <a:t>In particolare, le caratteristiche principali del sistema sviluppato sono:</a:t>
            </a:r>
          </a:p>
          <a:p>
            <a:endParaRPr lang="it-IT" dirty="0"/>
          </a:p>
          <a:p>
            <a:r>
              <a:rPr lang="it-IT" dirty="0"/>
              <a:t>La presenza di </a:t>
            </a:r>
            <a:r>
              <a:rPr lang="it-IT" dirty="0" err="1"/>
              <a:t>Explainable</a:t>
            </a:r>
            <a:r>
              <a:rPr lang="it-IT" dirty="0"/>
              <a:t> AI per l’analisi multimodale dei dati del paziente corredate da spiegazioni.</a:t>
            </a:r>
          </a:p>
          <a:p>
            <a:endParaRPr lang="it-IT" dirty="0"/>
          </a:p>
          <a:p>
            <a:r>
              <a:rPr lang="it-IT" dirty="0"/>
              <a:t>La gestione dell’architettura distribuita per permettere ai dottori e al personale sanitario di accedere alla piattaforma da remoto in maniera sicura e privata.</a:t>
            </a:r>
          </a:p>
          <a:p>
            <a:endParaRPr lang="it-IT" dirty="0"/>
          </a:p>
          <a:p>
            <a:r>
              <a:rPr lang="it-IT" dirty="0"/>
              <a:t>E la presenza di una dashboard clinica, che funga da interfaccia per la gestione delle analisi e la visualizzazione dei referti.</a:t>
            </a:r>
          </a:p>
        </p:txBody>
      </p:sp>
      <p:sp>
        <p:nvSpPr>
          <p:cNvPr id="4" name="Segnaposto numero diapositiva 3"/>
          <p:cNvSpPr>
            <a:spLocks noGrp="1"/>
          </p:cNvSpPr>
          <p:nvPr>
            <p:ph type="sldNum" sz="quarter" idx="5"/>
          </p:nvPr>
        </p:nvSpPr>
        <p:spPr/>
        <p:txBody>
          <a:bodyPr/>
          <a:lstStyle/>
          <a:p>
            <a:fld id="{08C9A3EF-1CD3-4928-B014-184E8B8B8430}" type="slidenum">
              <a:rPr lang="it-IT" smtClean="0"/>
              <a:t>4</a:t>
            </a:fld>
            <a:endParaRPr lang="it-IT"/>
          </a:p>
        </p:txBody>
      </p:sp>
    </p:spTree>
    <p:extLst>
      <p:ext uri="{BB962C8B-B14F-4D97-AF65-F5344CB8AC3E}">
        <p14:creationId xmlns:p14="http://schemas.microsoft.com/office/powerpoint/2010/main" val="25418430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Per la progettazione del sistema, si è partiti dalla definizione dei requisiti funzionali, ovvero dei requisiti tecnici.</a:t>
            </a:r>
          </a:p>
          <a:p>
            <a:endParaRPr lang="it-IT" dirty="0"/>
          </a:p>
          <a:p>
            <a:r>
              <a:rPr lang="it-IT" dirty="0"/>
              <a:t>Principalmente, è necessario gestire gli account dello staff medico, mediante autenticazione e autorizzazione nella piattaforma.</a:t>
            </a:r>
          </a:p>
          <a:p>
            <a:endParaRPr lang="it-IT" dirty="0"/>
          </a:p>
          <a:p>
            <a:r>
              <a:rPr lang="it-IT" dirty="0"/>
              <a:t>Inoltre, l’analisi AI spiegabile è fondamentale, in quanto parte centrale del progetto, e dunque, a fronte di dati in input di diverso formato deve restituire un referto che sia attendibile e interpretabile.</a:t>
            </a:r>
          </a:p>
          <a:p>
            <a:endParaRPr lang="it-IT" dirty="0"/>
          </a:p>
          <a:p>
            <a:r>
              <a:rPr lang="it-IT" dirty="0"/>
              <a:t>Infine, è importante mantenere memoria dei referti generati per effettuare ricerche successive, eventualmente filtrate per specifico paziente.</a:t>
            </a:r>
          </a:p>
          <a:p>
            <a:endParaRPr lang="it-IT" dirty="0"/>
          </a:p>
          <a:p>
            <a:r>
              <a:rPr lang="it-IT" dirty="0"/>
              <a:t>L’utilizzo della piattaforma è riservato esclusivamente al personale medico, per evitare autodiagnosi scorrette da parte di pazienti e utenti non autorizzati.</a:t>
            </a:r>
          </a:p>
        </p:txBody>
      </p:sp>
      <p:sp>
        <p:nvSpPr>
          <p:cNvPr id="4" name="Segnaposto numero diapositiva 3"/>
          <p:cNvSpPr>
            <a:spLocks noGrp="1"/>
          </p:cNvSpPr>
          <p:nvPr>
            <p:ph type="sldNum" sz="quarter" idx="5"/>
          </p:nvPr>
        </p:nvSpPr>
        <p:spPr/>
        <p:txBody>
          <a:bodyPr/>
          <a:lstStyle/>
          <a:p>
            <a:fld id="{08C9A3EF-1CD3-4928-B014-184E8B8B8430}" type="slidenum">
              <a:rPr lang="it-IT" smtClean="0"/>
              <a:t>5</a:t>
            </a:fld>
            <a:endParaRPr lang="it-IT"/>
          </a:p>
        </p:txBody>
      </p:sp>
    </p:spTree>
    <p:extLst>
      <p:ext uri="{BB962C8B-B14F-4D97-AF65-F5344CB8AC3E}">
        <p14:creationId xmlns:p14="http://schemas.microsoft.com/office/powerpoint/2010/main" val="30792866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Per quanto concerne i requisiti non funzionali, essi sono strettamente associati con quelli funzionali, per garantire che ogni caratteristica tecnica del sistema abbia solidità architetturale.</a:t>
            </a:r>
          </a:p>
          <a:p>
            <a:endParaRPr lang="it-IT" dirty="0"/>
          </a:p>
          <a:p>
            <a:r>
              <a:rPr lang="it-IT" dirty="0"/>
              <a:t>Nello specifico, è necessario garantire sicurezza e privacy mediante l’anonimizzazione dei dati sensibili dei pazienti, utilizzando algoritmo di </a:t>
            </a:r>
            <a:r>
              <a:rPr lang="it-IT" dirty="0" err="1"/>
              <a:t>hash</a:t>
            </a:r>
            <a:r>
              <a:rPr lang="it-IT" dirty="0"/>
              <a:t> SHA256, e l’autenticazione dei dottori in modalità </a:t>
            </a:r>
            <a:r>
              <a:rPr lang="it-IT" dirty="0" err="1"/>
              <a:t>stateless</a:t>
            </a:r>
            <a:r>
              <a:rPr lang="it-IT" dirty="0"/>
              <a:t> con JSON Web Token.</a:t>
            </a:r>
          </a:p>
          <a:p>
            <a:endParaRPr lang="it-IT" dirty="0"/>
          </a:p>
          <a:p>
            <a:r>
              <a:rPr lang="it-IT" dirty="0"/>
              <a:t>Inoltre, tracciabilità e audit con </a:t>
            </a:r>
            <a:r>
              <a:rPr lang="it-IT" dirty="0" err="1"/>
              <a:t>logging</a:t>
            </a:r>
            <a:r>
              <a:rPr lang="it-IT" dirty="0"/>
              <a:t> asincrono sono fondamentali in ambito sanitario, in cui deve essere possibile ripercorrere a ritroso le operazioni per individuare eventuali problemi.</a:t>
            </a:r>
          </a:p>
          <a:p>
            <a:endParaRPr lang="it-IT" dirty="0"/>
          </a:p>
          <a:p>
            <a:r>
              <a:rPr lang="it-IT" dirty="0"/>
              <a:t>I tempi di risposta configurabili permettono ai medici di adattare l’analisi alle loro esigenze, poiché a </a:t>
            </a:r>
            <a:r>
              <a:rPr lang="it-IT" dirty="0" err="1"/>
              <a:t>runtime</a:t>
            </a:r>
            <a:r>
              <a:rPr lang="it-IT" dirty="0"/>
              <a:t> è possibile scegliere il modello AI da utilizzare per la diagnosi, bilanciando il trade-off tra velocità e accuratezza del risultato.</a:t>
            </a:r>
          </a:p>
          <a:p>
            <a:endParaRPr lang="it-IT" dirty="0"/>
          </a:p>
          <a:p>
            <a:r>
              <a:rPr lang="it-IT" dirty="0"/>
              <a:t>Infine, data la presenza di un’architettura a microservizi containerizzati che comunicano attraverso </a:t>
            </a:r>
            <a:r>
              <a:rPr lang="it-IT" dirty="0" err="1"/>
              <a:t>RESTful</a:t>
            </a:r>
            <a:r>
              <a:rPr lang="it-IT" dirty="0"/>
              <a:t> API, è necessario che il sistema sia scalabile e </a:t>
            </a:r>
            <a:r>
              <a:rPr lang="it-IT" dirty="0" err="1"/>
              <a:t>manutenibile</a:t>
            </a:r>
            <a:r>
              <a:rPr lang="it-IT" dirty="0"/>
              <a:t> per integrazioni future e gestione del carico.</a:t>
            </a:r>
          </a:p>
        </p:txBody>
      </p:sp>
      <p:sp>
        <p:nvSpPr>
          <p:cNvPr id="4" name="Segnaposto numero diapositiva 3"/>
          <p:cNvSpPr>
            <a:spLocks noGrp="1"/>
          </p:cNvSpPr>
          <p:nvPr>
            <p:ph type="sldNum" sz="quarter" idx="5"/>
          </p:nvPr>
        </p:nvSpPr>
        <p:spPr/>
        <p:txBody>
          <a:bodyPr/>
          <a:lstStyle/>
          <a:p>
            <a:fld id="{08C9A3EF-1CD3-4928-B014-184E8B8B8430}" type="slidenum">
              <a:rPr lang="it-IT" smtClean="0"/>
              <a:t>6</a:t>
            </a:fld>
            <a:endParaRPr lang="it-IT"/>
          </a:p>
        </p:txBody>
      </p:sp>
    </p:spTree>
    <p:extLst>
      <p:ext uri="{BB962C8B-B14F-4D97-AF65-F5344CB8AC3E}">
        <p14:creationId xmlns:p14="http://schemas.microsoft.com/office/powerpoint/2010/main" val="2273809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L’architettura generale del sistema è presentata in figura, sottoforma di diagramma UML dei componenti.</a:t>
            </a:r>
          </a:p>
          <a:p>
            <a:r>
              <a:rPr lang="it-IT" dirty="0"/>
              <a:t>I componenti principali sono:</a:t>
            </a:r>
          </a:p>
          <a:p>
            <a:endParaRPr lang="it-IT" dirty="0"/>
          </a:p>
          <a:p>
            <a:r>
              <a:rPr lang="it-IT" dirty="0"/>
              <a:t>L’interfaccia utente, ovvero il punto di accesso al sistema da parte dell’utente.</a:t>
            </a:r>
          </a:p>
          <a:p>
            <a:endParaRPr lang="it-IT" dirty="0"/>
          </a:p>
          <a:p>
            <a:r>
              <a:rPr lang="it-IT" dirty="0"/>
              <a:t>Il Gateway, che rende trasparente all’utente la complessità del sistema.</a:t>
            </a:r>
          </a:p>
          <a:p>
            <a:endParaRPr lang="it-IT" dirty="0"/>
          </a:p>
          <a:p>
            <a:r>
              <a:rPr lang="it-IT" dirty="0"/>
              <a:t>L’Authentication Service, che gestisce gli accessi e salva i dati corrispondenti nel proprio database.</a:t>
            </a:r>
          </a:p>
          <a:p>
            <a:endParaRPr lang="it-IT" dirty="0"/>
          </a:p>
          <a:p>
            <a:r>
              <a:rPr lang="it-IT" dirty="0"/>
              <a:t>Il Data Processing Service, che opera sui dati grezzi </a:t>
            </a:r>
            <a:r>
              <a:rPr lang="it-IT" dirty="0" err="1"/>
              <a:t>affinchè</a:t>
            </a:r>
            <a:r>
              <a:rPr lang="it-IT" dirty="0"/>
              <a:t> abbiano valore per l’analisi successiva e li memorizza sul proprio database.</a:t>
            </a:r>
          </a:p>
          <a:p>
            <a:endParaRPr lang="it-IT" dirty="0"/>
          </a:p>
          <a:p>
            <a:r>
              <a:rPr lang="it-IT" dirty="0"/>
              <a:t>L’</a:t>
            </a:r>
            <a:r>
              <a:rPr lang="it-IT" dirty="0" err="1"/>
              <a:t>Explainable</a:t>
            </a:r>
            <a:r>
              <a:rPr lang="it-IT" dirty="0"/>
              <a:t> AI Service, che utilizza i dati processati dal servizio precedente per effettuare la diagnosi e salvare i referti nel suo database.</a:t>
            </a:r>
          </a:p>
          <a:p>
            <a:endParaRPr lang="it-IT" dirty="0"/>
          </a:p>
          <a:p>
            <a:r>
              <a:rPr lang="it-IT"/>
              <a:t>Infine </a:t>
            </a:r>
            <a:r>
              <a:rPr lang="it-IT" dirty="0"/>
              <a:t>l’Audit Service, che gestisce i log di tutto il sistema e la loro persistenza nel database specifico.</a:t>
            </a:r>
          </a:p>
        </p:txBody>
      </p:sp>
      <p:sp>
        <p:nvSpPr>
          <p:cNvPr id="4" name="Segnaposto numero diapositiva 3"/>
          <p:cNvSpPr>
            <a:spLocks noGrp="1"/>
          </p:cNvSpPr>
          <p:nvPr>
            <p:ph type="sldNum" sz="quarter" idx="5"/>
          </p:nvPr>
        </p:nvSpPr>
        <p:spPr/>
        <p:txBody>
          <a:bodyPr/>
          <a:lstStyle/>
          <a:p>
            <a:fld id="{08C9A3EF-1CD3-4928-B014-184E8B8B8430}" type="slidenum">
              <a:rPr lang="it-IT" smtClean="0"/>
              <a:t>7</a:t>
            </a:fld>
            <a:endParaRPr lang="it-IT"/>
          </a:p>
        </p:txBody>
      </p:sp>
    </p:spTree>
    <p:extLst>
      <p:ext uri="{BB962C8B-B14F-4D97-AF65-F5344CB8AC3E}">
        <p14:creationId xmlns:p14="http://schemas.microsoft.com/office/powerpoint/2010/main" val="3528427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Ognuno dei microservizi presentati in precedenza implementa almeno un design pattern.</a:t>
            </a:r>
          </a:p>
          <a:p>
            <a:r>
              <a:rPr lang="it-IT" dirty="0"/>
              <a:t>Nello specifico:</a:t>
            </a:r>
          </a:p>
          <a:p>
            <a:endParaRPr lang="it-IT" dirty="0"/>
          </a:p>
          <a:p>
            <a:r>
              <a:rPr lang="it-IT" dirty="0"/>
              <a:t>Il Gateway fa uso del pattern </a:t>
            </a:r>
            <a:r>
              <a:rPr lang="it-IT" dirty="0" err="1"/>
              <a:t>Facade</a:t>
            </a:r>
            <a:r>
              <a:rPr lang="it-IT" dirty="0"/>
              <a:t>, in quanto rappresenta l’unico punto di accesso dal </a:t>
            </a:r>
            <a:r>
              <a:rPr lang="it-IT" dirty="0" err="1"/>
              <a:t>frontend</a:t>
            </a:r>
            <a:r>
              <a:rPr lang="it-IT" dirty="0"/>
              <a:t> al </a:t>
            </a:r>
            <a:r>
              <a:rPr lang="it-IT" dirty="0" err="1"/>
              <a:t>backend</a:t>
            </a:r>
            <a:r>
              <a:rPr lang="it-IT" dirty="0"/>
              <a:t> e ne astrae la complessità.</a:t>
            </a:r>
          </a:p>
          <a:p>
            <a:endParaRPr lang="it-IT" dirty="0"/>
          </a:p>
          <a:p>
            <a:r>
              <a:rPr lang="it-IT" dirty="0"/>
              <a:t>L’Authentication Service utilizza il Repository pattern per l’accesso ai dati, </a:t>
            </a:r>
            <a:r>
              <a:rPr lang="it-IT" dirty="0" err="1"/>
              <a:t>affinchè</a:t>
            </a:r>
            <a:r>
              <a:rPr lang="it-IT" dirty="0"/>
              <a:t> il servizio sia indipendente e agnostico rispetto alla tecnologia di database sottostante e il pattern Observer come soggetto, poiché comunica i log all’Audit Service.</a:t>
            </a:r>
          </a:p>
          <a:p>
            <a:endParaRPr lang="it-IT" dirty="0"/>
          </a:p>
          <a:p>
            <a:r>
              <a:rPr lang="it-IT" dirty="0"/>
              <a:t>Il Data Processing Service implementa la Chain Of </a:t>
            </a:r>
            <a:r>
              <a:rPr lang="it-IT" dirty="0" err="1"/>
              <a:t>Responsibility</a:t>
            </a:r>
            <a:r>
              <a:rPr lang="it-IT" dirty="0"/>
              <a:t>, che permette di </a:t>
            </a:r>
            <a:r>
              <a:rPr lang="it-IT" dirty="0" err="1"/>
              <a:t>preprocessare</a:t>
            </a:r>
            <a:r>
              <a:rPr lang="it-IT" dirty="0"/>
              <a:t> i dati utilizzando una pipeline di diversi </a:t>
            </a:r>
            <a:r>
              <a:rPr lang="it-IT" dirty="0" err="1"/>
              <a:t>handler</a:t>
            </a:r>
            <a:r>
              <a:rPr lang="it-IT" dirty="0"/>
              <a:t>, il Repository Pattern per l’accesso ai dati e il pattern Observer come soggetto per i log.</a:t>
            </a:r>
          </a:p>
          <a:p>
            <a:endParaRPr lang="it-IT" dirty="0"/>
          </a:p>
          <a:p>
            <a:r>
              <a:rPr lang="it-IT" dirty="0"/>
              <a:t>L’</a:t>
            </a:r>
            <a:r>
              <a:rPr lang="it-IT" dirty="0" err="1"/>
              <a:t>Explainable</a:t>
            </a:r>
            <a:r>
              <a:rPr lang="it-IT" dirty="0"/>
              <a:t> AI Service impiega il pattern Strategy per gestire le diverse strategie di AI </a:t>
            </a:r>
            <a:r>
              <a:rPr lang="it-IT" dirty="0" err="1"/>
              <a:t>Swappable</a:t>
            </a:r>
            <a:r>
              <a:rPr lang="it-IT" dirty="0"/>
              <a:t>, a seconda del tipo di analisi richiesta e il Repository pattern per l’accesso ai dati.</a:t>
            </a:r>
          </a:p>
          <a:p>
            <a:endParaRPr lang="it-IT" dirty="0"/>
          </a:p>
          <a:p>
            <a:r>
              <a:rPr lang="it-IT" dirty="0"/>
              <a:t>E infine l’Audit Service fa uso del pattern Observer per gestire le richieste di log ricevute dai diversi soggetti e utilizza il Repository pattern per salvarli nel database.</a:t>
            </a:r>
          </a:p>
          <a:p>
            <a:endParaRPr lang="it-IT"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Lascio ora la parola al collega Luca Cianci, che proseguirà con la presentazione.</a:t>
            </a:r>
          </a:p>
        </p:txBody>
      </p:sp>
      <p:sp>
        <p:nvSpPr>
          <p:cNvPr id="4" name="Segnaposto numero diapositiva 3"/>
          <p:cNvSpPr>
            <a:spLocks noGrp="1"/>
          </p:cNvSpPr>
          <p:nvPr>
            <p:ph type="sldNum" sz="quarter" idx="5"/>
          </p:nvPr>
        </p:nvSpPr>
        <p:spPr/>
        <p:txBody>
          <a:bodyPr/>
          <a:lstStyle/>
          <a:p>
            <a:fld id="{08C9A3EF-1CD3-4928-B014-184E8B8B8430}" type="slidenum">
              <a:rPr lang="it-IT" smtClean="0"/>
              <a:t>8</a:t>
            </a:fld>
            <a:endParaRPr lang="it-IT"/>
          </a:p>
        </p:txBody>
      </p:sp>
    </p:spTree>
    <p:extLst>
      <p:ext uri="{BB962C8B-B14F-4D97-AF65-F5344CB8AC3E}">
        <p14:creationId xmlns:p14="http://schemas.microsoft.com/office/powerpoint/2010/main" val="23464298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0" dirty="0"/>
              <a:t>In questa slide si presentano le API pubbliche dell’</a:t>
            </a:r>
            <a:r>
              <a:rPr lang="it-IT" b="0" dirty="0" err="1"/>
              <a:t>EarlyCare</a:t>
            </a:r>
            <a:r>
              <a:rPr lang="it-IT" b="0" dirty="0"/>
              <a:t> Gateway.</a:t>
            </a:r>
          </a:p>
          <a:p>
            <a:br>
              <a:rPr lang="it-IT" b="0" dirty="0"/>
            </a:br>
            <a:r>
              <a:rPr lang="it-IT" b="0" dirty="0"/>
              <a:t>Questi endpoint rappresentano il punto di ingresso nel sistema e sono dedicati esclusivamente alla gestione degli utenti.</a:t>
            </a:r>
          </a:p>
          <a:p>
            <a:br>
              <a:rPr lang="it-IT" b="0" dirty="0"/>
            </a:br>
            <a:r>
              <a:rPr lang="it-IT" b="0" dirty="0"/>
              <a:t>In particolare, l’endpoint POST /</a:t>
            </a:r>
            <a:r>
              <a:rPr lang="it-IT" b="0" dirty="0" err="1"/>
              <a:t>register</a:t>
            </a:r>
            <a:r>
              <a:rPr lang="it-IT" b="0" dirty="0"/>
              <a:t> consente al personale medico di creare un account all’interno della piattaforma, inserendo le proprie credenziali.</a:t>
            </a:r>
          </a:p>
          <a:p>
            <a:br>
              <a:rPr lang="it-IT" b="0" dirty="0"/>
            </a:br>
            <a:r>
              <a:rPr lang="it-IT" b="0" dirty="0"/>
              <a:t>Una volta registrato, il medico può utilizzare POST /login, che autentica l’utente e restituisce un JWT token.</a:t>
            </a:r>
          </a:p>
          <a:p>
            <a:br>
              <a:rPr lang="it-IT" b="0" dirty="0"/>
            </a:br>
            <a:r>
              <a:rPr lang="it-IT" b="0" dirty="0"/>
              <a:t>Questo token è fondamentale perché viene utilizzato per autorizzare tutte le richieste successive verso gli endpoint protetti.</a:t>
            </a:r>
          </a:p>
          <a:p>
            <a:br>
              <a:rPr lang="it-IT" b="0" dirty="0"/>
            </a:br>
            <a:r>
              <a:rPr lang="it-IT" b="0" dirty="0"/>
              <a:t>In questo modo separiamo chiaramente la fase di accesso iniziale da tutte le operazioni cliniche vere e proprie.</a:t>
            </a:r>
          </a:p>
        </p:txBody>
      </p:sp>
      <p:sp>
        <p:nvSpPr>
          <p:cNvPr id="4" name="Segnaposto numero diapositiva 3"/>
          <p:cNvSpPr>
            <a:spLocks noGrp="1"/>
          </p:cNvSpPr>
          <p:nvPr>
            <p:ph type="sldNum" sz="quarter" idx="5"/>
          </p:nvPr>
        </p:nvSpPr>
        <p:spPr/>
        <p:txBody>
          <a:bodyPr/>
          <a:lstStyle/>
          <a:p>
            <a:fld id="{08C9A3EF-1CD3-4928-B014-184E8B8B8430}" type="slidenum">
              <a:rPr lang="it-IT" smtClean="0"/>
              <a:t>9</a:t>
            </a:fld>
            <a:endParaRPr lang="it-IT"/>
          </a:p>
        </p:txBody>
      </p:sp>
    </p:spTree>
    <p:extLst>
      <p:ext uri="{BB962C8B-B14F-4D97-AF65-F5344CB8AC3E}">
        <p14:creationId xmlns:p14="http://schemas.microsoft.com/office/powerpoint/2010/main" val="29920138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Qui invece vediamo gli </a:t>
            </a:r>
            <a:r>
              <a:rPr lang="it-IT" b="1" dirty="0"/>
              <a:t>endpoint protetti</a:t>
            </a:r>
            <a:r>
              <a:rPr lang="it-IT" dirty="0"/>
              <a:t>, cioè quelli accessibili solo dopo l’autenticazione.</a:t>
            </a:r>
          </a:p>
          <a:p>
            <a:pPr marL="0" marR="0" lvl="0" indent="0" algn="l" defTabSz="914400" rtl="0" eaLnBrk="1" fontAlgn="auto" latinLnBrk="0" hangingPunct="1">
              <a:lnSpc>
                <a:spcPct val="100000"/>
              </a:lnSpc>
              <a:spcBef>
                <a:spcPts val="0"/>
              </a:spcBef>
              <a:spcAft>
                <a:spcPts val="0"/>
              </a:spcAft>
              <a:buClrTx/>
              <a:buSzTx/>
              <a:buFontTx/>
              <a:buNone/>
              <a:tabLst/>
              <a:defRPr/>
            </a:pPr>
            <a:br>
              <a:rPr lang="it-IT" dirty="0"/>
            </a:br>
            <a:r>
              <a:rPr lang="it-IT" dirty="0"/>
              <a:t>L’endpoint principale è </a:t>
            </a:r>
            <a:r>
              <a:rPr lang="it-IT" b="1" dirty="0"/>
              <a:t>POST /</a:t>
            </a:r>
            <a:r>
              <a:rPr lang="it-IT" b="1" dirty="0" err="1"/>
              <a:t>analyse</a:t>
            </a:r>
            <a:r>
              <a:rPr lang="it-IT" dirty="0"/>
              <a:t>, che avvia l’intero processo di analisi: dalla gestione dei dati clinici fino all’esecuzione dei modelli di </a:t>
            </a:r>
            <a:r>
              <a:rPr lang="it-IT" dirty="0" err="1"/>
              <a:t>Explainable</a:t>
            </a:r>
            <a:r>
              <a:rPr lang="it-IT" dirty="0"/>
              <a:t> AI per ottenere una diagnosi.</a:t>
            </a:r>
          </a:p>
          <a:p>
            <a:pPr marL="0" marR="0" lvl="0" indent="0" algn="l" defTabSz="914400" rtl="0" eaLnBrk="1" fontAlgn="auto" latinLnBrk="0" hangingPunct="1">
              <a:lnSpc>
                <a:spcPct val="100000"/>
              </a:lnSpc>
              <a:spcBef>
                <a:spcPts val="0"/>
              </a:spcBef>
              <a:spcAft>
                <a:spcPts val="0"/>
              </a:spcAft>
              <a:buClrTx/>
              <a:buSzTx/>
              <a:buFontTx/>
              <a:buNone/>
              <a:tabLst/>
              <a:defRPr/>
            </a:pPr>
            <a:br>
              <a:rPr lang="it-IT" dirty="0"/>
            </a:br>
            <a:r>
              <a:rPr lang="it-IT" dirty="0"/>
              <a:t>Il secondo endpoint è </a:t>
            </a:r>
            <a:r>
              <a:rPr lang="it-IT" b="1" dirty="0"/>
              <a:t>GET /reports</a:t>
            </a:r>
            <a:r>
              <a:rPr lang="it-IT" dirty="0"/>
              <a:t>, che permette ai medici di consultare tutti i report generati in precedenza oppure di filtrarli per uno specifico paziente.</a:t>
            </a:r>
          </a:p>
          <a:p>
            <a:pPr marL="0" marR="0" lvl="0" indent="0" algn="l" defTabSz="914400" rtl="0" eaLnBrk="1" fontAlgn="auto" latinLnBrk="0" hangingPunct="1">
              <a:lnSpc>
                <a:spcPct val="100000"/>
              </a:lnSpc>
              <a:spcBef>
                <a:spcPts val="0"/>
              </a:spcBef>
              <a:spcAft>
                <a:spcPts val="0"/>
              </a:spcAft>
              <a:buClrTx/>
              <a:buSzTx/>
              <a:buFontTx/>
              <a:buNone/>
              <a:tabLst/>
              <a:defRPr/>
            </a:pPr>
            <a:br>
              <a:rPr lang="it-IT" dirty="0"/>
            </a:br>
            <a:r>
              <a:rPr lang="it-IT" dirty="0"/>
              <a:t>Questa separazione consente di mantenere elevata la sicurezza, assicurando che solo personale autorizzato possa accedere a informazioni sensibili e risultati clinici.</a:t>
            </a:r>
          </a:p>
        </p:txBody>
      </p:sp>
      <p:sp>
        <p:nvSpPr>
          <p:cNvPr id="4" name="Segnaposto numero diapositiva 3"/>
          <p:cNvSpPr>
            <a:spLocks noGrp="1"/>
          </p:cNvSpPr>
          <p:nvPr>
            <p:ph type="sldNum" sz="quarter" idx="5"/>
          </p:nvPr>
        </p:nvSpPr>
        <p:spPr/>
        <p:txBody>
          <a:bodyPr/>
          <a:lstStyle/>
          <a:p>
            <a:fld id="{08C9A3EF-1CD3-4928-B014-184E8B8B8430}" type="slidenum">
              <a:rPr lang="it-IT" smtClean="0"/>
              <a:t>10</a:t>
            </a:fld>
            <a:endParaRPr lang="it-IT"/>
          </a:p>
        </p:txBody>
      </p:sp>
    </p:spTree>
    <p:extLst>
      <p:ext uri="{BB962C8B-B14F-4D97-AF65-F5344CB8AC3E}">
        <p14:creationId xmlns:p14="http://schemas.microsoft.com/office/powerpoint/2010/main" val="13422266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b="0" dirty="0"/>
              <a:t>Nella presente slide è rappresentato il Use Case </a:t>
            </a:r>
            <a:r>
              <a:rPr lang="it-IT" b="0" dirty="0" err="1"/>
              <a:t>Diagram</a:t>
            </a:r>
            <a:r>
              <a:rPr lang="it-IT" b="0" dirty="0"/>
              <a:t> del sistema.</a:t>
            </a:r>
          </a:p>
          <a:p>
            <a:pPr marL="0" marR="0" lvl="0" indent="0" algn="l" defTabSz="914400" rtl="0" eaLnBrk="1" fontAlgn="auto" latinLnBrk="0" hangingPunct="1">
              <a:lnSpc>
                <a:spcPct val="100000"/>
              </a:lnSpc>
              <a:spcBef>
                <a:spcPts val="0"/>
              </a:spcBef>
              <a:spcAft>
                <a:spcPts val="0"/>
              </a:spcAft>
              <a:buClrTx/>
              <a:buSzTx/>
              <a:buFontTx/>
              <a:buNone/>
              <a:tabLst/>
              <a:defRPr/>
            </a:pPr>
            <a:br>
              <a:rPr lang="it-IT" b="0" dirty="0"/>
            </a:br>
            <a:r>
              <a:rPr lang="it-IT" b="0" dirty="0"/>
              <a:t>L’attore principale è il Doctor, che interagisce con il </a:t>
            </a:r>
            <a:r>
              <a:rPr lang="it-IT" b="0" dirty="0" err="1"/>
              <a:t>Microservices</a:t>
            </a:r>
            <a:r>
              <a:rPr lang="it-IT" b="0" dirty="0"/>
              <a:t> System.</a:t>
            </a:r>
          </a:p>
          <a:p>
            <a:pPr marL="0" marR="0" lvl="0" indent="0" algn="l" defTabSz="914400" rtl="0" eaLnBrk="1" fontAlgn="auto" latinLnBrk="0" hangingPunct="1">
              <a:lnSpc>
                <a:spcPct val="100000"/>
              </a:lnSpc>
              <a:spcBef>
                <a:spcPts val="0"/>
              </a:spcBef>
              <a:spcAft>
                <a:spcPts val="0"/>
              </a:spcAft>
              <a:buClrTx/>
              <a:buSzTx/>
              <a:buFontTx/>
              <a:buNone/>
              <a:tabLst/>
              <a:defRPr/>
            </a:pPr>
            <a:br>
              <a:rPr lang="it-IT" b="0" dirty="0"/>
            </a:br>
            <a:r>
              <a:rPr lang="it-IT" b="0" dirty="0"/>
              <a:t>Dal punto di vista del medico, l’interazione è molto semplice: dopo l’autenticazione, può inserire i dati clinici del paziente, avviare un’analisi e successivamente consultare i report generati.</a:t>
            </a:r>
          </a:p>
          <a:p>
            <a:pPr marL="0" marR="0" lvl="0" indent="0" algn="l" defTabSz="914400" rtl="0" eaLnBrk="1" fontAlgn="auto" latinLnBrk="0" hangingPunct="1">
              <a:lnSpc>
                <a:spcPct val="100000"/>
              </a:lnSpc>
              <a:spcBef>
                <a:spcPts val="0"/>
              </a:spcBef>
              <a:spcAft>
                <a:spcPts val="0"/>
              </a:spcAft>
              <a:buClrTx/>
              <a:buSzTx/>
              <a:buFontTx/>
              <a:buNone/>
              <a:tabLst/>
              <a:defRPr/>
            </a:pPr>
            <a:br>
              <a:rPr lang="it-IT" b="0" dirty="0"/>
            </a:br>
            <a:r>
              <a:rPr lang="it-IT" b="0" dirty="0"/>
              <a:t>Tutta la complessità legata all’elaborazione dei dati, alla comunicazione tra microservizi e all’esecuzione dei modelli di intelligenza artificiale rimane completamente nascosta all’utente.</a:t>
            </a:r>
          </a:p>
          <a:p>
            <a:pPr marL="0" marR="0" lvl="0" indent="0" algn="l" defTabSz="914400" rtl="0" eaLnBrk="1" fontAlgn="auto" latinLnBrk="0" hangingPunct="1">
              <a:lnSpc>
                <a:spcPct val="100000"/>
              </a:lnSpc>
              <a:spcBef>
                <a:spcPts val="0"/>
              </a:spcBef>
              <a:spcAft>
                <a:spcPts val="0"/>
              </a:spcAft>
              <a:buClrTx/>
              <a:buSzTx/>
              <a:buFontTx/>
              <a:buNone/>
              <a:tabLst/>
              <a:defRPr/>
            </a:pPr>
            <a:br>
              <a:rPr lang="it-IT" b="0" dirty="0"/>
            </a:br>
            <a:r>
              <a:rPr lang="it-IT" b="0" dirty="0"/>
              <a:t>Questo rende il sistema facile da usare pur mantenendo un’architettura interna complessa e scalabile</a:t>
            </a:r>
          </a:p>
        </p:txBody>
      </p:sp>
      <p:sp>
        <p:nvSpPr>
          <p:cNvPr id="4" name="Segnaposto numero diapositiva 3"/>
          <p:cNvSpPr>
            <a:spLocks noGrp="1"/>
          </p:cNvSpPr>
          <p:nvPr>
            <p:ph type="sldNum" sz="quarter" idx="5"/>
          </p:nvPr>
        </p:nvSpPr>
        <p:spPr/>
        <p:txBody>
          <a:bodyPr/>
          <a:lstStyle/>
          <a:p>
            <a:fld id="{08C9A3EF-1CD3-4928-B014-184E8B8B8430}" type="slidenum">
              <a:rPr lang="it-IT" smtClean="0"/>
              <a:t>11</a:t>
            </a:fld>
            <a:endParaRPr lang="it-IT"/>
          </a:p>
        </p:txBody>
      </p:sp>
    </p:spTree>
    <p:extLst>
      <p:ext uri="{BB962C8B-B14F-4D97-AF65-F5344CB8AC3E}">
        <p14:creationId xmlns:p14="http://schemas.microsoft.com/office/powerpoint/2010/main" val="33195423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0" dirty="0"/>
              <a:t>Per quanto concerne il </a:t>
            </a:r>
            <a:r>
              <a:rPr lang="it-IT" b="0" dirty="0" err="1"/>
              <a:t>technology</a:t>
            </a:r>
            <a:r>
              <a:rPr lang="it-IT" b="0" dirty="0"/>
              <a:t> </a:t>
            </a:r>
            <a:r>
              <a:rPr lang="it-IT" b="0" dirty="0" err="1"/>
              <a:t>stack</a:t>
            </a:r>
            <a:r>
              <a:rPr lang="it-IT" b="0" dirty="0"/>
              <a:t> utilizzato nello sviluppo del progetto si può partire dalla metodologia.</a:t>
            </a:r>
          </a:p>
          <a:p>
            <a:endParaRPr lang="it-IT" b="0" dirty="0"/>
          </a:p>
          <a:p>
            <a:r>
              <a:rPr lang="it-IT" b="0" dirty="0"/>
              <a:t>È stato scelto Agile con </a:t>
            </a:r>
            <a:r>
              <a:rPr lang="it-IT" b="0" dirty="0" err="1"/>
              <a:t>Kanban</a:t>
            </a:r>
            <a:r>
              <a:rPr lang="it-IT" b="0" dirty="0"/>
              <a:t>, che ci ha permesso di lavorare in modo flessibile, adattandoci alle priorità e ai cambiamenti durante lo sviluppo.</a:t>
            </a:r>
          </a:p>
          <a:p>
            <a:endParaRPr lang="it-IT" b="0" dirty="0"/>
          </a:p>
          <a:p>
            <a:r>
              <a:rPr lang="it-IT" b="0" dirty="0"/>
              <a:t>Le </a:t>
            </a:r>
            <a:r>
              <a:rPr lang="it-IT" b="0" dirty="0" err="1"/>
              <a:t>Gantt</a:t>
            </a:r>
            <a:r>
              <a:rPr lang="it-IT" b="0" dirty="0"/>
              <a:t> charts ci hanno aiutato a pianificare e visualizzare le attività in maniera chiara, mentre Microsoft Teams ha garantito una comunicazione costante tra i membri del team, fondamentale quando si lavora su un sistema complesso come questo.</a:t>
            </a:r>
          </a:p>
          <a:p>
            <a:endParaRPr lang="it-IT" b="0" dirty="0"/>
          </a:p>
          <a:p>
            <a:r>
              <a:rPr lang="it-IT" b="0" dirty="0"/>
              <a:t>Per il </a:t>
            </a:r>
            <a:r>
              <a:rPr lang="it-IT" b="0" dirty="0" err="1"/>
              <a:t>version</a:t>
            </a:r>
            <a:r>
              <a:rPr lang="it-IT" b="0" dirty="0"/>
              <a:t> control, abbiamo usato </a:t>
            </a:r>
            <a:r>
              <a:rPr lang="it-IT" b="0" dirty="0" err="1"/>
              <a:t>Git</a:t>
            </a:r>
            <a:r>
              <a:rPr lang="it-IT" b="0" dirty="0"/>
              <a:t> e GitHub, strumenti indispensabili per la collaborazione e per mantenere il codice sempre aggiornato e integrato.</a:t>
            </a:r>
          </a:p>
          <a:p>
            <a:endParaRPr lang="it-IT" b="0" dirty="0"/>
          </a:p>
          <a:p>
            <a:r>
              <a:rPr lang="it-IT" b="0" dirty="0"/>
              <a:t>Dal punto di vista architetturale, abbiamo scelto una architettura a microservizi containerizzati con Docker e Docker Compose. Questo ci ha permesso di isolare i diversi servizi, facilitando la manutenzione, il testing e la scalabilità.</a:t>
            </a:r>
          </a:p>
          <a:p>
            <a:endParaRPr lang="it-IT" b="0" dirty="0"/>
          </a:p>
          <a:p>
            <a:r>
              <a:rPr lang="it-IT" b="0" dirty="0"/>
              <a:t>Infine, il </a:t>
            </a:r>
            <a:r>
              <a:rPr lang="it-IT" b="0" dirty="0" err="1"/>
              <a:t>backend</a:t>
            </a:r>
            <a:r>
              <a:rPr lang="it-IT" b="0" dirty="0"/>
              <a:t> è stato sviluppato in Python con </a:t>
            </a:r>
            <a:r>
              <a:rPr lang="it-IT" b="0" dirty="0" err="1"/>
              <a:t>FastAPI</a:t>
            </a:r>
            <a:r>
              <a:rPr lang="it-IT" b="0" dirty="0"/>
              <a:t>, per la sua velocità e facilità nella gestione delle API, mentre </a:t>
            </a:r>
            <a:r>
              <a:rPr lang="it-IT" b="0" dirty="0" err="1"/>
              <a:t>PostgreSQL</a:t>
            </a:r>
            <a:r>
              <a:rPr lang="it-IT" b="0" dirty="0"/>
              <a:t> è il database scelto per la sua affidabilità e capacità di gestire dati strutturati complessi. Il </a:t>
            </a:r>
            <a:r>
              <a:rPr lang="it-IT" b="0" dirty="0" err="1"/>
              <a:t>frontend</a:t>
            </a:r>
            <a:r>
              <a:rPr lang="it-IT" b="0" dirty="0"/>
              <a:t> è realizzato in React, che ci consente di creare interfacce interattive e reattive, integrando facilmente componenti e aggiornamenti dinamici.</a:t>
            </a:r>
          </a:p>
          <a:p>
            <a:endParaRPr lang="it-IT" b="0" dirty="0"/>
          </a:p>
          <a:p>
            <a:r>
              <a:rPr lang="it-IT" b="0" dirty="0"/>
              <a:t>In sostanza, questo </a:t>
            </a:r>
            <a:r>
              <a:rPr lang="it-IT" b="0" dirty="0" err="1"/>
              <a:t>stack</a:t>
            </a:r>
            <a:r>
              <a:rPr lang="it-IT" b="0" dirty="0"/>
              <a:t> tecnologico ci permette di avere un sistema robusto, modulare e facilmente </a:t>
            </a:r>
            <a:r>
              <a:rPr lang="it-IT" b="0" dirty="0" err="1"/>
              <a:t>manutenibile</a:t>
            </a:r>
            <a:r>
              <a:rPr lang="it-IT" b="0" dirty="0"/>
              <a:t>, pronto per evoluzioni future.</a:t>
            </a:r>
          </a:p>
        </p:txBody>
      </p:sp>
      <p:sp>
        <p:nvSpPr>
          <p:cNvPr id="4" name="Segnaposto numero diapositiva 3"/>
          <p:cNvSpPr>
            <a:spLocks noGrp="1"/>
          </p:cNvSpPr>
          <p:nvPr>
            <p:ph type="sldNum" sz="quarter" idx="5"/>
          </p:nvPr>
        </p:nvSpPr>
        <p:spPr/>
        <p:txBody>
          <a:bodyPr/>
          <a:lstStyle/>
          <a:p>
            <a:fld id="{08C9A3EF-1CD3-4928-B014-184E8B8B8430}" type="slidenum">
              <a:rPr lang="it-IT" smtClean="0"/>
              <a:t>12</a:t>
            </a:fld>
            <a:endParaRPr lang="it-IT"/>
          </a:p>
        </p:txBody>
      </p:sp>
    </p:spTree>
    <p:extLst>
      <p:ext uri="{BB962C8B-B14F-4D97-AF65-F5344CB8AC3E}">
        <p14:creationId xmlns:p14="http://schemas.microsoft.com/office/powerpoint/2010/main" val="27338915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0" dirty="0"/>
              <a:t>In questa slide viene approfondita la User Interface e i componenti principali sviluppati in React, stilizzati con </a:t>
            </a:r>
            <a:r>
              <a:rPr lang="it-IT" b="0" dirty="0" err="1"/>
              <a:t>Tailwind</a:t>
            </a:r>
            <a:r>
              <a:rPr lang="it-IT" b="0" dirty="0"/>
              <a:t> CSS.</a:t>
            </a:r>
          </a:p>
          <a:p>
            <a:endParaRPr lang="it-IT" b="0" dirty="0"/>
          </a:p>
          <a:p>
            <a:r>
              <a:rPr lang="it-IT" b="0" dirty="0"/>
              <a:t>La Authentication è la prima interfaccia che il medico incontra: consente di creare un account o accedere se già registrato. L’obiettivo è rendere questa fase il più semplice e veloce possibile, senza errori, perché l’accesso al sistema è il primo passo per qualsiasi interazione.</a:t>
            </a:r>
          </a:p>
          <a:p>
            <a:endParaRPr lang="it-IT" b="0" dirty="0"/>
          </a:p>
          <a:p>
            <a:r>
              <a:rPr lang="it-IT" b="0" dirty="0"/>
              <a:t>Il </a:t>
            </a:r>
            <a:r>
              <a:rPr lang="it-IT" b="0" dirty="0" err="1"/>
              <a:t>Diagnostic</a:t>
            </a:r>
            <a:r>
              <a:rPr lang="it-IT" b="0" dirty="0"/>
              <a:t> Hub rappresenta il cuore dell’applicazione. Qui il medico inserisce i dati clinici e il codice fiscale del paziente. Il sistema, in maniera trasparente, invia questi dati ai microservizi, avvia l’analisi e restituisce i risultati in modo chiaro. L’interfaccia è pensata per guidare l’utente passo </a:t>
            </a:r>
            <a:r>
              <a:rPr lang="it-IT" b="0" dirty="0" err="1"/>
              <a:t>passo</a:t>
            </a:r>
            <a:r>
              <a:rPr lang="it-IT" b="0" dirty="0"/>
              <a:t>, riducendo il rischio di errori o confusione.</a:t>
            </a:r>
          </a:p>
          <a:p>
            <a:endParaRPr lang="it-IT" b="0" dirty="0"/>
          </a:p>
          <a:p>
            <a:r>
              <a:rPr lang="it-IT" b="0" dirty="0"/>
              <a:t>La Reports History permette invece di consultare i report già generati. È possibile filtrare per paziente, data o tipo di analisi, così da avere sempre sotto controllo lo storico delle diagnosi. Questa funzionalità è fondamentale per monitorare l’andamento clinico e facilitare il lavoro dei medici.</a:t>
            </a:r>
          </a:p>
          <a:p>
            <a:endParaRPr lang="it-IT" b="0" dirty="0"/>
          </a:p>
          <a:p>
            <a:r>
              <a:rPr lang="it-IT" b="0" dirty="0"/>
              <a:t>In generale, la UI è progettata per essere intuitiva, modulare e scalabile, in modo che anche medici non esperti di tecnologia possano utilizzare il sistema in maniera efficace e rapida. Ogni componente React è pensato per essere riutilizzabile e facilmente aggiornabile in caso di nuove funzionalità.</a:t>
            </a:r>
          </a:p>
        </p:txBody>
      </p:sp>
      <p:sp>
        <p:nvSpPr>
          <p:cNvPr id="4" name="Segnaposto numero diapositiva 3"/>
          <p:cNvSpPr>
            <a:spLocks noGrp="1"/>
          </p:cNvSpPr>
          <p:nvPr>
            <p:ph type="sldNum" sz="quarter" idx="5"/>
          </p:nvPr>
        </p:nvSpPr>
        <p:spPr/>
        <p:txBody>
          <a:bodyPr/>
          <a:lstStyle/>
          <a:p>
            <a:fld id="{08C9A3EF-1CD3-4928-B014-184E8B8B8430}" type="slidenum">
              <a:rPr lang="it-IT" smtClean="0"/>
              <a:t>13</a:t>
            </a:fld>
            <a:endParaRPr lang="it-IT"/>
          </a:p>
        </p:txBody>
      </p:sp>
    </p:spTree>
    <p:extLst>
      <p:ext uri="{BB962C8B-B14F-4D97-AF65-F5344CB8AC3E}">
        <p14:creationId xmlns:p14="http://schemas.microsoft.com/office/powerpoint/2010/main" val="33866569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0" dirty="0"/>
              <a:t>Questa slide descrive la struttura dei database utilizzati dal sistema.</a:t>
            </a:r>
          </a:p>
          <a:p>
            <a:br>
              <a:rPr lang="it-IT" b="0" dirty="0"/>
            </a:br>
            <a:r>
              <a:rPr lang="it-IT" b="0" dirty="0"/>
              <a:t>La tabella doctors contiene le informazioni dei medici, comprese le credenziali memorizzate in forma cifrata.</a:t>
            </a:r>
          </a:p>
          <a:p>
            <a:br>
              <a:rPr lang="it-IT" b="0" dirty="0"/>
            </a:br>
            <a:r>
              <a:rPr lang="it-IT" b="0" dirty="0"/>
              <a:t>La tabella </a:t>
            </a:r>
            <a:r>
              <a:rPr lang="it-IT" b="0" dirty="0" err="1"/>
              <a:t>processed_data</a:t>
            </a:r>
            <a:r>
              <a:rPr lang="it-IT" b="0" dirty="0"/>
              <a:t> memorizza i dati che vengono elaborati dai servizi di analisi.</a:t>
            </a:r>
          </a:p>
          <a:p>
            <a:br>
              <a:rPr lang="it-IT" b="0" dirty="0"/>
            </a:br>
            <a:r>
              <a:rPr lang="it-IT" b="0" dirty="0"/>
              <a:t>I reports rappresentano il risultato finale delle analisi e collegano medico, paziente anonimizzato e strategia AI utilizzata.</a:t>
            </a:r>
          </a:p>
          <a:p>
            <a:br>
              <a:rPr lang="it-IT" b="0" dirty="0"/>
            </a:br>
            <a:r>
              <a:rPr lang="it-IT" b="0" dirty="0"/>
              <a:t>Infine, la tabella logs registra tutti gli eventi del sistema, supportando audit, monitoraggio e tracciabilità.</a:t>
            </a:r>
          </a:p>
          <a:p>
            <a:br>
              <a:rPr lang="it-IT" b="0" dirty="0"/>
            </a:br>
            <a:r>
              <a:rPr lang="it-IT" b="0" dirty="0"/>
              <a:t>Questa struttura garantisce sicurezza, organizzazione e scalabilità.</a:t>
            </a:r>
          </a:p>
        </p:txBody>
      </p:sp>
      <p:sp>
        <p:nvSpPr>
          <p:cNvPr id="4" name="Segnaposto numero diapositiva 3"/>
          <p:cNvSpPr>
            <a:spLocks noGrp="1"/>
          </p:cNvSpPr>
          <p:nvPr>
            <p:ph type="sldNum" sz="quarter" idx="5"/>
          </p:nvPr>
        </p:nvSpPr>
        <p:spPr/>
        <p:txBody>
          <a:bodyPr/>
          <a:lstStyle/>
          <a:p>
            <a:fld id="{08C9A3EF-1CD3-4928-B014-184E8B8B8430}" type="slidenum">
              <a:rPr lang="it-IT" smtClean="0"/>
              <a:t>14</a:t>
            </a:fld>
            <a:endParaRPr lang="it-IT"/>
          </a:p>
        </p:txBody>
      </p:sp>
    </p:spTree>
    <p:extLst>
      <p:ext uri="{BB962C8B-B14F-4D97-AF65-F5344CB8AC3E}">
        <p14:creationId xmlns:p14="http://schemas.microsoft.com/office/powerpoint/2010/main" val="36927463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0" dirty="0"/>
              <a:t>Con le Strategies entriamo nel cuore della componente di AI del gateway. L’architettura scelta adotta un approccio multimodale per coprire uno spettro maggiore di dati clinici. </a:t>
            </a:r>
            <a:r>
              <a:rPr lang="it-IT" sz="1200" b="0" i="0" u="none" strike="noStrike" kern="1200" dirty="0">
                <a:solidFill>
                  <a:schemeClr val="tx1"/>
                </a:solidFill>
                <a:effectLst/>
                <a:latin typeface="+mn-lt"/>
                <a:ea typeface="+mn-ea"/>
                <a:cs typeface="+mn-cs"/>
              </a:rPr>
              <a:t>Il vero valore aggiunto risiede nel processo di Fine-Tuning che abbiamo applicato per specializzare i modelli generalisti.</a:t>
            </a:r>
          </a:p>
          <a:p>
            <a:endParaRPr lang="it-IT" sz="1200" b="0" i="0" u="none" strike="noStrike" kern="1200" dirty="0">
              <a:solidFill>
                <a:schemeClr val="tx1"/>
              </a:solidFill>
              <a:effectLst/>
              <a:latin typeface="+mn-lt"/>
              <a:ea typeface="+mn-ea"/>
              <a:cs typeface="+mn-cs"/>
            </a:endParaRPr>
          </a:p>
          <a:p>
            <a:endParaRPr lang="it-IT" sz="1200" b="0" i="0" u="none" strike="noStrike"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it-IT" b="0" dirty="0"/>
              <a:t>Per i dati </a:t>
            </a:r>
            <a:r>
              <a:rPr lang="it-IT" sz="1200" b="0" i="0" u="none" strike="noStrike" kern="1200" dirty="0">
                <a:solidFill>
                  <a:schemeClr val="tx1"/>
                </a:solidFill>
                <a:effectLst/>
                <a:latin typeface="+mn-lt"/>
                <a:ea typeface="+mn-ea"/>
                <a:cs typeface="+mn-cs"/>
              </a:rPr>
              <a:t>testuali non strutturati, abbiamo implementato </a:t>
            </a:r>
            <a:r>
              <a:rPr lang="it-IT" sz="1200" b="0" i="0" u="none" strike="noStrike" kern="1200" dirty="0" err="1">
                <a:solidFill>
                  <a:schemeClr val="tx1"/>
                </a:solidFill>
                <a:effectLst/>
                <a:latin typeface="+mn-lt"/>
                <a:ea typeface="+mn-ea"/>
                <a:cs typeface="+mn-cs"/>
              </a:rPr>
              <a:t>ClinicalBERT</a:t>
            </a:r>
            <a:r>
              <a:rPr lang="it-IT" sz="1200" b="0" i="0" u="none" strike="noStrike" kern="1200" dirty="0">
                <a:solidFill>
                  <a:schemeClr val="tx1"/>
                </a:solidFill>
                <a:effectLst/>
                <a:latin typeface="+mn-lt"/>
                <a:ea typeface="+mn-ea"/>
                <a:cs typeface="+mn-cs"/>
              </a:rPr>
              <a:t>, effettuando un fine-tuning su dataset di note cliniche e report di dimissione ospedaliera. Questo ha permesso al modello di superare i limiti del linguaggio comune, apprendendo la semantica del linguaggio medico.</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it-IT" sz="1200" b="0" i="0" u="none" strike="noStrike"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it-IT" sz="1200" b="0" i="0" u="none" strike="noStrike" kern="1200" dirty="0">
                <a:solidFill>
                  <a:schemeClr val="tx1"/>
                </a:solidFill>
                <a:effectLst/>
                <a:latin typeface="+mn-lt"/>
                <a:ea typeface="+mn-ea"/>
                <a:cs typeface="+mn-cs"/>
              </a:rPr>
              <a:t>Per la parte di imaging, utilizziamo </a:t>
            </a:r>
            <a:r>
              <a:rPr lang="it-IT" sz="1200" b="0" i="0" u="none" strike="noStrike" kern="1200" dirty="0" err="1">
                <a:solidFill>
                  <a:schemeClr val="tx1"/>
                </a:solidFill>
                <a:effectLst/>
                <a:latin typeface="+mn-lt"/>
                <a:ea typeface="+mn-ea"/>
                <a:cs typeface="+mn-cs"/>
              </a:rPr>
              <a:t>CheXNet</a:t>
            </a:r>
            <a:r>
              <a:rPr lang="it-IT" sz="1200" b="0" i="0" u="none" strike="noStrike" kern="1200" dirty="0">
                <a:solidFill>
                  <a:schemeClr val="tx1"/>
                </a:solidFill>
                <a:effectLst/>
                <a:latin typeface="+mn-lt"/>
                <a:ea typeface="+mn-ea"/>
                <a:cs typeface="+mn-cs"/>
              </a:rPr>
              <a:t> , addestrato sul dataset </a:t>
            </a:r>
            <a:r>
              <a:rPr lang="it-IT" sz="1200" b="0" i="1" u="none" strike="noStrike" kern="1200" dirty="0" err="1">
                <a:solidFill>
                  <a:schemeClr val="tx1"/>
                </a:solidFill>
                <a:effectLst/>
                <a:latin typeface="+mn-lt"/>
                <a:ea typeface="+mn-ea"/>
                <a:cs typeface="+mn-cs"/>
              </a:rPr>
              <a:t>ChestX</a:t>
            </a:r>
            <a:r>
              <a:rPr lang="it-IT" sz="1200" b="0" i="1" u="none" strike="noStrike" kern="1200" dirty="0">
                <a:solidFill>
                  <a:schemeClr val="tx1"/>
                </a:solidFill>
                <a:effectLst/>
                <a:latin typeface="+mn-lt"/>
                <a:ea typeface="+mn-ea"/>
                <a:cs typeface="+mn-cs"/>
              </a:rPr>
              <a:t>-ray </a:t>
            </a:r>
            <a:r>
              <a:rPr lang="it-IT" sz="1200" b="0" i="0" u="none" strike="noStrike" kern="1200" dirty="0">
                <a:solidFill>
                  <a:schemeClr val="tx1"/>
                </a:solidFill>
                <a:effectLst/>
                <a:latin typeface="+mn-lt"/>
                <a:ea typeface="+mn-ea"/>
                <a:cs typeface="+mn-cs"/>
              </a:rPr>
              <a:t>(uno dei più grandi al mondo), ottimizzando una rete </a:t>
            </a:r>
            <a:r>
              <a:rPr lang="it-IT" sz="1200" b="0" i="0" u="none" strike="noStrike" kern="1200" dirty="0" err="1">
                <a:solidFill>
                  <a:schemeClr val="tx1"/>
                </a:solidFill>
                <a:effectLst/>
                <a:latin typeface="+mn-lt"/>
                <a:ea typeface="+mn-ea"/>
                <a:cs typeface="+mn-cs"/>
              </a:rPr>
              <a:t>DenseNet</a:t>
            </a:r>
            <a:r>
              <a:rPr lang="it-IT" sz="1200" b="0" i="0" u="none" strike="noStrike" kern="1200" dirty="0">
                <a:solidFill>
                  <a:schemeClr val="tx1"/>
                </a:solidFill>
                <a:effectLst/>
                <a:latin typeface="+mn-lt"/>
                <a:ea typeface="+mn-ea"/>
                <a:cs typeface="+mn-cs"/>
              </a:rPr>
              <a:t> a 121 strati per rilevare 14 diverse patologie polmonari. Per le lesioni cutanee, abbiamo utilizzato </a:t>
            </a:r>
            <a:r>
              <a:rPr lang="it-IT" sz="1200" b="0" i="0" u="none" strike="noStrike" kern="1200" dirty="0" err="1">
                <a:solidFill>
                  <a:schemeClr val="tx1"/>
                </a:solidFill>
                <a:effectLst/>
                <a:latin typeface="+mn-lt"/>
                <a:ea typeface="+mn-ea"/>
                <a:cs typeface="+mn-cs"/>
              </a:rPr>
              <a:t>EfficientNet</a:t>
            </a:r>
            <a:r>
              <a:rPr lang="it-IT" sz="1200" b="0" i="0" u="none" strike="noStrike" kern="1200" dirty="0">
                <a:solidFill>
                  <a:schemeClr val="tx1"/>
                </a:solidFill>
                <a:effectLst/>
                <a:latin typeface="+mn-lt"/>
                <a:ea typeface="+mn-ea"/>
                <a:cs typeface="+mn-cs"/>
              </a:rPr>
              <a:t>, effettuando il fine-tuning sul dataset </a:t>
            </a:r>
            <a:r>
              <a:rPr lang="it-IT" sz="1200" b="0" i="1" u="none" strike="noStrike" kern="1200" dirty="0">
                <a:solidFill>
                  <a:schemeClr val="tx1"/>
                </a:solidFill>
                <a:effectLst/>
                <a:latin typeface="+mn-lt"/>
                <a:ea typeface="+mn-ea"/>
                <a:cs typeface="+mn-cs"/>
              </a:rPr>
              <a:t>HAM10000.</a:t>
            </a:r>
            <a:endParaRPr lang="it-IT" sz="1200" b="0" i="0" u="none" strike="noStrike"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it-IT" sz="1200" b="0" i="0" u="none" strike="noStrike" kern="1200" dirty="0">
              <a:solidFill>
                <a:schemeClr val="tx1"/>
              </a:solidFill>
              <a:effectLst/>
              <a:latin typeface="+mn-lt"/>
              <a:ea typeface="+mn-ea"/>
              <a:cs typeface="+mn-cs"/>
            </a:endParaRPr>
          </a:p>
          <a:p>
            <a:pPr marL="171450" indent="-171450">
              <a:buFontTx/>
              <a:buChar char="-"/>
            </a:pPr>
            <a:r>
              <a:rPr lang="it-IT" sz="1200" b="0" i="0" u="none" strike="noStrike" kern="1200" dirty="0">
                <a:solidFill>
                  <a:schemeClr val="tx1"/>
                </a:solidFill>
                <a:effectLst/>
                <a:latin typeface="+mn-lt"/>
                <a:ea typeface="+mn-ea"/>
                <a:cs typeface="+mn-cs"/>
              </a:rPr>
              <a:t>I dati numerici strutturati, sono invece elaborati tramite </a:t>
            </a:r>
            <a:r>
              <a:rPr lang="it-IT" sz="1200" b="0" i="0" u="none" strike="noStrike" kern="1200" dirty="0" err="1">
                <a:solidFill>
                  <a:schemeClr val="tx1"/>
                </a:solidFill>
                <a:effectLst/>
                <a:latin typeface="+mn-lt"/>
                <a:ea typeface="+mn-ea"/>
                <a:cs typeface="+mn-cs"/>
              </a:rPr>
              <a:t>XGBoost</a:t>
            </a:r>
            <a:r>
              <a:rPr lang="it-IT" sz="1200" b="0" i="0" u="none" strike="noStrike" kern="1200" dirty="0">
                <a:solidFill>
                  <a:schemeClr val="tx1"/>
                </a:solidFill>
                <a:effectLst/>
                <a:latin typeface="+mn-lt"/>
                <a:ea typeface="+mn-ea"/>
                <a:cs typeface="+mn-cs"/>
              </a:rPr>
              <a:t>, dove l'addestramento si è focalizzato sulla prevenzione del rischio cardiovascolare. Abbiamo addestrato il classificatore utilizzando il </a:t>
            </a:r>
            <a:r>
              <a:rPr lang="it-IT" sz="1200" b="0" i="1" u="none" strike="noStrike" kern="1200" dirty="0">
                <a:solidFill>
                  <a:schemeClr val="tx1"/>
                </a:solidFill>
                <a:effectLst/>
                <a:latin typeface="+mn-lt"/>
                <a:ea typeface="+mn-ea"/>
                <a:cs typeface="+mn-cs"/>
              </a:rPr>
              <a:t>Cleveland Heart </a:t>
            </a:r>
            <a:r>
              <a:rPr lang="it-IT" sz="1200" b="0" i="1" u="none" strike="noStrike" kern="1200" dirty="0" err="1">
                <a:solidFill>
                  <a:schemeClr val="tx1"/>
                </a:solidFill>
                <a:effectLst/>
                <a:latin typeface="+mn-lt"/>
                <a:ea typeface="+mn-ea"/>
                <a:cs typeface="+mn-cs"/>
              </a:rPr>
              <a:t>Disease</a:t>
            </a:r>
            <a:r>
              <a:rPr lang="it-IT" sz="1200" b="0" i="1" u="none" strike="noStrike" kern="1200" dirty="0">
                <a:solidFill>
                  <a:schemeClr val="tx1"/>
                </a:solidFill>
                <a:effectLst/>
                <a:latin typeface="+mn-lt"/>
                <a:ea typeface="+mn-ea"/>
                <a:cs typeface="+mn-cs"/>
              </a:rPr>
              <a:t> dataset</a:t>
            </a:r>
            <a:r>
              <a:rPr lang="it-IT" sz="1200" b="0" i="0" u="none" strike="noStrike" kern="1200" dirty="0">
                <a:solidFill>
                  <a:schemeClr val="tx1"/>
                </a:solidFill>
                <a:effectLst/>
                <a:latin typeface="+mn-lt"/>
                <a:ea typeface="+mn-ea"/>
                <a:cs typeface="+mn-cs"/>
              </a:rPr>
              <a:t>. Il modello è stato ottimizzato per gestire i parametri vitali (pressione, colesterolo, età) e fornire una probabilità di rischio accurata.</a:t>
            </a:r>
          </a:p>
          <a:p>
            <a:pPr marL="171450" indent="-171450">
              <a:buFontTx/>
              <a:buChar char="-"/>
            </a:pPr>
            <a:endParaRPr lang="it-IT" sz="1200" b="0" i="0" u="none" strike="noStrike"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it-IT" sz="1200" b="0" i="0" u="none" strike="noStrike" kern="1200" dirty="0">
                <a:solidFill>
                  <a:schemeClr val="tx1"/>
                </a:solidFill>
                <a:effectLst/>
                <a:latin typeface="+mn-lt"/>
                <a:ea typeface="+mn-ea"/>
                <a:cs typeface="+mn-cs"/>
              </a:rPr>
              <a:t>Per i segnali ECG abbiamo istruito l'API di Gemini tramite </a:t>
            </a:r>
            <a:r>
              <a:rPr lang="it-IT" sz="1200" b="0" i="0" u="none" strike="noStrike" kern="1200" dirty="0" err="1">
                <a:solidFill>
                  <a:schemeClr val="tx1"/>
                </a:solidFill>
                <a:effectLst/>
                <a:latin typeface="+mn-lt"/>
                <a:ea typeface="+mn-ea"/>
                <a:cs typeface="+mn-cs"/>
              </a:rPr>
              <a:t>Few</a:t>
            </a:r>
            <a:r>
              <a:rPr lang="it-IT" sz="1200" b="0" i="0" u="none" strike="noStrike" kern="1200" dirty="0">
                <a:solidFill>
                  <a:schemeClr val="tx1"/>
                </a:solidFill>
                <a:effectLst/>
                <a:latin typeface="+mn-lt"/>
                <a:ea typeface="+mn-ea"/>
                <a:cs typeface="+mn-cs"/>
              </a:rPr>
              <a:t>-Shot Learning, il modello analizza il tracciato per determinare lo stato di salute del paziente, identificando eventuali anomalie ritmiche o morfologiche.</a:t>
            </a:r>
            <a:endParaRPr lang="it-IT" b="0" dirty="0"/>
          </a:p>
        </p:txBody>
      </p:sp>
      <p:sp>
        <p:nvSpPr>
          <p:cNvPr id="4" name="Segnaposto numero diapositiva 3"/>
          <p:cNvSpPr>
            <a:spLocks noGrp="1"/>
          </p:cNvSpPr>
          <p:nvPr>
            <p:ph type="sldNum" sz="quarter" idx="5"/>
          </p:nvPr>
        </p:nvSpPr>
        <p:spPr/>
        <p:txBody>
          <a:bodyPr/>
          <a:lstStyle/>
          <a:p>
            <a:fld id="{08C9A3EF-1CD3-4928-B014-184E8B8B8430}" type="slidenum">
              <a:rPr lang="it-IT" smtClean="0"/>
              <a:t>15</a:t>
            </a:fld>
            <a:endParaRPr lang="it-IT"/>
          </a:p>
        </p:txBody>
      </p:sp>
    </p:spTree>
    <p:extLst>
      <p:ext uri="{BB962C8B-B14F-4D97-AF65-F5344CB8AC3E}">
        <p14:creationId xmlns:p14="http://schemas.microsoft.com/office/powerpoint/2010/main" val="18941911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0" dirty="0"/>
              <a:t>Un aspetto importante nel settore medicale è la trasparenza, siccome un medico non può accettare un responso dato da una ’black box’ ed è per questo motivo che  sono state integrate tecniche di XAI. </a:t>
            </a:r>
          </a:p>
          <a:p>
            <a:endParaRPr lang="it-IT" b="0" dirty="0"/>
          </a:p>
          <a:p>
            <a:pPr marL="171450" indent="-171450">
              <a:buFontTx/>
              <a:buChar char="-"/>
            </a:pPr>
            <a:r>
              <a:rPr lang="it-IT" sz="1200" b="0" i="0" u="none" strike="noStrike" kern="1200" dirty="0">
                <a:solidFill>
                  <a:schemeClr val="tx1"/>
                </a:solidFill>
                <a:effectLst/>
                <a:latin typeface="+mn-lt"/>
                <a:ea typeface="+mn-ea"/>
                <a:cs typeface="+mn-cs"/>
              </a:rPr>
              <a:t>Per i dati testuali e i segnali, sfruttiamo le capacità di ragionamento di Gemini, che fornisce spiegazioni testuali logiche a supporto del triage, rendendo l'intero processo di analisi sicuro.</a:t>
            </a:r>
            <a:endParaRPr lang="it-IT" b="0" dirty="0"/>
          </a:p>
          <a:p>
            <a:r>
              <a:rPr lang="it-IT" sz="1200" b="0" i="0" u="none" strike="noStrike" kern="1200" dirty="0">
                <a:solidFill>
                  <a:schemeClr val="tx1"/>
                </a:solidFill>
                <a:effectLst/>
                <a:latin typeface="+mn-lt"/>
                <a:ea typeface="+mn-ea"/>
                <a:cs typeface="+mn-cs"/>
              </a:rPr>
              <a:t> </a:t>
            </a:r>
          </a:p>
          <a:p>
            <a:pPr marL="171450" indent="-171450">
              <a:buFontTx/>
              <a:buChar char="-"/>
            </a:pPr>
            <a:r>
              <a:rPr lang="it-IT" sz="1200" b="0" i="0" u="none" strike="noStrike" kern="1200" dirty="0">
                <a:solidFill>
                  <a:schemeClr val="tx1"/>
                </a:solidFill>
                <a:effectLst/>
                <a:latin typeface="+mn-lt"/>
                <a:ea typeface="+mn-ea"/>
                <a:cs typeface="+mn-cs"/>
              </a:rPr>
              <a:t>Per i modelli di computer vision (CNN), utilizziamo Grad-CAM, che identifica quali pixel dell'immagine hanno attivato maggiormente i neuroni responsabili della classificazione. Il risultato è una mappa di calore che sovrapponiamo alla radiografia o alla lesione cutanea, permettendo al medico di verificare visivamente se il modello si sta concentrando sulla patologia corretta.</a:t>
            </a:r>
          </a:p>
          <a:p>
            <a:pPr marL="171450" indent="-171450">
              <a:buFontTx/>
              <a:buChar char="-"/>
            </a:pPr>
            <a:endParaRPr lang="it-IT" sz="1200" b="0" i="0" u="none" strike="noStrike" kern="1200" dirty="0">
              <a:solidFill>
                <a:schemeClr val="tx1"/>
              </a:solidFill>
              <a:effectLst/>
              <a:latin typeface="+mn-lt"/>
              <a:ea typeface="+mn-ea"/>
              <a:cs typeface="+mn-cs"/>
            </a:endParaRPr>
          </a:p>
          <a:p>
            <a:pPr marL="171450" indent="-171450">
              <a:buFontTx/>
              <a:buChar char="-"/>
            </a:pPr>
            <a:r>
              <a:rPr lang="it-IT" sz="1200" b="0" i="0" u="none" strike="noStrike" kern="1200" dirty="0">
                <a:solidFill>
                  <a:schemeClr val="tx1"/>
                </a:solidFill>
                <a:effectLst/>
                <a:latin typeface="+mn-lt"/>
                <a:ea typeface="+mn-ea"/>
                <a:cs typeface="+mn-cs"/>
              </a:rPr>
              <a:t>Per i dati strutturati analizzati da </a:t>
            </a:r>
            <a:r>
              <a:rPr lang="it-IT" sz="1200" b="0" i="0" u="none" strike="noStrike" kern="1200" dirty="0" err="1">
                <a:solidFill>
                  <a:schemeClr val="tx1"/>
                </a:solidFill>
                <a:effectLst/>
                <a:latin typeface="+mn-lt"/>
                <a:ea typeface="+mn-ea"/>
                <a:cs typeface="+mn-cs"/>
              </a:rPr>
              <a:t>XGBoost</a:t>
            </a:r>
            <a:r>
              <a:rPr lang="it-IT" sz="1200" b="0" i="0" u="none" strike="noStrike" kern="1200" dirty="0">
                <a:solidFill>
                  <a:schemeClr val="tx1"/>
                </a:solidFill>
                <a:effectLst/>
                <a:latin typeface="+mn-lt"/>
                <a:ea typeface="+mn-ea"/>
                <a:cs typeface="+mn-cs"/>
              </a:rPr>
              <a:t>, utilizziamo i valori SHAP, che permettono di quantificare l'impatto di ogni singolo parametro clinico sul risultato finale.</a:t>
            </a:r>
          </a:p>
        </p:txBody>
      </p:sp>
      <p:sp>
        <p:nvSpPr>
          <p:cNvPr id="4" name="Segnaposto numero diapositiva 3"/>
          <p:cNvSpPr>
            <a:spLocks noGrp="1"/>
          </p:cNvSpPr>
          <p:nvPr>
            <p:ph type="sldNum" sz="quarter" idx="5"/>
          </p:nvPr>
        </p:nvSpPr>
        <p:spPr/>
        <p:txBody>
          <a:bodyPr/>
          <a:lstStyle/>
          <a:p>
            <a:fld id="{08C9A3EF-1CD3-4928-B014-184E8B8B8430}" type="slidenum">
              <a:rPr lang="it-IT" smtClean="0"/>
              <a:t>16</a:t>
            </a:fld>
            <a:endParaRPr lang="it-IT"/>
          </a:p>
        </p:txBody>
      </p:sp>
    </p:spTree>
    <p:extLst>
      <p:ext uri="{BB962C8B-B14F-4D97-AF65-F5344CB8AC3E}">
        <p14:creationId xmlns:p14="http://schemas.microsoft.com/office/powerpoint/2010/main" val="21007131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0" dirty="0"/>
              <a:t>I risultati ottenuti dal punto di vista architetturale riguardano la stabilità dei microservizi, garantita tramite una </a:t>
            </a:r>
            <a:r>
              <a:rPr lang="it-IT" sz="1200" b="0" i="0" u="none" strike="noStrike" kern="1200" dirty="0" err="1">
                <a:solidFill>
                  <a:schemeClr val="tx1"/>
                </a:solidFill>
                <a:effectLst/>
                <a:latin typeface="+mn-lt"/>
                <a:ea typeface="+mn-ea"/>
                <a:cs typeface="+mn-cs"/>
              </a:rPr>
              <a:t>una</a:t>
            </a:r>
            <a:r>
              <a:rPr lang="it-IT" sz="1200" b="0" i="0" u="none" strike="noStrike" kern="1200" dirty="0">
                <a:solidFill>
                  <a:schemeClr val="tx1"/>
                </a:solidFill>
                <a:effectLst/>
                <a:latin typeface="+mn-lt"/>
                <a:ea typeface="+mn-ea"/>
                <a:cs typeface="+mn-cs"/>
              </a:rPr>
              <a:t> pipeline di testing automatizzato con </a:t>
            </a:r>
            <a:r>
              <a:rPr lang="it-IT" sz="1200" b="0" i="0" u="none" strike="noStrike" kern="1200" dirty="0" err="1">
                <a:solidFill>
                  <a:schemeClr val="tx1"/>
                </a:solidFill>
                <a:effectLst/>
                <a:latin typeface="+mn-lt"/>
                <a:ea typeface="+mn-ea"/>
                <a:cs typeface="+mn-cs"/>
              </a:rPr>
              <a:t>pytest</a:t>
            </a:r>
            <a:r>
              <a:rPr lang="it-IT" sz="1200" b="0" i="0" u="none" strike="noStrike" kern="1200" dirty="0">
                <a:solidFill>
                  <a:schemeClr val="tx1"/>
                </a:solidFill>
                <a:effectLst/>
                <a:latin typeface="+mn-lt"/>
                <a:ea typeface="+mn-ea"/>
                <a:cs typeface="+mn-cs"/>
              </a:rPr>
              <a:t>, che verifica l'integrità delle API e lo scambio dati tra i container. </a:t>
            </a:r>
          </a:p>
          <a:p>
            <a:endParaRPr lang="it-IT" sz="1200" b="0" i="0" u="none" strike="noStrike" kern="1200" dirty="0">
              <a:solidFill>
                <a:schemeClr val="tx1"/>
              </a:solidFill>
              <a:effectLst/>
              <a:latin typeface="+mn-lt"/>
              <a:ea typeface="+mn-ea"/>
              <a:cs typeface="+mn-cs"/>
            </a:endParaRPr>
          </a:p>
          <a:p>
            <a:r>
              <a:rPr lang="it-IT" sz="1200" b="0" i="0" u="none" strike="noStrike" kern="1200" dirty="0">
                <a:solidFill>
                  <a:schemeClr val="tx1"/>
                </a:solidFill>
                <a:effectLst/>
                <a:latin typeface="+mn-lt"/>
                <a:ea typeface="+mn-ea"/>
                <a:cs typeface="+mn-cs"/>
              </a:rPr>
              <a:t>Per quanto riguarda le metriche dei modelli AI i dati sono piuttosto promettenti perché </a:t>
            </a:r>
            <a:r>
              <a:rPr lang="it-IT" sz="1200" b="0" i="0" u="none" strike="noStrike" kern="1200" dirty="0" err="1">
                <a:solidFill>
                  <a:schemeClr val="tx1"/>
                </a:solidFill>
                <a:effectLst/>
                <a:latin typeface="+mn-lt"/>
                <a:ea typeface="+mn-ea"/>
                <a:cs typeface="+mn-cs"/>
              </a:rPr>
              <a:t>ClinicalBERT</a:t>
            </a:r>
            <a:r>
              <a:rPr lang="it-IT" sz="1200" b="0" i="0" u="none" strike="noStrike" kern="1200" dirty="0">
                <a:solidFill>
                  <a:schemeClr val="tx1"/>
                </a:solidFill>
                <a:effectLst/>
                <a:latin typeface="+mn-lt"/>
                <a:ea typeface="+mn-ea"/>
                <a:cs typeface="+mn-cs"/>
              </a:rPr>
              <a:t> ed </a:t>
            </a:r>
            <a:r>
              <a:rPr lang="it-IT" sz="1200" b="0" i="0" u="none" strike="noStrike" kern="1200" dirty="0" err="1">
                <a:solidFill>
                  <a:schemeClr val="tx1"/>
                </a:solidFill>
                <a:effectLst/>
                <a:latin typeface="+mn-lt"/>
                <a:ea typeface="+mn-ea"/>
                <a:cs typeface="+mn-cs"/>
              </a:rPr>
              <a:t>EfficientNet</a:t>
            </a:r>
            <a:r>
              <a:rPr lang="it-IT" sz="1200" b="0" i="0" u="none" strike="noStrike" kern="1200" dirty="0">
                <a:solidFill>
                  <a:schemeClr val="tx1"/>
                </a:solidFill>
                <a:effectLst/>
                <a:latin typeface="+mn-lt"/>
                <a:ea typeface="+mn-ea"/>
                <a:cs typeface="+mn-cs"/>
              </a:rPr>
              <a:t> hanno raggiunto un'accuratezza dell'88%. Il modello </a:t>
            </a:r>
            <a:r>
              <a:rPr lang="it-IT" sz="1200" b="0" i="0" u="none" strike="noStrike" kern="1200" dirty="0" err="1">
                <a:solidFill>
                  <a:schemeClr val="tx1"/>
                </a:solidFill>
                <a:effectLst/>
                <a:latin typeface="+mn-lt"/>
                <a:ea typeface="+mn-ea"/>
                <a:cs typeface="+mn-cs"/>
              </a:rPr>
              <a:t>CheXNet</a:t>
            </a:r>
            <a:r>
              <a:rPr lang="it-IT" sz="1200" b="0" i="0" u="none" strike="noStrike" kern="1200" dirty="0">
                <a:solidFill>
                  <a:schemeClr val="tx1"/>
                </a:solidFill>
                <a:effectLst/>
                <a:latin typeface="+mn-lt"/>
                <a:ea typeface="+mn-ea"/>
                <a:cs typeface="+mn-cs"/>
              </a:rPr>
              <a:t> presenta un Mean AUC di 0.84, dimostrando un'ottima capacità di discriminazione nelle patologie polmonari, mentre </a:t>
            </a:r>
            <a:r>
              <a:rPr lang="it-IT" sz="1200" b="0" i="0" u="none" strike="noStrike" kern="1200" dirty="0" err="1">
                <a:solidFill>
                  <a:schemeClr val="tx1"/>
                </a:solidFill>
                <a:effectLst/>
                <a:latin typeface="+mn-lt"/>
                <a:ea typeface="+mn-ea"/>
                <a:cs typeface="+mn-cs"/>
              </a:rPr>
              <a:t>XGBoost</a:t>
            </a:r>
            <a:r>
              <a:rPr lang="it-IT" sz="1200" b="0" i="0" u="none" strike="noStrike" kern="1200" dirty="0">
                <a:solidFill>
                  <a:schemeClr val="tx1"/>
                </a:solidFill>
                <a:effectLst/>
                <a:latin typeface="+mn-lt"/>
                <a:ea typeface="+mn-ea"/>
                <a:cs typeface="+mn-cs"/>
              </a:rPr>
              <a:t> mantiene una precisione dell'82.1% sui dati strutturati. Questi numeri confermano la solidità del sistema in uno scenario di triage reale.</a:t>
            </a:r>
            <a:endParaRPr lang="it-IT" b="0" dirty="0"/>
          </a:p>
        </p:txBody>
      </p:sp>
      <p:sp>
        <p:nvSpPr>
          <p:cNvPr id="4" name="Segnaposto numero diapositiva 3"/>
          <p:cNvSpPr>
            <a:spLocks noGrp="1"/>
          </p:cNvSpPr>
          <p:nvPr>
            <p:ph type="sldNum" sz="quarter" idx="5"/>
          </p:nvPr>
        </p:nvSpPr>
        <p:spPr/>
        <p:txBody>
          <a:bodyPr/>
          <a:lstStyle/>
          <a:p>
            <a:fld id="{08C9A3EF-1CD3-4928-B014-184E8B8B8430}" type="slidenum">
              <a:rPr lang="it-IT" smtClean="0"/>
              <a:t>17</a:t>
            </a:fld>
            <a:endParaRPr lang="it-IT"/>
          </a:p>
        </p:txBody>
      </p:sp>
    </p:spTree>
    <p:extLst>
      <p:ext uri="{BB962C8B-B14F-4D97-AF65-F5344CB8AC3E}">
        <p14:creationId xmlns:p14="http://schemas.microsoft.com/office/powerpoint/2010/main" val="20552940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b="0" dirty="0"/>
              <a:t>Per quanto riguarda gli sviluppi futuri: </a:t>
            </a:r>
          </a:p>
          <a:p>
            <a:pPr marL="171450" indent="-171450">
              <a:buFontTx/>
              <a:buChar char="-"/>
            </a:pPr>
            <a:r>
              <a:rPr lang="it-IT" b="0" dirty="0"/>
              <a:t>Il primo obiettivo </a:t>
            </a:r>
            <a:r>
              <a:rPr lang="it-IT" sz="1200" b="0" i="0" u="none" strike="noStrike" kern="1200" dirty="0">
                <a:solidFill>
                  <a:schemeClr val="tx1"/>
                </a:solidFill>
                <a:effectLst/>
                <a:latin typeface="+mn-lt"/>
                <a:ea typeface="+mn-ea"/>
                <a:cs typeface="+mn-cs"/>
              </a:rPr>
              <a:t>è l'interoperabilità clinica, integrando i protocolli HL7/FHIR per dialogare direttamente con i sistemi informativi ospedalieri (HIS).</a:t>
            </a:r>
          </a:p>
          <a:p>
            <a:pPr marL="171450" indent="-171450">
              <a:buFontTx/>
              <a:buChar char="-"/>
            </a:pPr>
            <a:endParaRPr lang="it-IT" sz="1200" b="0" i="0" u="none" strike="noStrike" kern="1200" dirty="0">
              <a:solidFill>
                <a:schemeClr val="tx1"/>
              </a:solidFill>
              <a:effectLst/>
              <a:latin typeface="+mn-lt"/>
              <a:ea typeface="+mn-ea"/>
              <a:cs typeface="+mn-cs"/>
            </a:endParaRPr>
          </a:p>
          <a:p>
            <a:pPr marL="171450" indent="-171450">
              <a:buFontTx/>
              <a:buChar char="-"/>
            </a:pPr>
            <a:r>
              <a:rPr lang="it-IT" sz="1200" b="0" i="0" u="none" strike="noStrike" kern="1200" dirty="0">
                <a:solidFill>
                  <a:schemeClr val="tx1"/>
                </a:solidFill>
                <a:effectLst/>
                <a:latin typeface="+mn-lt"/>
                <a:ea typeface="+mn-ea"/>
                <a:cs typeface="+mn-cs"/>
              </a:rPr>
              <a:t>Sul fronte dell'intelligenza artificiale, si può passare a reti 1D-CNN per un'analisi dei segnali ECG ancora più raffinata e implementeremo un sistema di </a:t>
            </a:r>
            <a:r>
              <a:rPr lang="it-IT" sz="1200" b="0" i="0" u="none" strike="noStrike" kern="1200" dirty="0" err="1">
                <a:solidFill>
                  <a:schemeClr val="tx1"/>
                </a:solidFill>
                <a:effectLst/>
                <a:latin typeface="+mn-lt"/>
                <a:ea typeface="+mn-ea"/>
                <a:cs typeface="+mn-cs"/>
              </a:rPr>
              <a:t>Medical</a:t>
            </a:r>
            <a:r>
              <a:rPr lang="it-IT" sz="1200" b="0" i="0" u="none" strike="noStrike" kern="1200" dirty="0">
                <a:solidFill>
                  <a:schemeClr val="tx1"/>
                </a:solidFill>
                <a:effectLst/>
                <a:latin typeface="+mn-lt"/>
                <a:ea typeface="+mn-ea"/>
                <a:cs typeface="+mn-cs"/>
              </a:rPr>
              <a:t> Feedback: un meccanismo di Q&amp;A che permetterà ai medici di correggere i report, consentendo un </a:t>
            </a:r>
            <a:r>
              <a:rPr lang="it-IT" sz="1200" b="0" i="0" u="none" strike="noStrike" kern="1200" dirty="0" err="1">
                <a:solidFill>
                  <a:schemeClr val="tx1"/>
                </a:solidFill>
                <a:effectLst/>
                <a:latin typeface="+mn-lt"/>
                <a:ea typeface="+mn-ea"/>
                <a:cs typeface="+mn-cs"/>
              </a:rPr>
              <a:t>ri</a:t>
            </a:r>
            <a:r>
              <a:rPr lang="it-IT" sz="1200" b="0" i="0" u="none" strike="noStrike" kern="1200" dirty="0">
                <a:solidFill>
                  <a:schemeClr val="tx1"/>
                </a:solidFill>
                <a:effectLst/>
                <a:latin typeface="+mn-lt"/>
                <a:ea typeface="+mn-ea"/>
                <a:cs typeface="+mn-cs"/>
              </a:rPr>
              <a:t>-addestramento continuo (</a:t>
            </a:r>
            <a:r>
              <a:rPr lang="it-IT" sz="1200" b="0" i="0" u="none" strike="noStrike" kern="1200" dirty="0" err="1">
                <a:solidFill>
                  <a:schemeClr val="tx1"/>
                </a:solidFill>
                <a:effectLst/>
                <a:latin typeface="+mn-lt"/>
                <a:ea typeface="+mn-ea"/>
                <a:cs typeface="+mn-cs"/>
              </a:rPr>
              <a:t>continuous</a:t>
            </a:r>
            <a:r>
              <a:rPr lang="it-IT" sz="1200" b="0" i="0" u="none" strike="noStrike" kern="1200" dirty="0">
                <a:solidFill>
                  <a:schemeClr val="tx1"/>
                </a:solidFill>
                <a:effectLst/>
                <a:latin typeface="+mn-lt"/>
                <a:ea typeface="+mn-ea"/>
                <a:cs typeface="+mn-cs"/>
              </a:rPr>
              <a:t> learning) dei modelli.</a:t>
            </a:r>
          </a:p>
          <a:p>
            <a:pPr marL="171450" indent="-171450">
              <a:buFontTx/>
              <a:buChar char="-"/>
            </a:pPr>
            <a:endParaRPr lang="it-IT" sz="1200" b="0" i="0" u="none" strike="noStrike" kern="1200" dirty="0">
              <a:solidFill>
                <a:schemeClr val="tx1"/>
              </a:solidFill>
              <a:effectLst/>
              <a:latin typeface="+mn-lt"/>
              <a:ea typeface="+mn-ea"/>
              <a:cs typeface="+mn-cs"/>
            </a:endParaRPr>
          </a:p>
          <a:p>
            <a:pPr marL="171450" indent="-171450">
              <a:buFontTx/>
              <a:buChar char="-"/>
            </a:pPr>
            <a:r>
              <a:rPr lang="it-IT" sz="1200" b="0" i="0" u="none" strike="noStrike" kern="1200" dirty="0">
                <a:solidFill>
                  <a:schemeClr val="tx1"/>
                </a:solidFill>
                <a:effectLst/>
                <a:latin typeface="+mn-lt"/>
                <a:ea typeface="+mn-ea"/>
                <a:cs typeface="+mn-cs"/>
              </a:rPr>
              <a:t>Per quanto riguarda l'infrastruttura, il piano è migrare da Docker Compose a </a:t>
            </a:r>
            <a:r>
              <a:rPr lang="it-IT" sz="1200" b="0" i="0" u="none" strike="noStrike" kern="1200" dirty="0" err="1">
                <a:solidFill>
                  <a:schemeClr val="tx1"/>
                </a:solidFill>
                <a:effectLst/>
                <a:latin typeface="+mn-lt"/>
                <a:ea typeface="+mn-ea"/>
                <a:cs typeface="+mn-cs"/>
              </a:rPr>
              <a:t>Kubernetes</a:t>
            </a:r>
            <a:r>
              <a:rPr lang="it-IT" sz="1200" b="0" i="0" u="none" strike="noStrike" kern="1200" dirty="0">
                <a:solidFill>
                  <a:schemeClr val="tx1"/>
                </a:solidFill>
                <a:effectLst/>
                <a:latin typeface="+mn-lt"/>
                <a:ea typeface="+mn-ea"/>
                <a:cs typeface="+mn-cs"/>
              </a:rPr>
              <a:t>, introducendo l'auto-scaling e trasformando l'architettura in un sistema ad eventi completamente asincrono.</a:t>
            </a:r>
            <a:endParaRPr lang="it-IT" b="0" dirty="0"/>
          </a:p>
        </p:txBody>
      </p:sp>
      <p:sp>
        <p:nvSpPr>
          <p:cNvPr id="4" name="Segnaposto numero diapositiva 3"/>
          <p:cNvSpPr>
            <a:spLocks noGrp="1"/>
          </p:cNvSpPr>
          <p:nvPr>
            <p:ph type="sldNum" sz="quarter" idx="5"/>
          </p:nvPr>
        </p:nvSpPr>
        <p:spPr/>
        <p:txBody>
          <a:bodyPr/>
          <a:lstStyle/>
          <a:p>
            <a:fld id="{08C9A3EF-1CD3-4928-B014-184E8B8B8430}" type="slidenum">
              <a:rPr lang="it-IT" smtClean="0"/>
              <a:t>18</a:t>
            </a:fld>
            <a:endParaRPr lang="it-IT"/>
          </a:p>
        </p:txBody>
      </p:sp>
    </p:spTree>
    <p:extLst>
      <p:ext uri="{BB962C8B-B14F-4D97-AF65-F5344CB8AC3E}">
        <p14:creationId xmlns:p14="http://schemas.microsoft.com/office/powerpoint/2010/main" val="4753258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200" b="0" i="0" u="none" strike="noStrike" kern="1200" dirty="0">
                <a:solidFill>
                  <a:schemeClr val="tx1"/>
                </a:solidFill>
                <a:effectLst/>
                <a:latin typeface="+mn-lt"/>
                <a:ea typeface="+mn-ea"/>
                <a:cs typeface="+mn-cs"/>
              </a:rPr>
              <a:t>Passiamo ora alla parte pratica del progetto con una breve dimostrazione del sistema. Un medico accede tramite una pagina di login sicura. Una volta all’interno, il sistema permette di inserire diverse tipologie di dati clinici. In questa fase, il medico può caricare un’immagine radiografica o inserire i parametri vitali del paziente. </a:t>
            </a:r>
          </a:p>
          <a:p>
            <a:endParaRPr lang="it-IT" sz="1200" b="0" i="0" u="none" strike="noStrike" kern="1200" dirty="0">
              <a:solidFill>
                <a:schemeClr val="tx1"/>
              </a:solidFill>
              <a:effectLst/>
              <a:latin typeface="+mn-lt"/>
              <a:ea typeface="+mn-ea"/>
              <a:cs typeface="+mn-cs"/>
            </a:endParaRPr>
          </a:p>
          <a:p>
            <a:r>
              <a:rPr lang="it-IT" sz="1200" b="0" i="0" u="none" strike="noStrike" kern="1200" dirty="0">
                <a:solidFill>
                  <a:schemeClr val="tx1"/>
                </a:solidFill>
                <a:effectLst/>
                <a:latin typeface="+mn-lt"/>
                <a:ea typeface="+mn-ea"/>
                <a:cs typeface="+mn-cs"/>
              </a:rPr>
              <a:t>Il sistema gestisce in background l'instradamento verso i microservizi corretti: se carichiamo un'immagine, verrà attivato il servizio di Computer Vision; se inseriamo note testuali, interverrà </a:t>
            </a:r>
            <a:r>
              <a:rPr lang="it-IT" sz="1200" b="0" i="0" u="none" strike="noStrike" kern="1200" dirty="0" err="1">
                <a:solidFill>
                  <a:schemeClr val="tx1"/>
                </a:solidFill>
                <a:effectLst/>
                <a:latin typeface="+mn-lt"/>
                <a:ea typeface="+mn-ea"/>
                <a:cs typeface="+mn-cs"/>
              </a:rPr>
              <a:t>ClinicalBERT</a:t>
            </a:r>
            <a:r>
              <a:rPr lang="it-IT" sz="1200" b="0" i="0" u="none" strike="noStrike" kern="1200" dirty="0">
                <a:solidFill>
                  <a:schemeClr val="tx1"/>
                </a:solidFill>
                <a:effectLst/>
                <a:latin typeface="+mn-lt"/>
                <a:ea typeface="+mn-ea"/>
                <a:cs typeface="+mn-cs"/>
              </a:rPr>
              <a:t>.</a:t>
            </a:r>
          </a:p>
          <a:p>
            <a:endParaRPr lang="it-IT" sz="1200" b="0" i="0" u="none" strike="noStrike" kern="1200" dirty="0">
              <a:solidFill>
                <a:schemeClr val="tx1"/>
              </a:solidFill>
              <a:effectLst/>
              <a:latin typeface="+mn-lt"/>
              <a:ea typeface="+mn-ea"/>
              <a:cs typeface="+mn-cs"/>
            </a:endParaRPr>
          </a:p>
          <a:p>
            <a:r>
              <a:rPr lang="it-IT" sz="1200" b="0" i="0" u="none" strike="noStrike" kern="1200" dirty="0">
                <a:solidFill>
                  <a:schemeClr val="tx1"/>
                </a:solidFill>
                <a:effectLst/>
                <a:latin typeface="+mn-lt"/>
                <a:ea typeface="+mn-ea"/>
                <a:cs typeface="+mn-cs"/>
              </a:rPr>
              <a:t>In questo caso, simuliamo il caricamento di un'immagine per testare la rete </a:t>
            </a:r>
            <a:r>
              <a:rPr lang="it-IT" sz="1200" b="0" i="0" u="none" strike="noStrike" kern="1200" dirty="0" err="1">
                <a:solidFill>
                  <a:schemeClr val="tx1"/>
                </a:solidFill>
                <a:effectLst/>
                <a:latin typeface="+mn-lt"/>
                <a:ea typeface="+mn-ea"/>
                <a:cs typeface="+mn-cs"/>
              </a:rPr>
              <a:t>EfficientNet</a:t>
            </a:r>
            <a:r>
              <a:rPr lang="it-IT" sz="1200" b="0" i="0" u="none" strike="noStrike" kern="1200" dirty="0">
                <a:solidFill>
                  <a:schemeClr val="tx1"/>
                </a:solidFill>
                <a:effectLst/>
                <a:latin typeface="+mn-lt"/>
                <a:ea typeface="+mn-ea"/>
                <a:cs typeface="+mn-cs"/>
              </a:rPr>
              <a:t> specializzata nelle lesioni cutanee. L’output del modello non è un semplice verdetto isolato, ma viene presentato con la diagnosi più probabile e il relativo punteggio di confidenza.</a:t>
            </a:r>
          </a:p>
          <a:p>
            <a:r>
              <a:rPr lang="it-IT" sz="1200" b="0" i="0" u="none" strike="noStrike" kern="1200" dirty="0">
                <a:solidFill>
                  <a:schemeClr val="tx1"/>
                </a:solidFill>
                <a:effectLst/>
                <a:latin typeface="+mn-lt"/>
                <a:ea typeface="+mn-ea"/>
                <a:cs typeface="+mn-cs"/>
              </a:rPr>
              <a:t>Fondamentale è l'integrazione della Grad-CAM: il sistema genera istantaneamente una mappa di calore sovrapposta all'immagine originale. Questo permette al medico di convalidare il processo decisionale dell'IA, verificando visivamente che il modello abbia isolato i bordi della lesione, piuttosto che concentrarsi su elementi di sfondo irrilevanti.</a:t>
            </a:r>
          </a:p>
          <a:p>
            <a:endParaRPr lang="it-IT" sz="1200" b="0" i="0" u="none" strike="noStrike" kern="1200" dirty="0">
              <a:solidFill>
                <a:schemeClr val="tx1"/>
              </a:solidFill>
              <a:effectLst/>
              <a:latin typeface="+mn-lt"/>
              <a:ea typeface="+mn-ea"/>
              <a:cs typeface="+mn-cs"/>
            </a:endParaRPr>
          </a:p>
          <a:p>
            <a:r>
              <a:rPr lang="it-IT" sz="1200" b="0" i="0" u="none" strike="noStrike" kern="1200" dirty="0">
                <a:solidFill>
                  <a:schemeClr val="tx1"/>
                </a:solidFill>
                <a:effectLst/>
                <a:latin typeface="+mn-lt"/>
                <a:ea typeface="+mn-ea"/>
                <a:cs typeface="+mn-cs"/>
              </a:rPr>
              <a:t>Completata l’analisi, questa viene salvata nel sistema per le eventuali consultazioni future. Il sistema offre inoltre funzionalità avanzate di filtraggio e ricerca come il navigare tra i record filtrandoli per ID paziente. Questa organizzazione assicura che ogni diagnosi sia tracciabile e facilmente reperibile.</a:t>
            </a:r>
          </a:p>
          <a:p>
            <a:endParaRPr lang="it-IT" b="0" dirty="0"/>
          </a:p>
          <a:p>
            <a:endParaRPr lang="it-IT" b="0" dirty="0"/>
          </a:p>
        </p:txBody>
      </p:sp>
      <p:sp>
        <p:nvSpPr>
          <p:cNvPr id="4" name="Segnaposto numero diapositiva 3"/>
          <p:cNvSpPr>
            <a:spLocks noGrp="1"/>
          </p:cNvSpPr>
          <p:nvPr>
            <p:ph type="sldNum" sz="quarter" idx="5"/>
          </p:nvPr>
        </p:nvSpPr>
        <p:spPr/>
        <p:txBody>
          <a:bodyPr/>
          <a:lstStyle/>
          <a:p>
            <a:fld id="{08C9A3EF-1CD3-4928-B014-184E8B8B8430}" type="slidenum">
              <a:rPr lang="it-IT" smtClean="0"/>
              <a:t>19</a:t>
            </a:fld>
            <a:endParaRPr lang="it-IT"/>
          </a:p>
        </p:txBody>
      </p:sp>
    </p:spTree>
    <p:extLst>
      <p:ext uri="{BB962C8B-B14F-4D97-AF65-F5344CB8AC3E}">
        <p14:creationId xmlns:p14="http://schemas.microsoft.com/office/powerpoint/2010/main" val="15691140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08C9A3EF-1CD3-4928-B014-184E8B8B8430}" type="slidenum">
              <a:rPr lang="it-IT" smtClean="0"/>
              <a:t>20</a:t>
            </a:fld>
            <a:endParaRPr lang="it-IT"/>
          </a:p>
        </p:txBody>
      </p:sp>
    </p:spTree>
    <p:extLst>
      <p:ext uri="{BB962C8B-B14F-4D97-AF65-F5344CB8AC3E}">
        <p14:creationId xmlns:p14="http://schemas.microsoft.com/office/powerpoint/2010/main" val="2800055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6000" b="1"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chemeClr val="tx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bg1"/>
                </a:solidFill>
                <a:latin typeface="Trebuchet MS"/>
                <a:cs typeface="Trebuchet MS"/>
              </a:defRPr>
            </a:lvl1pPr>
          </a:lstStyle>
          <a:p>
            <a:pPr marL="12700">
              <a:lnSpc>
                <a:spcPts val="2150"/>
              </a:lnSpc>
            </a:pPr>
            <a:r>
              <a:rPr spc="-75"/>
              <a:t>A.A.</a:t>
            </a:r>
            <a:r>
              <a:rPr spc="-145"/>
              <a:t> </a:t>
            </a:r>
            <a:r>
              <a:rPr spc="-25"/>
              <a:t>2025/2026</a:t>
            </a:r>
          </a:p>
        </p:txBody>
      </p:sp>
      <p:sp>
        <p:nvSpPr>
          <p:cNvPr id="5" name="Holder 5"/>
          <p:cNvSpPr>
            <a:spLocks noGrp="1"/>
          </p:cNvSpPr>
          <p:nvPr>
            <p:ph type="dt" sz="half" idx="6"/>
          </p:nvPr>
        </p:nvSpPr>
        <p:spPr/>
        <p:txBody>
          <a:bodyPr lIns="0" tIns="0" rIns="0" bIns="0"/>
          <a:lstStyle>
            <a:lvl1pPr>
              <a:defRPr sz="1800" b="0" i="0">
                <a:solidFill>
                  <a:schemeClr val="bg1"/>
                </a:solidFill>
                <a:latin typeface="Trebuchet MS"/>
                <a:cs typeface="Trebuchet MS"/>
              </a:defRPr>
            </a:lvl1pPr>
          </a:lstStyle>
          <a:p>
            <a:pPr marL="12700">
              <a:lnSpc>
                <a:spcPts val="2150"/>
              </a:lnSpc>
            </a:pPr>
            <a:r>
              <a:rPr spc="-30"/>
              <a:t>Prof.ssa</a:t>
            </a:r>
            <a:r>
              <a:rPr spc="-180"/>
              <a:t> </a:t>
            </a:r>
            <a:r>
              <a:rPr spc="-10"/>
              <a:t>Marina</a:t>
            </a:r>
            <a:r>
              <a:rPr spc="-160"/>
              <a:t> </a:t>
            </a:r>
            <a:r>
              <a:rPr spc="-10"/>
              <a:t>Mongiello</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bg1"/>
                </a:solidFill>
                <a:latin typeface="Trebuchet MS"/>
                <a:cs typeface="Trebuchet MS"/>
              </a:defRPr>
            </a:lvl1pPr>
          </a:lstStyle>
          <a:p>
            <a:pPr marL="12700">
              <a:lnSpc>
                <a:spcPts val="2150"/>
              </a:lnSpc>
            </a:pPr>
            <a:r>
              <a:rPr spc="-75"/>
              <a:t>A.A.</a:t>
            </a:r>
            <a:r>
              <a:rPr spc="-145"/>
              <a:t> </a:t>
            </a:r>
            <a:r>
              <a:rPr spc="-25"/>
              <a:t>2025/2026</a:t>
            </a:r>
          </a:p>
        </p:txBody>
      </p:sp>
      <p:sp>
        <p:nvSpPr>
          <p:cNvPr id="5" name="Holder 5"/>
          <p:cNvSpPr>
            <a:spLocks noGrp="1"/>
          </p:cNvSpPr>
          <p:nvPr>
            <p:ph type="dt" sz="half" idx="6"/>
          </p:nvPr>
        </p:nvSpPr>
        <p:spPr/>
        <p:txBody>
          <a:bodyPr lIns="0" tIns="0" rIns="0" bIns="0"/>
          <a:lstStyle>
            <a:lvl1pPr>
              <a:defRPr sz="1800" b="0" i="0">
                <a:solidFill>
                  <a:schemeClr val="bg1"/>
                </a:solidFill>
                <a:latin typeface="Trebuchet MS"/>
                <a:cs typeface="Trebuchet MS"/>
              </a:defRPr>
            </a:lvl1pPr>
          </a:lstStyle>
          <a:p>
            <a:pPr marL="12700">
              <a:lnSpc>
                <a:spcPts val="2150"/>
              </a:lnSpc>
            </a:pPr>
            <a:r>
              <a:rPr spc="-30"/>
              <a:t>Prof.ssa</a:t>
            </a:r>
            <a:r>
              <a:rPr spc="-180"/>
              <a:t> </a:t>
            </a:r>
            <a:r>
              <a:rPr spc="-10"/>
              <a:t>Marina</a:t>
            </a:r>
            <a:r>
              <a:rPr spc="-160"/>
              <a:t> </a:t>
            </a:r>
            <a:r>
              <a:rPr spc="-10"/>
              <a:t>Mongiello</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800" b="0" i="0">
                <a:solidFill>
                  <a:schemeClr val="bg1"/>
                </a:solidFill>
                <a:latin typeface="Trebuchet MS"/>
                <a:cs typeface="Trebuchet MS"/>
              </a:defRPr>
            </a:lvl1pPr>
          </a:lstStyle>
          <a:p>
            <a:pPr marL="12700">
              <a:lnSpc>
                <a:spcPts val="2150"/>
              </a:lnSpc>
            </a:pPr>
            <a:r>
              <a:rPr spc="-75"/>
              <a:t>A.A.</a:t>
            </a:r>
            <a:r>
              <a:rPr spc="-145"/>
              <a:t> </a:t>
            </a:r>
            <a:r>
              <a:rPr spc="-25"/>
              <a:t>2025/2026</a:t>
            </a:r>
          </a:p>
        </p:txBody>
      </p:sp>
      <p:sp>
        <p:nvSpPr>
          <p:cNvPr id="6" name="Holder 6"/>
          <p:cNvSpPr>
            <a:spLocks noGrp="1"/>
          </p:cNvSpPr>
          <p:nvPr>
            <p:ph type="dt" sz="half" idx="6"/>
          </p:nvPr>
        </p:nvSpPr>
        <p:spPr/>
        <p:txBody>
          <a:bodyPr lIns="0" tIns="0" rIns="0" bIns="0"/>
          <a:lstStyle>
            <a:lvl1pPr>
              <a:defRPr sz="1800" b="0" i="0">
                <a:solidFill>
                  <a:schemeClr val="bg1"/>
                </a:solidFill>
                <a:latin typeface="Trebuchet MS"/>
                <a:cs typeface="Trebuchet MS"/>
              </a:defRPr>
            </a:lvl1pPr>
          </a:lstStyle>
          <a:p>
            <a:pPr marL="12700">
              <a:lnSpc>
                <a:spcPts val="2150"/>
              </a:lnSpc>
            </a:pPr>
            <a:r>
              <a:rPr spc="-30"/>
              <a:t>Prof.ssa</a:t>
            </a:r>
            <a:r>
              <a:rPr spc="-180"/>
              <a:t> </a:t>
            </a:r>
            <a:r>
              <a:rPr spc="-10"/>
              <a:t>Marina</a:t>
            </a:r>
            <a:r>
              <a:rPr spc="-160"/>
              <a:t> </a:t>
            </a:r>
            <a:r>
              <a:rPr spc="-10"/>
              <a:t>Mongiello</a:t>
            </a: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570223" y="311336"/>
            <a:ext cx="4325963" cy="679248"/>
          </a:xfrm>
          <a:prstGeom prst="rect">
            <a:avLst/>
          </a:prstGeom>
        </p:spPr>
      </p:pic>
      <p:pic>
        <p:nvPicPr>
          <p:cNvPr id="17" name="bg object 17"/>
          <p:cNvPicPr/>
          <p:nvPr/>
        </p:nvPicPr>
        <p:blipFill>
          <a:blip r:embed="rId3" cstate="print"/>
          <a:stretch>
            <a:fillRect/>
          </a:stretch>
        </p:blipFill>
        <p:spPr>
          <a:xfrm>
            <a:off x="8973693" y="150441"/>
            <a:ext cx="2906776" cy="994844"/>
          </a:xfrm>
          <a:prstGeom prst="rect">
            <a:avLst/>
          </a:prstGeom>
        </p:spPr>
      </p:pic>
      <p:pic>
        <p:nvPicPr>
          <p:cNvPr id="18" name="bg object 18"/>
          <p:cNvPicPr/>
          <p:nvPr/>
        </p:nvPicPr>
        <p:blipFill>
          <a:blip r:embed="rId4" cstate="print"/>
          <a:stretch>
            <a:fillRect/>
          </a:stretch>
        </p:blipFill>
        <p:spPr>
          <a:xfrm>
            <a:off x="289115" y="139509"/>
            <a:ext cx="2290445" cy="987234"/>
          </a:xfrm>
          <a:prstGeom prst="rect">
            <a:avLst/>
          </a:prstGeom>
        </p:spPr>
      </p:pic>
      <p:sp>
        <p:nvSpPr>
          <p:cNvPr id="2" name="Holder 2"/>
          <p:cNvSpPr>
            <a:spLocks noGrp="1"/>
          </p:cNvSpPr>
          <p:nvPr>
            <p:ph type="title"/>
          </p:nvPr>
        </p:nvSpPr>
        <p:spPr/>
        <p:txBody>
          <a:bodyPr lIns="0" tIns="0" rIns="0" bIns="0"/>
          <a:lstStyle>
            <a:lvl1pPr>
              <a:defRPr sz="600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defRPr sz="1800" b="0" i="0">
                <a:solidFill>
                  <a:schemeClr val="bg1"/>
                </a:solidFill>
                <a:latin typeface="Trebuchet MS"/>
                <a:cs typeface="Trebuchet MS"/>
              </a:defRPr>
            </a:lvl1pPr>
          </a:lstStyle>
          <a:p>
            <a:pPr marL="12700">
              <a:lnSpc>
                <a:spcPts val="2150"/>
              </a:lnSpc>
            </a:pPr>
            <a:r>
              <a:rPr spc="-75"/>
              <a:t>A.A.</a:t>
            </a:r>
            <a:r>
              <a:rPr spc="-145"/>
              <a:t> </a:t>
            </a:r>
            <a:r>
              <a:rPr spc="-25"/>
              <a:t>2025/2026</a:t>
            </a:r>
          </a:p>
        </p:txBody>
      </p:sp>
      <p:sp>
        <p:nvSpPr>
          <p:cNvPr id="4" name="Holder 4"/>
          <p:cNvSpPr>
            <a:spLocks noGrp="1"/>
          </p:cNvSpPr>
          <p:nvPr>
            <p:ph type="dt" sz="half" idx="6"/>
          </p:nvPr>
        </p:nvSpPr>
        <p:spPr/>
        <p:txBody>
          <a:bodyPr lIns="0" tIns="0" rIns="0" bIns="0"/>
          <a:lstStyle>
            <a:lvl1pPr>
              <a:defRPr sz="1800" b="0" i="0">
                <a:solidFill>
                  <a:schemeClr val="bg1"/>
                </a:solidFill>
                <a:latin typeface="Trebuchet MS"/>
                <a:cs typeface="Trebuchet MS"/>
              </a:defRPr>
            </a:lvl1pPr>
          </a:lstStyle>
          <a:p>
            <a:pPr marL="12700">
              <a:lnSpc>
                <a:spcPts val="2150"/>
              </a:lnSpc>
            </a:pPr>
            <a:r>
              <a:rPr spc="-30"/>
              <a:t>Prof.ssa</a:t>
            </a:r>
            <a:r>
              <a:rPr spc="-180"/>
              <a:t> </a:t>
            </a:r>
            <a:r>
              <a:rPr spc="-10"/>
              <a:t>Marina</a:t>
            </a:r>
            <a:r>
              <a:rPr spc="-160"/>
              <a:t> </a:t>
            </a:r>
            <a:r>
              <a:rPr spc="-10"/>
              <a:t>Mongiello</a:t>
            </a: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800" b="0" i="0">
                <a:solidFill>
                  <a:schemeClr val="bg1"/>
                </a:solidFill>
                <a:latin typeface="Trebuchet MS"/>
                <a:cs typeface="Trebuchet MS"/>
              </a:defRPr>
            </a:lvl1pPr>
          </a:lstStyle>
          <a:p>
            <a:pPr marL="12700">
              <a:lnSpc>
                <a:spcPts val="2150"/>
              </a:lnSpc>
            </a:pPr>
            <a:r>
              <a:rPr spc="-75"/>
              <a:t>A.A.</a:t>
            </a:r>
            <a:r>
              <a:rPr spc="-145"/>
              <a:t> </a:t>
            </a:r>
            <a:r>
              <a:rPr spc="-25"/>
              <a:t>2025/2026</a:t>
            </a:r>
          </a:p>
        </p:txBody>
      </p:sp>
      <p:sp>
        <p:nvSpPr>
          <p:cNvPr id="3" name="Holder 3"/>
          <p:cNvSpPr>
            <a:spLocks noGrp="1"/>
          </p:cNvSpPr>
          <p:nvPr>
            <p:ph type="dt" sz="half" idx="6"/>
          </p:nvPr>
        </p:nvSpPr>
        <p:spPr/>
        <p:txBody>
          <a:bodyPr lIns="0" tIns="0" rIns="0" bIns="0"/>
          <a:lstStyle>
            <a:lvl1pPr>
              <a:defRPr sz="1800" b="0" i="0">
                <a:solidFill>
                  <a:schemeClr val="bg1"/>
                </a:solidFill>
                <a:latin typeface="Trebuchet MS"/>
                <a:cs typeface="Trebuchet MS"/>
              </a:defRPr>
            </a:lvl1pPr>
          </a:lstStyle>
          <a:p>
            <a:pPr marL="12700">
              <a:lnSpc>
                <a:spcPts val="2150"/>
              </a:lnSpc>
            </a:pPr>
            <a:r>
              <a:rPr spc="-30"/>
              <a:t>Prof.ssa</a:t>
            </a:r>
            <a:r>
              <a:rPr spc="-180"/>
              <a:t> </a:t>
            </a:r>
            <a:r>
              <a:rPr spc="-10"/>
              <a:t>Marina</a:t>
            </a:r>
            <a:r>
              <a:rPr spc="-160"/>
              <a:t> </a:t>
            </a:r>
            <a:r>
              <a:rPr spc="-10"/>
              <a:t>Mongiello</a:t>
            </a: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60679" y="244551"/>
            <a:ext cx="8971280" cy="940435"/>
          </a:xfrm>
          <a:prstGeom prst="rect">
            <a:avLst/>
          </a:prstGeom>
        </p:spPr>
        <p:txBody>
          <a:bodyPr wrap="square" lIns="0" tIns="0" rIns="0" bIns="0">
            <a:spAutoFit/>
          </a:bodyPr>
          <a:lstStyle>
            <a:lvl1pPr>
              <a:defRPr sz="600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360679" y="2143709"/>
            <a:ext cx="5407025" cy="2495550"/>
          </a:xfrm>
          <a:prstGeom prst="rect">
            <a:avLst/>
          </a:prstGeom>
        </p:spPr>
        <p:txBody>
          <a:bodyPr wrap="square" lIns="0" tIns="0" rIns="0" bIns="0">
            <a:spAutoFit/>
          </a:bodyPr>
          <a:lstStyle>
            <a:lvl1pPr>
              <a:defRPr sz="2400" b="0" i="0">
                <a:solidFill>
                  <a:schemeClr val="tx1"/>
                </a:solidFill>
                <a:latin typeface="Trebuchet MS"/>
                <a:cs typeface="Trebuchet MS"/>
              </a:defRPr>
            </a:lvl1pPr>
          </a:lstStyle>
          <a:p>
            <a:endParaRPr/>
          </a:p>
        </p:txBody>
      </p:sp>
      <p:sp>
        <p:nvSpPr>
          <p:cNvPr id="4" name="Holder 4"/>
          <p:cNvSpPr>
            <a:spLocks noGrp="1"/>
          </p:cNvSpPr>
          <p:nvPr>
            <p:ph type="ftr" sz="quarter" idx="5"/>
          </p:nvPr>
        </p:nvSpPr>
        <p:spPr>
          <a:xfrm>
            <a:off x="10551921" y="6503246"/>
            <a:ext cx="1532890" cy="304800"/>
          </a:xfrm>
          <a:prstGeom prst="rect">
            <a:avLst/>
          </a:prstGeom>
        </p:spPr>
        <p:txBody>
          <a:bodyPr wrap="square" lIns="0" tIns="0" rIns="0" bIns="0">
            <a:spAutoFit/>
          </a:bodyPr>
          <a:lstStyle>
            <a:lvl1pPr>
              <a:defRPr sz="1800" b="0" i="0">
                <a:solidFill>
                  <a:schemeClr val="bg1"/>
                </a:solidFill>
                <a:latin typeface="Trebuchet MS"/>
                <a:cs typeface="Trebuchet MS"/>
              </a:defRPr>
            </a:lvl1pPr>
          </a:lstStyle>
          <a:p>
            <a:pPr marL="12700">
              <a:lnSpc>
                <a:spcPts val="2150"/>
              </a:lnSpc>
            </a:pPr>
            <a:r>
              <a:rPr spc="-75"/>
              <a:t>A.A.</a:t>
            </a:r>
            <a:r>
              <a:rPr spc="-145"/>
              <a:t> </a:t>
            </a:r>
            <a:r>
              <a:rPr spc="-25"/>
              <a:t>2025/2026</a:t>
            </a:r>
          </a:p>
        </p:txBody>
      </p:sp>
      <p:sp>
        <p:nvSpPr>
          <p:cNvPr id="5" name="Holder 5"/>
          <p:cNvSpPr>
            <a:spLocks noGrp="1"/>
          </p:cNvSpPr>
          <p:nvPr>
            <p:ph type="dt" sz="half" idx="6"/>
          </p:nvPr>
        </p:nvSpPr>
        <p:spPr>
          <a:xfrm>
            <a:off x="4817490" y="6513000"/>
            <a:ext cx="2557145" cy="304800"/>
          </a:xfrm>
          <a:prstGeom prst="rect">
            <a:avLst/>
          </a:prstGeom>
        </p:spPr>
        <p:txBody>
          <a:bodyPr wrap="square" lIns="0" tIns="0" rIns="0" bIns="0">
            <a:spAutoFit/>
          </a:bodyPr>
          <a:lstStyle>
            <a:lvl1pPr>
              <a:defRPr sz="1800" b="0" i="0">
                <a:solidFill>
                  <a:schemeClr val="bg1"/>
                </a:solidFill>
                <a:latin typeface="Trebuchet MS"/>
                <a:cs typeface="Trebuchet MS"/>
              </a:defRPr>
            </a:lvl1pPr>
          </a:lstStyle>
          <a:p>
            <a:pPr marL="12700">
              <a:lnSpc>
                <a:spcPts val="2150"/>
              </a:lnSpc>
            </a:pPr>
            <a:r>
              <a:rPr spc="-30"/>
              <a:t>Prof.ssa</a:t>
            </a:r>
            <a:r>
              <a:rPr spc="-180"/>
              <a:t> </a:t>
            </a:r>
            <a:r>
              <a:rPr spc="-10"/>
              <a:t>Marina</a:t>
            </a:r>
            <a:r>
              <a:rPr spc="-160"/>
              <a:t> </a:t>
            </a:r>
            <a:r>
              <a:rPr spc="-10"/>
              <a:t>Mongiello</a:t>
            </a:r>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604295F-58E4-0812-6E92-299E7EE98E0D}"/>
            </a:ext>
          </a:extLst>
        </p:cNvPr>
        <p:cNvGrpSpPr/>
        <p:nvPr/>
      </p:nvGrpSpPr>
      <p:grpSpPr>
        <a:xfrm>
          <a:off x="0" y="0"/>
          <a:ext cx="0" cy="0"/>
          <a:chOff x="0" y="0"/>
          <a:chExt cx="0" cy="0"/>
        </a:xfrm>
      </p:grpSpPr>
      <p:pic>
        <p:nvPicPr>
          <p:cNvPr id="4" name="Immagine 3">
            <a:extLst>
              <a:ext uri="{FF2B5EF4-FFF2-40B4-BE49-F238E27FC236}">
                <a16:creationId xmlns:a16="http://schemas.microsoft.com/office/drawing/2014/main" id="{46A980E5-AA13-5FFD-9054-C9D95612D68C}"/>
              </a:ext>
            </a:extLst>
          </p:cNvPr>
          <p:cNvPicPr>
            <a:picLocks noChangeAspect="1"/>
          </p:cNvPicPr>
          <p:nvPr/>
        </p:nvPicPr>
        <p:blipFill>
          <a:blip r:embed="rId3" cstate="print">
            <a:extLst>
              <a:ext uri="{28A0092B-C50C-407E-A947-70E740481C1C}">
                <a14:useLocalDpi xmlns:a14="http://schemas.microsoft.com/office/drawing/2010/main" val="0"/>
              </a:ext>
            </a:extLst>
          </a:blip>
          <a:srcRect t="21727" b="21155"/>
          <a:stretch>
            <a:fillRect/>
          </a:stretch>
        </p:blipFill>
        <p:spPr>
          <a:xfrm>
            <a:off x="457200" y="376926"/>
            <a:ext cx="6535282" cy="1107996"/>
          </a:xfrm>
          <a:prstGeom prst="rect">
            <a:avLst/>
          </a:prstGeom>
        </p:spPr>
      </p:pic>
      <p:grpSp>
        <p:nvGrpSpPr>
          <p:cNvPr id="9" name="object 9">
            <a:extLst>
              <a:ext uri="{FF2B5EF4-FFF2-40B4-BE49-F238E27FC236}">
                <a16:creationId xmlns:a16="http://schemas.microsoft.com/office/drawing/2014/main" id="{55D19251-AFED-A1A7-3C36-46CA429AA2CA}"/>
              </a:ext>
            </a:extLst>
          </p:cNvPr>
          <p:cNvGrpSpPr/>
          <p:nvPr/>
        </p:nvGrpSpPr>
        <p:grpSpPr>
          <a:xfrm>
            <a:off x="-7209" y="6455826"/>
            <a:ext cx="12211050" cy="403860"/>
            <a:chOff x="-7209" y="6455826"/>
            <a:chExt cx="12211050" cy="403860"/>
          </a:xfrm>
          <a:solidFill>
            <a:srgbClr val="009999"/>
          </a:solidFill>
        </p:grpSpPr>
        <p:sp>
          <p:nvSpPr>
            <p:cNvPr id="10" name="object 10">
              <a:extLst>
                <a:ext uri="{FF2B5EF4-FFF2-40B4-BE49-F238E27FC236}">
                  <a16:creationId xmlns:a16="http://schemas.microsoft.com/office/drawing/2014/main" id="{DBD99A0D-FE52-8B89-133B-B7BA269B3E4A}"/>
                </a:ext>
              </a:extLst>
            </p:cNvPr>
            <p:cNvSpPr/>
            <p:nvPr/>
          </p:nvSpPr>
          <p:spPr>
            <a:xfrm>
              <a:off x="2315" y="6465351"/>
              <a:ext cx="12192000" cy="384810"/>
            </a:xfrm>
            <a:custGeom>
              <a:avLst/>
              <a:gdLst/>
              <a:ahLst/>
              <a:cxnLst/>
              <a:rect l="l" t="t" r="r" b="b"/>
              <a:pathLst>
                <a:path w="12192000" h="384809">
                  <a:moveTo>
                    <a:pt x="12191619" y="0"/>
                  </a:moveTo>
                  <a:lnTo>
                    <a:pt x="0" y="0"/>
                  </a:lnTo>
                  <a:lnTo>
                    <a:pt x="0" y="384657"/>
                  </a:lnTo>
                  <a:lnTo>
                    <a:pt x="12191619" y="384657"/>
                  </a:lnTo>
                  <a:lnTo>
                    <a:pt x="12191619" y="0"/>
                  </a:lnTo>
                  <a:close/>
                </a:path>
              </a:pathLst>
            </a:custGeom>
            <a:grpFill/>
          </p:spPr>
          <p:txBody>
            <a:bodyPr wrap="square" lIns="0" tIns="0" rIns="0" bIns="0" rtlCol="0"/>
            <a:lstStyle/>
            <a:p>
              <a:endParaRPr/>
            </a:p>
          </p:txBody>
        </p:sp>
        <p:sp>
          <p:nvSpPr>
            <p:cNvPr id="11" name="object 11">
              <a:extLst>
                <a:ext uri="{FF2B5EF4-FFF2-40B4-BE49-F238E27FC236}">
                  <a16:creationId xmlns:a16="http://schemas.microsoft.com/office/drawing/2014/main" id="{F1DA3B0D-999D-A943-3040-B696143029C2}"/>
                </a:ext>
              </a:extLst>
            </p:cNvPr>
            <p:cNvSpPr/>
            <p:nvPr/>
          </p:nvSpPr>
          <p:spPr>
            <a:xfrm>
              <a:off x="2315" y="6465351"/>
              <a:ext cx="12192000" cy="384810"/>
            </a:xfrm>
            <a:custGeom>
              <a:avLst/>
              <a:gdLst/>
              <a:ahLst/>
              <a:cxnLst/>
              <a:rect l="l" t="t" r="r" b="b"/>
              <a:pathLst>
                <a:path w="12192000" h="384809">
                  <a:moveTo>
                    <a:pt x="0" y="384657"/>
                  </a:moveTo>
                  <a:lnTo>
                    <a:pt x="12191619" y="384657"/>
                  </a:lnTo>
                  <a:lnTo>
                    <a:pt x="12191619" y="0"/>
                  </a:lnTo>
                  <a:lnTo>
                    <a:pt x="0" y="0"/>
                  </a:lnTo>
                  <a:lnTo>
                    <a:pt x="0" y="384657"/>
                  </a:lnTo>
                  <a:close/>
                </a:path>
              </a:pathLst>
            </a:custGeom>
            <a:grpFill/>
            <a:ln w="19050">
              <a:solidFill>
                <a:srgbClr val="009999"/>
              </a:solidFill>
            </a:ln>
          </p:spPr>
          <p:txBody>
            <a:bodyPr wrap="square" lIns="0" tIns="0" rIns="0" bIns="0" rtlCol="0"/>
            <a:lstStyle/>
            <a:p>
              <a:endParaRPr/>
            </a:p>
          </p:txBody>
        </p:sp>
      </p:grpSp>
      <p:sp>
        <p:nvSpPr>
          <p:cNvPr id="15" name="CasellaDiTesto 14">
            <a:extLst>
              <a:ext uri="{FF2B5EF4-FFF2-40B4-BE49-F238E27FC236}">
                <a16:creationId xmlns:a16="http://schemas.microsoft.com/office/drawing/2014/main" id="{A36012D0-2B51-9377-95A2-D6926BC7DAE7}"/>
              </a:ext>
            </a:extLst>
          </p:cNvPr>
          <p:cNvSpPr txBox="1"/>
          <p:nvPr/>
        </p:nvSpPr>
        <p:spPr>
          <a:xfrm>
            <a:off x="107188" y="6473090"/>
            <a:ext cx="4296368" cy="369332"/>
          </a:xfrm>
          <a:prstGeom prst="rect">
            <a:avLst/>
          </a:prstGeom>
          <a:noFill/>
        </p:spPr>
        <p:txBody>
          <a:bodyPr wrap="none" rtlCol="0">
            <a:spAutoFit/>
          </a:bodyPr>
          <a:lstStyle/>
          <a:p>
            <a:pPr algn="ctr"/>
            <a:r>
              <a:rPr lang="it-IT">
                <a:solidFill>
                  <a:schemeClr val="bg1"/>
                </a:solidFill>
                <a:latin typeface="Aptos" panose="020B0004020202020204" pitchFamily="34" charset="0"/>
              </a:rPr>
              <a:t>Software Architecture and Pattern Design</a:t>
            </a:r>
          </a:p>
        </p:txBody>
      </p:sp>
      <p:sp>
        <p:nvSpPr>
          <p:cNvPr id="16" name="CasellaDiTesto 15">
            <a:extLst>
              <a:ext uri="{FF2B5EF4-FFF2-40B4-BE49-F238E27FC236}">
                <a16:creationId xmlns:a16="http://schemas.microsoft.com/office/drawing/2014/main" id="{86280421-BFF3-F590-C790-F842B68259D0}"/>
              </a:ext>
            </a:extLst>
          </p:cNvPr>
          <p:cNvSpPr txBox="1"/>
          <p:nvPr/>
        </p:nvSpPr>
        <p:spPr>
          <a:xfrm>
            <a:off x="10394926" y="6480829"/>
            <a:ext cx="1689886" cy="369332"/>
          </a:xfrm>
          <a:prstGeom prst="rect">
            <a:avLst/>
          </a:prstGeom>
          <a:noFill/>
        </p:spPr>
        <p:txBody>
          <a:bodyPr wrap="none" rtlCol="0">
            <a:spAutoFit/>
          </a:bodyPr>
          <a:lstStyle/>
          <a:p>
            <a:pPr algn="ctr"/>
            <a:r>
              <a:rPr lang="it-IT">
                <a:solidFill>
                  <a:schemeClr val="bg1"/>
                </a:solidFill>
                <a:latin typeface="Aptos" panose="020B0004020202020204" pitchFamily="34" charset="0"/>
              </a:rPr>
              <a:t>A.Y. 2025/2026</a:t>
            </a:r>
          </a:p>
        </p:txBody>
      </p:sp>
      <p:sp>
        <p:nvSpPr>
          <p:cNvPr id="2" name="CasellaDiTesto 1">
            <a:extLst>
              <a:ext uri="{FF2B5EF4-FFF2-40B4-BE49-F238E27FC236}">
                <a16:creationId xmlns:a16="http://schemas.microsoft.com/office/drawing/2014/main" id="{AC2602A5-1867-86CD-C745-E827FB4624A9}"/>
              </a:ext>
            </a:extLst>
          </p:cNvPr>
          <p:cNvSpPr txBox="1"/>
          <p:nvPr/>
        </p:nvSpPr>
        <p:spPr>
          <a:xfrm>
            <a:off x="2508314" y="2116086"/>
            <a:ext cx="6848350" cy="1015663"/>
          </a:xfrm>
          <a:prstGeom prst="rect">
            <a:avLst/>
          </a:prstGeom>
          <a:noFill/>
        </p:spPr>
        <p:txBody>
          <a:bodyPr wrap="none" rtlCol="0">
            <a:spAutoFit/>
          </a:bodyPr>
          <a:lstStyle/>
          <a:p>
            <a:pPr algn="ctr"/>
            <a:r>
              <a:rPr lang="it-IT" sz="6000" b="1" dirty="0" err="1">
                <a:latin typeface="Aptos" panose="020B0004020202020204" pitchFamily="34" charset="0"/>
              </a:rPr>
              <a:t>EarlyCare</a:t>
            </a:r>
            <a:r>
              <a:rPr lang="it-IT" sz="6000" b="1" dirty="0">
                <a:latin typeface="Aptos" panose="020B0004020202020204" pitchFamily="34" charset="0"/>
              </a:rPr>
              <a:t> Gateway</a:t>
            </a:r>
          </a:p>
        </p:txBody>
      </p:sp>
      <p:pic>
        <p:nvPicPr>
          <p:cNvPr id="1028" name="Picture 4" descr="SisInfLab - Home - SisInfLab">
            <a:extLst>
              <a:ext uri="{FF2B5EF4-FFF2-40B4-BE49-F238E27FC236}">
                <a16:creationId xmlns:a16="http://schemas.microsoft.com/office/drawing/2014/main" id="{BF9F2C98-5A13-33BE-0141-C04D69411F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15400" y="486160"/>
            <a:ext cx="2619166" cy="889528"/>
          </a:xfrm>
          <a:prstGeom prst="rect">
            <a:avLst/>
          </a:prstGeom>
          <a:noFill/>
          <a:extLst>
            <a:ext uri="{909E8E84-426E-40DD-AFC4-6F175D3DCCD1}">
              <a14:hiddenFill xmlns:a14="http://schemas.microsoft.com/office/drawing/2010/main">
                <a:solidFill>
                  <a:srgbClr val="FFFFFF"/>
                </a:solidFill>
              </a14:hiddenFill>
            </a:ext>
          </a:extLst>
        </p:spPr>
      </p:pic>
      <p:sp>
        <p:nvSpPr>
          <p:cNvPr id="5" name="CasellaDiTesto 4">
            <a:extLst>
              <a:ext uri="{FF2B5EF4-FFF2-40B4-BE49-F238E27FC236}">
                <a16:creationId xmlns:a16="http://schemas.microsoft.com/office/drawing/2014/main" id="{A9BB2BC8-9DC2-8DC8-6A5D-C2C9C777B6E6}"/>
              </a:ext>
            </a:extLst>
          </p:cNvPr>
          <p:cNvSpPr txBox="1"/>
          <p:nvPr/>
        </p:nvSpPr>
        <p:spPr>
          <a:xfrm>
            <a:off x="1257300" y="3075646"/>
            <a:ext cx="9677400" cy="954107"/>
          </a:xfrm>
          <a:prstGeom prst="rect">
            <a:avLst/>
          </a:prstGeom>
          <a:noFill/>
        </p:spPr>
        <p:txBody>
          <a:bodyPr wrap="square" rtlCol="0">
            <a:spAutoFit/>
          </a:bodyPr>
          <a:lstStyle/>
          <a:p>
            <a:pPr algn="ctr"/>
            <a:r>
              <a:rPr lang="en-US" sz="2800" dirty="0">
                <a:latin typeface="Aptos" panose="020B0004020202020204" pitchFamily="34" charset="0"/>
              </a:rPr>
              <a:t>A Microservices Architecture for Clinical Decision Support</a:t>
            </a:r>
          </a:p>
          <a:p>
            <a:pPr algn="ctr"/>
            <a:r>
              <a:rPr lang="en-US" sz="2800" dirty="0">
                <a:latin typeface="Aptos" panose="020B0004020202020204" pitchFamily="34" charset="0"/>
              </a:rPr>
              <a:t>with Explainable AI</a:t>
            </a:r>
          </a:p>
        </p:txBody>
      </p:sp>
      <p:sp>
        <p:nvSpPr>
          <p:cNvPr id="6" name="CasellaDiTesto 5">
            <a:extLst>
              <a:ext uri="{FF2B5EF4-FFF2-40B4-BE49-F238E27FC236}">
                <a16:creationId xmlns:a16="http://schemas.microsoft.com/office/drawing/2014/main" id="{0154D679-D22A-5AB2-F951-4013E483763F}"/>
              </a:ext>
            </a:extLst>
          </p:cNvPr>
          <p:cNvSpPr txBox="1"/>
          <p:nvPr/>
        </p:nvSpPr>
        <p:spPr>
          <a:xfrm>
            <a:off x="8427884" y="4439839"/>
            <a:ext cx="2773516" cy="1815882"/>
          </a:xfrm>
          <a:prstGeom prst="rect">
            <a:avLst/>
          </a:prstGeom>
          <a:noFill/>
        </p:spPr>
        <p:txBody>
          <a:bodyPr wrap="none" rtlCol="0">
            <a:spAutoFit/>
          </a:bodyPr>
          <a:lstStyle/>
          <a:p>
            <a:pPr algn="l"/>
            <a:r>
              <a:rPr lang="it-IT" sz="2800" b="1">
                <a:latin typeface="Aptos" panose="020B0004020202020204" pitchFamily="34" charset="0"/>
              </a:rPr>
              <a:t>Group 9:</a:t>
            </a:r>
          </a:p>
          <a:p>
            <a:pPr algn="l"/>
            <a:r>
              <a:rPr lang="it-IT" sz="2800">
                <a:latin typeface="Aptos" panose="020B0004020202020204" pitchFamily="34" charset="0"/>
              </a:rPr>
              <a:t>Roberto Carriero</a:t>
            </a:r>
          </a:p>
          <a:p>
            <a:pPr algn="l"/>
            <a:r>
              <a:rPr lang="it-IT" sz="2800">
                <a:latin typeface="Aptos" panose="020B0004020202020204" pitchFamily="34" charset="0"/>
              </a:rPr>
              <a:t>Luca Cianci</a:t>
            </a:r>
          </a:p>
          <a:p>
            <a:pPr algn="l"/>
            <a:r>
              <a:rPr lang="it-IT" sz="2800">
                <a:latin typeface="Aptos" panose="020B0004020202020204" pitchFamily="34" charset="0"/>
              </a:rPr>
              <a:t>Luca Serio</a:t>
            </a:r>
          </a:p>
        </p:txBody>
      </p:sp>
      <p:sp>
        <p:nvSpPr>
          <p:cNvPr id="7" name="CasellaDiTesto 6">
            <a:extLst>
              <a:ext uri="{FF2B5EF4-FFF2-40B4-BE49-F238E27FC236}">
                <a16:creationId xmlns:a16="http://schemas.microsoft.com/office/drawing/2014/main" id="{D0815B8B-2A81-8CC3-FBB7-F00F7F512C4A}"/>
              </a:ext>
            </a:extLst>
          </p:cNvPr>
          <p:cNvSpPr txBox="1"/>
          <p:nvPr/>
        </p:nvSpPr>
        <p:spPr>
          <a:xfrm>
            <a:off x="990600" y="4439839"/>
            <a:ext cx="4188967" cy="954107"/>
          </a:xfrm>
          <a:prstGeom prst="rect">
            <a:avLst/>
          </a:prstGeom>
          <a:noFill/>
        </p:spPr>
        <p:txBody>
          <a:bodyPr wrap="none" rtlCol="0">
            <a:spAutoFit/>
          </a:bodyPr>
          <a:lstStyle/>
          <a:p>
            <a:pPr algn="l"/>
            <a:r>
              <a:rPr lang="it-IT" sz="2800" b="1">
                <a:latin typeface="Aptos" panose="020B0004020202020204" pitchFamily="34" charset="0"/>
              </a:rPr>
              <a:t>Supervisor:</a:t>
            </a:r>
          </a:p>
          <a:p>
            <a:pPr algn="l"/>
            <a:r>
              <a:rPr lang="it-IT" sz="2800">
                <a:latin typeface="Aptos" panose="020B0004020202020204" pitchFamily="34" charset="0"/>
              </a:rPr>
              <a:t>Prof.ssa Marina Mongiello</a:t>
            </a:r>
          </a:p>
        </p:txBody>
      </p:sp>
    </p:spTree>
    <p:extLst>
      <p:ext uri="{BB962C8B-B14F-4D97-AF65-F5344CB8AC3E}">
        <p14:creationId xmlns:p14="http://schemas.microsoft.com/office/powerpoint/2010/main" val="236093146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A1ADF-4125-7300-E034-A8A468F32AD0}"/>
            </a:ext>
          </a:extLst>
        </p:cNvPr>
        <p:cNvGrpSpPr/>
        <p:nvPr/>
      </p:nvGrpSpPr>
      <p:grpSpPr>
        <a:xfrm>
          <a:off x="0" y="0"/>
          <a:ext cx="0" cy="0"/>
          <a:chOff x="0" y="0"/>
          <a:chExt cx="0" cy="0"/>
        </a:xfrm>
      </p:grpSpPr>
      <p:pic>
        <p:nvPicPr>
          <p:cNvPr id="20" name="Picture 4" descr="Photo by Luca Cianci on September 19, 2025. May be an image of dinner jacket.">
            <a:extLst>
              <a:ext uri="{FF2B5EF4-FFF2-40B4-BE49-F238E27FC236}">
                <a16:creationId xmlns:a16="http://schemas.microsoft.com/office/drawing/2014/main" id="{BCA29048-84C2-DC49-6173-4A0AE17832F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289" t="172" r="30451" b="60823"/>
          <a:stretch>
            <a:fillRect/>
          </a:stretch>
        </p:blipFill>
        <p:spPr bwMode="auto">
          <a:xfrm>
            <a:off x="8452710" y="2213576"/>
            <a:ext cx="2785182" cy="2726412"/>
          </a:xfrm>
          <a:prstGeom prst="flowChartConnector">
            <a:avLst/>
          </a:prstGeom>
          <a:noFill/>
          <a:effectLst>
            <a:innerShdw blurRad="279400" dist="50800" dir="13500000">
              <a:prstClr val="black">
                <a:alpha val="36000"/>
              </a:prstClr>
            </a:innerShdw>
            <a:reflection stA="0" endPos="65000" dist="50800" dir="5400000" sy="-100000" algn="bl" rotWithShape="0"/>
          </a:effectLst>
        </p:spPr>
      </p:pic>
      <p:grpSp>
        <p:nvGrpSpPr>
          <p:cNvPr id="9" name="object 9">
            <a:extLst>
              <a:ext uri="{FF2B5EF4-FFF2-40B4-BE49-F238E27FC236}">
                <a16:creationId xmlns:a16="http://schemas.microsoft.com/office/drawing/2014/main" id="{6B3111A3-4811-8066-0392-D1AAE8C7C2D6}"/>
              </a:ext>
            </a:extLst>
          </p:cNvPr>
          <p:cNvGrpSpPr/>
          <p:nvPr/>
        </p:nvGrpSpPr>
        <p:grpSpPr>
          <a:xfrm>
            <a:off x="-7209" y="6455826"/>
            <a:ext cx="12211050" cy="403860"/>
            <a:chOff x="-7209" y="6455826"/>
            <a:chExt cx="12211050" cy="403860"/>
          </a:xfrm>
          <a:solidFill>
            <a:srgbClr val="009999"/>
          </a:solidFill>
        </p:grpSpPr>
        <p:sp>
          <p:nvSpPr>
            <p:cNvPr id="10" name="object 10">
              <a:extLst>
                <a:ext uri="{FF2B5EF4-FFF2-40B4-BE49-F238E27FC236}">
                  <a16:creationId xmlns:a16="http://schemas.microsoft.com/office/drawing/2014/main" id="{A0DD81D7-54EE-8605-B018-ED7360F15C49}"/>
                </a:ext>
              </a:extLst>
            </p:cNvPr>
            <p:cNvSpPr/>
            <p:nvPr/>
          </p:nvSpPr>
          <p:spPr>
            <a:xfrm>
              <a:off x="2315" y="6465351"/>
              <a:ext cx="12192000" cy="384810"/>
            </a:xfrm>
            <a:custGeom>
              <a:avLst/>
              <a:gdLst/>
              <a:ahLst/>
              <a:cxnLst/>
              <a:rect l="l" t="t" r="r" b="b"/>
              <a:pathLst>
                <a:path w="12192000" h="384809">
                  <a:moveTo>
                    <a:pt x="12191619" y="0"/>
                  </a:moveTo>
                  <a:lnTo>
                    <a:pt x="0" y="0"/>
                  </a:lnTo>
                  <a:lnTo>
                    <a:pt x="0" y="384657"/>
                  </a:lnTo>
                  <a:lnTo>
                    <a:pt x="12191619" y="384657"/>
                  </a:lnTo>
                  <a:lnTo>
                    <a:pt x="12191619" y="0"/>
                  </a:lnTo>
                  <a:close/>
                </a:path>
              </a:pathLst>
            </a:custGeom>
            <a:grpFill/>
          </p:spPr>
          <p:txBody>
            <a:bodyPr wrap="square" lIns="0" tIns="0" rIns="0" bIns="0" rtlCol="0"/>
            <a:lstStyle/>
            <a:p>
              <a:endParaRPr/>
            </a:p>
          </p:txBody>
        </p:sp>
        <p:sp>
          <p:nvSpPr>
            <p:cNvPr id="11" name="object 11">
              <a:extLst>
                <a:ext uri="{FF2B5EF4-FFF2-40B4-BE49-F238E27FC236}">
                  <a16:creationId xmlns:a16="http://schemas.microsoft.com/office/drawing/2014/main" id="{D5585EF9-93AC-7039-29FA-AB3527CC4D4D}"/>
                </a:ext>
              </a:extLst>
            </p:cNvPr>
            <p:cNvSpPr/>
            <p:nvPr/>
          </p:nvSpPr>
          <p:spPr>
            <a:xfrm>
              <a:off x="2315" y="6465351"/>
              <a:ext cx="12192000" cy="384810"/>
            </a:xfrm>
            <a:custGeom>
              <a:avLst/>
              <a:gdLst/>
              <a:ahLst/>
              <a:cxnLst/>
              <a:rect l="l" t="t" r="r" b="b"/>
              <a:pathLst>
                <a:path w="12192000" h="384809">
                  <a:moveTo>
                    <a:pt x="0" y="384657"/>
                  </a:moveTo>
                  <a:lnTo>
                    <a:pt x="12191619" y="384657"/>
                  </a:lnTo>
                  <a:lnTo>
                    <a:pt x="12191619" y="0"/>
                  </a:lnTo>
                  <a:lnTo>
                    <a:pt x="0" y="0"/>
                  </a:lnTo>
                  <a:lnTo>
                    <a:pt x="0" y="384657"/>
                  </a:lnTo>
                  <a:close/>
                </a:path>
              </a:pathLst>
            </a:custGeom>
            <a:grpFill/>
            <a:ln w="19050">
              <a:solidFill>
                <a:srgbClr val="009999"/>
              </a:solidFill>
            </a:ln>
          </p:spPr>
          <p:txBody>
            <a:bodyPr wrap="square" lIns="0" tIns="0" rIns="0" bIns="0" rtlCol="0"/>
            <a:lstStyle/>
            <a:p>
              <a:endParaRPr/>
            </a:p>
          </p:txBody>
        </p:sp>
      </p:grpSp>
      <p:sp>
        <p:nvSpPr>
          <p:cNvPr id="16" name="CasellaDiTesto 15">
            <a:extLst>
              <a:ext uri="{FF2B5EF4-FFF2-40B4-BE49-F238E27FC236}">
                <a16:creationId xmlns:a16="http://schemas.microsoft.com/office/drawing/2014/main" id="{7E42436B-96CA-31FC-044B-DF82F95FE32F}"/>
              </a:ext>
            </a:extLst>
          </p:cNvPr>
          <p:cNvSpPr txBox="1"/>
          <p:nvPr/>
        </p:nvSpPr>
        <p:spPr>
          <a:xfrm>
            <a:off x="10394926" y="6480829"/>
            <a:ext cx="1689886" cy="369332"/>
          </a:xfrm>
          <a:prstGeom prst="rect">
            <a:avLst/>
          </a:prstGeom>
          <a:noFill/>
        </p:spPr>
        <p:txBody>
          <a:bodyPr wrap="none" rtlCol="0">
            <a:spAutoFit/>
          </a:bodyPr>
          <a:lstStyle/>
          <a:p>
            <a:pPr algn="ctr"/>
            <a:r>
              <a:rPr lang="it-IT">
                <a:solidFill>
                  <a:schemeClr val="bg1"/>
                </a:solidFill>
                <a:latin typeface="Aptos" panose="020B0004020202020204" pitchFamily="34" charset="0"/>
              </a:rPr>
              <a:t>A.Y. 2025/2026</a:t>
            </a:r>
          </a:p>
        </p:txBody>
      </p:sp>
      <p:sp>
        <p:nvSpPr>
          <p:cNvPr id="3" name="CasellaDiTesto 2">
            <a:extLst>
              <a:ext uri="{FF2B5EF4-FFF2-40B4-BE49-F238E27FC236}">
                <a16:creationId xmlns:a16="http://schemas.microsoft.com/office/drawing/2014/main" id="{EB3DBFC3-77F2-790A-809B-BDF5EC815917}"/>
              </a:ext>
            </a:extLst>
          </p:cNvPr>
          <p:cNvSpPr txBox="1"/>
          <p:nvPr/>
        </p:nvSpPr>
        <p:spPr>
          <a:xfrm>
            <a:off x="772012" y="467234"/>
            <a:ext cx="4448654" cy="1015663"/>
          </a:xfrm>
          <a:prstGeom prst="rect">
            <a:avLst/>
          </a:prstGeom>
          <a:noFill/>
        </p:spPr>
        <p:txBody>
          <a:bodyPr wrap="none" rtlCol="0">
            <a:spAutoFit/>
          </a:bodyPr>
          <a:lstStyle/>
          <a:p>
            <a:r>
              <a:rPr lang="it-IT" sz="6000" b="1" dirty="0">
                <a:latin typeface="Aptos" panose="020B0004020202020204" pitchFamily="34" charset="0"/>
              </a:rPr>
              <a:t>Who </a:t>
            </a:r>
            <a:r>
              <a:rPr lang="it-IT" sz="6000" b="1" dirty="0" err="1">
                <a:latin typeface="Aptos" panose="020B0004020202020204" pitchFamily="34" charset="0"/>
              </a:rPr>
              <a:t>We</a:t>
            </a:r>
            <a:r>
              <a:rPr lang="it-IT" sz="6000" b="1" dirty="0">
                <a:latin typeface="Aptos" panose="020B0004020202020204" pitchFamily="34" charset="0"/>
              </a:rPr>
              <a:t> Are</a:t>
            </a:r>
          </a:p>
        </p:txBody>
      </p:sp>
      <p:sp>
        <p:nvSpPr>
          <p:cNvPr id="8" name="CasellaDiTesto 7">
            <a:extLst>
              <a:ext uri="{FF2B5EF4-FFF2-40B4-BE49-F238E27FC236}">
                <a16:creationId xmlns:a16="http://schemas.microsoft.com/office/drawing/2014/main" id="{EA461856-CBEB-1E9A-9216-84BA49B38DCC}"/>
              </a:ext>
            </a:extLst>
          </p:cNvPr>
          <p:cNvSpPr txBox="1"/>
          <p:nvPr/>
        </p:nvSpPr>
        <p:spPr>
          <a:xfrm>
            <a:off x="772012" y="5099159"/>
            <a:ext cx="2966720" cy="523220"/>
          </a:xfrm>
          <a:prstGeom prst="rect">
            <a:avLst/>
          </a:prstGeom>
          <a:noFill/>
        </p:spPr>
        <p:txBody>
          <a:bodyPr wrap="square" lIns="91440" tIns="45720" rIns="91440" bIns="45720" rtlCol="0" anchor="t">
            <a:spAutoFit/>
          </a:bodyPr>
          <a:lstStyle/>
          <a:p>
            <a:pPr algn="ctr"/>
            <a:r>
              <a:rPr lang="it-IT" sz="2800" dirty="0">
                <a:latin typeface="Aptos" panose="020B0004020202020204" pitchFamily="34" charset="0"/>
              </a:rPr>
              <a:t>Roberto</a:t>
            </a:r>
            <a:r>
              <a:rPr lang="it-IT" sz="2800" b="1" dirty="0">
                <a:latin typeface="Aptos" panose="020B0004020202020204" pitchFamily="34" charset="0"/>
              </a:rPr>
              <a:t> Carriero</a:t>
            </a:r>
            <a:endParaRPr lang="it-IT" dirty="0"/>
          </a:p>
        </p:txBody>
      </p:sp>
      <p:sp>
        <p:nvSpPr>
          <p:cNvPr id="12" name="CasellaDiTesto 11">
            <a:extLst>
              <a:ext uri="{FF2B5EF4-FFF2-40B4-BE49-F238E27FC236}">
                <a16:creationId xmlns:a16="http://schemas.microsoft.com/office/drawing/2014/main" id="{4728212F-648A-FD4F-4D2E-09EE41C1A620}"/>
              </a:ext>
            </a:extLst>
          </p:cNvPr>
          <p:cNvSpPr txBox="1"/>
          <p:nvPr/>
        </p:nvSpPr>
        <p:spPr>
          <a:xfrm>
            <a:off x="4639191" y="5099159"/>
            <a:ext cx="2966720" cy="523220"/>
          </a:xfrm>
          <a:prstGeom prst="rect">
            <a:avLst/>
          </a:prstGeom>
          <a:noFill/>
        </p:spPr>
        <p:txBody>
          <a:bodyPr wrap="square" lIns="91440" tIns="45720" rIns="91440" bIns="45720" rtlCol="0" anchor="t">
            <a:spAutoFit/>
          </a:bodyPr>
          <a:lstStyle/>
          <a:p>
            <a:pPr algn="ctr"/>
            <a:r>
              <a:rPr lang="it-IT" sz="2800" dirty="0">
                <a:latin typeface="Aptos" panose="020B0004020202020204" pitchFamily="34" charset="0"/>
              </a:rPr>
              <a:t>Luca</a:t>
            </a:r>
            <a:r>
              <a:rPr lang="it-IT" sz="2800" b="1" dirty="0">
                <a:latin typeface="Aptos" panose="020B0004020202020204" pitchFamily="34" charset="0"/>
              </a:rPr>
              <a:t> Serio</a:t>
            </a:r>
            <a:endParaRPr lang="it-IT" dirty="0"/>
          </a:p>
        </p:txBody>
      </p:sp>
      <p:sp>
        <p:nvSpPr>
          <p:cNvPr id="13" name="CasellaDiTesto 12">
            <a:extLst>
              <a:ext uri="{FF2B5EF4-FFF2-40B4-BE49-F238E27FC236}">
                <a16:creationId xmlns:a16="http://schemas.microsoft.com/office/drawing/2014/main" id="{AE8A1708-C83B-6A83-B163-D5A96960A3D5}"/>
              </a:ext>
            </a:extLst>
          </p:cNvPr>
          <p:cNvSpPr txBox="1"/>
          <p:nvPr/>
        </p:nvSpPr>
        <p:spPr>
          <a:xfrm>
            <a:off x="8362219" y="5099159"/>
            <a:ext cx="2966720" cy="523220"/>
          </a:xfrm>
          <a:prstGeom prst="rect">
            <a:avLst/>
          </a:prstGeom>
          <a:noFill/>
        </p:spPr>
        <p:txBody>
          <a:bodyPr wrap="square" lIns="91440" tIns="45720" rIns="91440" bIns="45720" rtlCol="0" anchor="t">
            <a:spAutoFit/>
          </a:bodyPr>
          <a:lstStyle/>
          <a:p>
            <a:pPr algn="ctr"/>
            <a:r>
              <a:rPr lang="it-IT" sz="2800" dirty="0">
                <a:latin typeface="Aptos" panose="020B0004020202020204" pitchFamily="34" charset="0"/>
              </a:rPr>
              <a:t>Luca</a:t>
            </a:r>
            <a:r>
              <a:rPr lang="it-IT" sz="2800" b="1" dirty="0">
                <a:latin typeface="Aptos" panose="020B0004020202020204" pitchFamily="34" charset="0"/>
              </a:rPr>
              <a:t> Cianci</a:t>
            </a:r>
            <a:endParaRPr lang="it-IT" dirty="0"/>
          </a:p>
        </p:txBody>
      </p:sp>
      <p:pic>
        <p:nvPicPr>
          <p:cNvPr id="19" name="Immagine 18" descr="Immagine che contiene persona, Viso umano, vestiti, cravatta&#10;&#10;Il contenuto generato dall'IA potrebbe non essere corretto.">
            <a:extLst>
              <a:ext uri="{FF2B5EF4-FFF2-40B4-BE49-F238E27FC236}">
                <a16:creationId xmlns:a16="http://schemas.microsoft.com/office/drawing/2014/main" id="{F5289317-0D67-D6AC-974B-3EC67C14E328}"/>
              </a:ext>
            </a:extLst>
          </p:cNvPr>
          <p:cNvPicPr>
            <a:picLocks noChangeAspect="1"/>
          </p:cNvPicPr>
          <p:nvPr/>
        </p:nvPicPr>
        <p:blipFill>
          <a:blip r:embed="rId4">
            <a:extLst>
              <a:ext uri="{28A0092B-C50C-407E-A947-70E740481C1C}">
                <a14:useLocalDpi xmlns:a14="http://schemas.microsoft.com/office/drawing/2010/main" val="0"/>
              </a:ext>
            </a:extLst>
          </a:blip>
          <a:srcRect t="13636" b="24562"/>
          <a:stretch>
            <a:fillRect/>
          </a:stretch>
        </p:blipFill>
        <p:spPr>
          <a:xfrm>
            <a:off x="867808" y="2135239"/>
            <a:ext cx="2775105" cy="2726412"/>
          </a:xfrm>
          <a:prstGeom prst="ellipse">
            <a:avLst/>
          </a:prstGeom>
          <a:effectLst>
            <a:innerShdw blurRad="279400" dist="50800" dir="13500000">
              <a:prstClr val="black">
                <a:alpha val="36000"/>
              </a:prstClr>
            </a:innerShdw>
          </a:effectLst>
        </p:spPr>
      </p:pic>
      <p:pic>
        <p:nvPicPr>
          <p:cNvPr id="1026" name="Picture 2" descr="Photo by Luca Serio on September 22, 2025. May be an image of bowtie.">
            <a:extLst>
              <a:ext uri="{FF2B5EF4-FFF2-40B4-BE49-F238E27FC236}">
                <a16:creationId xmlns:a16="http://schemas.microsoft.com/office/drawing/2014/main" id="{8B1D00FE-3D0B-B792-A81E-EB2169FB01C8}"/>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5972" t="18485" r="19823" b="32191"/>
          <a:stretch>
            <a:fillRect/>
          </a:stretch>
        </p:blipFill>
        <p:spPr bwMode="auto">
          <a:xfrm>
            <a:off x="4729853" y="2135239"/>
            <a:ext cx="2767205" cy="2726412"/>
          </a:xfrm>
          <a:prstGeom prst="ellipse">
            <a:avLst/>
          </a:prstGeom>
          <a:noFill/>
          <a:effectLst>
            <a:innerShdw blurRad="279400" dist="50800" dir="13500000">
              <a:prstClr val="black">
                <a:alpha val="36000"/>
              </a:prstClr>
            </a:innerShdw>
          </a:effectLst>
          <a:extLst>
            <a:ext uri="{909E8E84-426E-40DD-AFC4-6F175D3DCCD1}">
              <a14:hiddenFill xmlns:a14="http://schemas.microsoft.com/office/drawing/2010/main">
                <a:solidFill>
                  <a:srgbClr val="FFFFFF"/>
                </a:solidFill>
              </a14:hiddenFill>
            </a:ext>
          </a:extLst>
        </p:spPr>
      </p:pic>
      <p:sp>
        <p:nvSpPr>
          <p:cNvPr id="2" name="CasellaDiTesto 1">
            <a:extLst>
              <a:ext uri="{FF2B5EF4-FFF2-40B4-BE49-F238E27FC236}">
                <a16:creationId xmlns:a16="http://schemas.microsoft.com/office/drawing/2014/main" id="{13AAD075-0AB8-3445-E289-9C71A0AECA52}"/>
              </a:ext>
            </a:extLst>
          </p:cNvPr>
          <p:cNvSpPr txBox="1"/>
          <p:nvPr/>
        </p:nvSpPr>
        <p:spPr>
          <a:xfrm>
            <a:off x="1037287" y="6473090"/>
            <a:ext cx="2084225" cy="369332"/>
          </a:xfrm>
          <a:prstGeom prst="rect">
            <a:avLst/>
          </a:prstGeom>
          <a:noFill/>
        </p:spPr>
        <p:txBody>
          <a:bodyPr wrap="none" rtlCol="0">
            <a:spAutoFit/>
          </a:bodyPr>
          <a:lstStyle/>
          <a:p>
            <a:pPr algn="ctr"/>
            <a:r>
              <a:rPr lang="it-IT" dirty="0" err="1">
                <a:solidFill>
                  <a:schemeClr val="bg1"/>
                </a:solidFill>
                <a:latin typeface="Aptos" panose="020B0004020202020204" pitchFamily="34" charset="0"/>
              </a:rPr>
              <a:t>EarlyCare</a:t>
            </a:r>
            <a:r>
              <a:rPr lang="it-IT" dirty="0">
                <a:solidFill>
                  <a:schemeClr val="bg1"/>
                </a:solidFill>
                <a:latin typeface="Aptos" panose="020B0004020202020204" pitchFamily="34" charset="0"/>
              </a:rPr>
              <a:t> Gateway</a:t>
            </a:r>
          </a:p>
        </p:txBody>
      </p:sp>
      <p:sp>
        <p:nvSpPr>
          <p:cNvPr id="4" name="CasellaDiTesto 3">
            <a:extLst>
              <a:ext uri="{FF2B5EF4-FFF2-40B4-BE49-F238E27FC236}">
                <a16:creationId xmlns:a16="http://schemas.microsoft.com/office/drawing/2014/main" id="{0C9858A0-B291-613A-E9B2-E47E425B840D}"/>
              </a:ext>
            </a:extLst>
          </p:cNvPr>
          <p:cNvSpPr txBox="1"/>
          <p:nvPr/>
        </p:nvSpPr>
        <p:spPr>
          <a:xfrm>
            <a:off x="84328" y="6473090"/>
            <a:ext cx="1104791" cy="369332"/>
          </a:xfrm>
          <a:prstGeom prst="rect">
            <a:avLst/>
          </a:prstGeom>
          <a:noFill/>
        </p:spPr>
        <p:txBody>
          <a:bodyPr wrap="none" rtlCol="0">
            <a:spAutoFit/>
          </a:bodyPr>
          <a:lstStyle/>
          <a:p>
            <a:pPr algn="ctr"/>
            <a:r>
              <a:rPr lang="it-IT" dirty="0">
                <a:solidFill>
                  <a:schemeClr val="bg1"/>
                </a:solidFill>
                <a:latin typeface="Aptos" panose="020B0004020202020204" pitchFamily="34" charset="0"/>
              </a:rPr>
              <a:t>Group 9 -</a:t>
            </a:r>
          </a:p>
        </p:txBody>
      </p:sp>
    </p:spTree>
    <p:extLst>
      <p:ext uri="{BB962C8B-B14F-4D97-AF65-F5344CB8AC3E}">
        <p14:creationId xmlns:p14="http://schemas.microsoft.com/office/powerpoint/2010/main" val="128100182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descr="Pronto Soccorso e Triage - Delta Informatica">
            <a:extLst>
              <a:ext uri="{FF2B5EF4-FFF2-40B4-BE49-F238E27FC236}">
                <a16:creationId xmlns:a16="http://schemas.microsoft.com/office/drawing/2014/main" id="{CFAF91A9-5D42-F314-A839-F6638B4123CC}"/>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6035" t="13033" r="7759" b="17228"/>
          <a:stretch>
            <a:fillRect/>
          </a:stretch>
        </p:blipFill>
        <p:spPr bwMode="auto">
          <a:xfrm>
            <a:off x="7887483" y="3102864"/>
            <a:ext cx="3875381" cy="2612574"/>
          </a:xfrm>
          <a:prstGeom prst="rect">
            <a:avLst/>
          </a:prstGeom>
          <a:noFill/>
          <a:extLst>
            <a:ext uri="{909E8E84-426E-40DD-AFC4-6F175D3DCCD1}">
              <a14:hiddenFill xmlns:a14="http://schemas.microsoft.com/office/drawing/2010/main">
                <a:solidFill>
                  <a:srgbClr val="FFFFFF"/>
                </a:solidFill>
              </a14:hiddenFill>
            </a:ext>
          </a:extLst>
        </p:spPr>
      </p:pic>
      <p:grpSp>
        <p:nvGrpSpPr>
          <p:cNvPr id="2" name="object 9">
            <a:extLst>
              <a:ext uri="{FF2B5EF4-FFF2-40B4-BE49-F238E27FC236}">
                <a16:creationId xmlns:a16="http://schemas.microsoft.com/office/drawing/2014/main" id="{6BBE9099-5CDD-3007-1210-B543A3A8E003}"/>
              </a:ext>
            </a:extLst>
          </p:cNvPr>
          <p:cNvGrpSpPr/>
          <p:nvPr/>
        </p:nvGrpSpPr>
        <p:grpSpPr>
          <a:xfrm>
            <a:off x="-7209" y="6455826"/>
            <a:ext cx="12211050" cy="403860"/>
            <a:chOff x="-7209" y="6455826"/>
            <a:chExt cx="12211050" cy="403860"/>
          </a:xfrm>
          <a:solidFill>
            <a:srgbClr val="009999"/>
          </a:solidFill>
        </p:grpSpPr>
        <p:sp>
          <p:nvSpPr>
            <p:cNvPr id="3" name="object 10">
              <a:extLst>
                <a:ext uri="{FF2B5EF4-FFF2-40B4-BE49-F238E27FC236}">
                  <a16:creationId xmlns:a16="http://schemas.microsoft.com/office/drawing/2014/main" id="{9BD870F1-AEB6-F68B-D98F-589DE7126AB9}"/>
                </a:ext>
              </a:extLst>
            </p:cNvPr>
            <p:cNvSpPr/>
            <p:nvPr/>
          </p:nvSpPr>
          <p:spPr>
            <a:xfrm>
              <a:off x="2315" y="6465351"/>
              <a:ext cx="12192000" cy="384810"/>
            </a:xfrm>
            <a:custGeom>
              <a:avLst/>
              <a:gdLst/>
              <a:ahLst/>
              <a:cxnLst/>
              <a:rect l="l" t="t" r="r" b="b"/>
              <a:pathLst>
                <a:path w="12192000" h="384809">
                  <a:moveTo>
                    <a:pt x="12191619" y="0"/>
                  </a:moveTo>
                  <a:lnTo>
                    <a:pt x="0" y="0"/>
                  </a:lnTo>
                  <a:lnTo>
                    <a:pt x="0" y="384657"/>
                  </a:lnTo>
                  <a:lnTo>
                    <a:pt x="12191619" y="384657"/>
                  </a:lnTo>
                  <a:lnTo>
                    <a:pt x="12191619" y="0"/>
                  </a:lnTo>
                  <a:close/>
                </a:path>
              </a:pathLst>
            </a:custGeom>
            <a:grpFill/>
          </p:spPr>
          <p:txBody>
            <a:bodyPr wrap="square" lIns="0" tIns="0" rIns="0" bIns="0" rtlCol="0"/>
            <a:lstStyle/>
            <a:p>
              <a:endParaRPr/>
            </a:p>
          </p:txBody>
        </p:sp>
        <p:sp>
          <p:nvSpPr>
            <p:cNvPr id="4" name="object 11">
              <a:extLst>
                <a:ext uri="{FF2B5EF4-FFF2-40B4-BE49-F238E27FC236}">
                  <a16:creationId xmlns:a16="http://schemas.microsoft.com/office/drawing/2014/main" id="{DA979EE0-288E-6566-E518-4C99150B0A66}"/>
                </a:ext>
              </a:extLst>
            </p:cNvPr>
            <p:cNvSpPr/>
            <p:nvPr/>
          </p:nvSpPr>
          <p:spPr>
            <a:xfrm>
              <a:off x="2315" y="6465351"/>
              <a:ext cx="12192000" cy="384810"/>
            </a:xfrm>
            <a:custGeom>
              <a:avLst/>
              <a:gdLst/>
              <a:ahLst/>
              <a:cxnLst/>
              <a:rect l="l" t="t" r="r" b="b"/>
              <a:pathLst>
                <a:path w="12192000" h="384809">
                  <a:moveTo>
                    <a:pt x="0" y="384657"/>
                  </a:moveTo>
                  <a:lnTo>
                    <a:pt x="12191619" y="384657"/>
                  </a:lnTo>
                  <a:lnTo>
                    <a:pt x="12191619" y="0"/>
                  </a:lnTo>
                  <a:lnTo>
                    <a:pt x="0" y="0"/>
                  </a:lnTo>
                  <a:lnTo>
                    <a:pt x="0" y="384657"/>
                  </a:lnTo>
                  <a:close/>
                </a:path>
              </a:pathLst>
            </a:custGeom>
            <a:grpFill/>
            <a:ln w="19050">
              <a:solidFill>
                <a:srgbClr val="009999"/>
              </a:solidFill>
            </a:ln>
          </p:spPr>
          <p:txBody>
            <a:bodyPr wrap="square" lIns="0" tIns="0" rIns="0" bIns="0" rtlCol="0"/>
            <a:lstStyle/>
            <a:p>
              <a:endParaRPr/>
            </a:p>
          </p:txBody>
        </p:sp>
      </p:grpSp>
      <p:sp>
        <p:nvSpPr>
          <p:cNvPr id="16" name="CasellaDiTesto 15">
            <a:extLst>
              <a:ext uri="{FF2B5EF4-FFF2-40B4-BE49-F238E27FC236}">
                <a16:creationId xmlns:a16="http://schemas.microsoft.com/office/drawing/2014/main" id="{5BA55FC4-151F-27B2-172B-5CD5332FE2A5}"/>
              </a:ext>
            </a:extLst>
          </p:cNvPr>
          <p:cNvSpPr txBox="1"/>
          <p:nvPr/>
        </p:nvSpPr>
        <p:spPr>
          <a:xfrm>
            <a:off x="11698856" y="6480829"/>
            <a:ext cx="308097" cy="369332"/>
          </a:xfrm>
          <a:prstGeom prst="rect">
            <a:avLst/>
          </a:prstGeom>
          <a:noFill/>
        </p:spPr>
        <p:txBody>
          <a:bodyPr wrap="none" rtlCol="0">
            <a:spAutoFit/>
          </a:bodyPr>
          <a:lstStyle/>
          <a:p>
            <a:pPr algn="ctr"/>
            <a:r>
              <a:rPr lang="it-IT">
                <a:solidFill>
                  <a:schemeClr val="bg1"/>
                </a:solidFill>
                <a:latin typeface="Aptos" panose="020B0004020202020204" pitchFamily="34" charset="0"/>
              </a:rPr>
              <a:t>1</a:t>
            </a:r>
          </a:p>
        </p:txBody>
      </p:sp>
      <p:sp>
        <p:nvSpPr>
          <p:cNvPr id="19" name="CasellaDiTesto 18">
            <a:extLst>
              <a:ext uri="{FF2B5EF4-FFF2-40B4-BE49-F238E27FC236}">
                <a16:creationId xmlns:a16="http://schemas.microsoft.com/office/drawing/2014/main" id="{89A47F04-4709-7E4F-5150-AC3A593ED5A3}"/>
              </a:ext>
            </a:extLst>
          </p:cNvPr>
          <p:cNvSpPr txBox="1"/>
          <p:nvPr/>
        </p:nvSpPr>
        <p:spPr>
          <a:xfrm>
            <a:off x="609600" y="381000"/>
            <a:ext cx="4541628" cy="1015663"/>
          </a:xfrm>
          <a:prstGeom prst="rect">
            <a:avLst/>
          </a:prstGeom>
          <a:noFill/>
        </p:spPr>
        <p:txBody>
          <a:bodyPr wrap="none" rtlCol="0">
            <a:spAutoFit/>
          </a:bodyPr>
          <a:lstStyle/>
          <a:p>
            <a:r>
              <a:rPr lang="it-IT" sz="6000" b="1" err="1">
                <a:latin typeface="Aptos" panose="020B0004020202020204" pitchFamily="34" charset="0"/>
              </a:rPr>
              <a:t>Introduction</a:t>
            </a:r>
            <a:endParaRPr lang="it-IT" sz="6000" b="1">
              <a:latin typeface="Aptos" panose="020B0004020202020204" pitchFamily="34" charset="0"/>
            </a:endParaRPr>
          </a:p>
        </p:txBody>
      </p:sp>
      <p:sp>
        <p:nvSpPr>
          <p:cNvPr id="21" name="CasellaDiTesto 20">
            <a:extLst>
              <a:ext uri="{FF2B5EF4-FFF2-40B4-BE49-F238E27FC236}">
                <a16:creationId xmlns:a16="http://schemas.microsoft.com/office/drawing/2014/main" id="{4E877240-2B0A-8841-50EC-13E979DD0AF6}"/>
              </a:ext>
            </a:extLst>
          </p:cNvPr>
          <p:cNvSpPr txBox="1"/>
          <p:nvPr/>
        </p:nvSpPr>
        <p:spPr>
          <a:xfrm>
            <a:off x="609600" y="1404402"/>
            <a:ext cx="6903804" cy="4832092"/>
          </a:xfrm>
          <a:prstGeom prst="rect">
            <a:avLst/>
          </a:prstGeom>
          <a:noFill/>
        </p:spPr>
        <p:txBody>
          <a:bodyPr wrap="square" rtlCol="0">
            <a:spAutoFit/>
          </a:bodyPr>
          <a:lstStyle/>
          <a:p>
            <a:pPr algn="just"/>
            <a:r>
              <a:rPr lang="en-US" sz="2800" b="1" dirty="0">
                <a:latin typeface="Aptos" panose="020B0004020202020204" pitchFamily="34" charset="0"/>
              </a:rPr>
              <a:t>Problem</a:t>
            </a:r>
          </a:p>
          <a:p>
            <a:pPr algn="just"/>
            <a:endParaRPr lang="en-US" sz="1400" b="1" dirty="0">
              <a:latin typeface="Aptos" panose="020B0004020202020204" pitchFamily="34" charset="0"/>
            </a:endParaRPr>
          </a:p>
          <a:p>
            <a:pPr algn="just"/>
            <a:r>
              <a:rPr lang="it-IT" sz="2800" dirty="0">
                <a:latin typeface="Aptos" panose="020B0004020202020204" pitchFamily="34" charset="0"/>
              </a:rPr>
              <a:t>The </a:t>
            </a:r>
            <a:r>
              <a:rPr lang="it-IT" sz="2800" dirty="0" err="1">
                <a:latin typeface="Aptos" panose="020B0004020202020204" pitchFamily="34" charset="0"/>
              </a:rPr>
              <a:t>current</a:t>
            </a:r>
            <a:r>
              <a:rPr lang="it-IT" sz="2800" dirty="0">
                <a:latin typeface="Aptos" panose="020B0004020202020204" pitchFamily="34" charset="0"/>
              </a:rPr>
              <a:t> </a:t>
            </a:r>
            <a:r>
              <a:rPr lang="it-IT" sz="2800" b="1" dirty="0">
                <a:latin typeface="Aptos" panose="020B0004020202020204" pitchFamily="34" charset="0"/>
              </a:rPr>
              <a:t>triage </a:t>
            </a:r>
            <a:r>
              <a:rPr lang="it-IT" sz="2800" b="1" dirty="0" err="1">
                <a:latin typeface="Aptos" panose="020B0004020202020204" pitchFamily="34" charset="0"/>
              </a:rPr>
              <a:t>process</a:t>
            </a:r>
            <a:r>
              <a:rPr lang="it-IT" sz="2800" dirty="0">
                <a:latin typeface="Aptos" panose="020B0004020202020204" pitchFamily="34" charset="0"/>
              </a:rPr>
              <a:t> </a:t>
            </a:r>
            <a:r>
              <a:rPr lang="it-IT" sz="2800" dirty="0" err="1">
                <a:latin typeface="Aptos" panose="020B0004020202020204" pitchFamily="34" charset="0"/>
              </a:rPr>
              <a:t>is</a:t>
            </a:r>
            <a:r>
              <a:rPr lang="it-IT" sz="2800" dirty="0">
                <a:latin typeface="Aptos" panose="020B0004020202020204" pitchFamily="34" charset="0"/>
              </a:rPr>
              <a:t> </a:t>
            </a:r>
            <a:r>
              <a:rPr lang="it-IT" sz="2800" b="1" dirty="0" err="1">
                <a:latin typeface="Aptos" panose="020B0004020202020204" pitchFamily="34" charset="0"/>
              </a:rPr>
              <a:t>inefficient</a:t>
            </a:r>
            <a:r>
              <a:rPr lang="it-IT" sz="2800" dirty="0">
                <a:latin typeface="Aptos" panose="020B0004020202020204" pitchFamily="34" charset="0"/>
              </a:rPr>
              <a:t>:</a:t>
            </a:r>
          </a:p>
          <a:p>
            <a:pPr marL="457200" indent="-457200" algn="just">
              <a:buFont typeface="Arial" panose="020B0604020202020204" pitchFamily="34" charset="0"/>
              <a:buChar char="•"/>
            </a:pPr>
            <a:r>
              <a:rPr lang="it-IT" sz="2800" b="1" dirty="0" err="1">
                <a:latin typeface="Aptos" panose="020B0004020202020204" pitchFamily="34" charset="0"/>
              </a:rPr>
              <a:t>Shortage</a:t>
            </a:r>
            <a:r>
              <a:rPr lang="it-IT" sz="2800" dirty="0">
                <a:latin typeface="Aptos" panose="020B0004020202020204" pitchFamily="34" charset="0"/>
              </a:rPr>
              <a:t> of </a:t>
            </a:r>
            <a:r>
              <a:rPr lang="it-IT" sz="2800" dirty="0" err="1">
                <a:latin typeface="Aptos" panose="020B0004020202020204" pitchFamily="34" charset="0"/>
              </a:rPr>
              <a:t>healthcare</a:t>
            </a:r>
            <a:r>
              <a:rPr lang="it-IT" sz="2800" dirty="0">
                <a:latin typeface="Aptos" panose="020B0004020202020204" pitchFamily="34" charset="0"/>
              </a:rPr>
              <a:t> staff</a:t>
            </a:r>
          </a:p>
          <a:p>
            <a:pPr marL="457200" indent="-457200" algn="just">
              <a:buFont typeface="Arial" panose="020B0604020202020204" pitchFamily="34" charset="0"/>
              <a:buChar char="•"/>
            </a:pPr>
            <a:r>
              <a:rPr lang="it-IT" sz="2800" b="1" dirty="0">
                <a:latin typeface="Aptos" panose="020B0004020202020204" pitchFamily="34" charset="0"/>
              </a:rPr>
              <a:t>High</a:t>
            </a:r>
            <a:r>
              <a:rPr lang="it-IT" sz="2800" dirty="0">
                <a:latin typeface="Aptos" panose="020B0004020202020204" pitchFamily="34" charset="0"/>
              </a:rPr>
              <a:t> </a:t>
            </a:r>
            <a:r>
              <a:rPr lang="it-IT" sz="2800" dirty="0" err="1">
                <a:latin typeface="Aptos" panose="020B0004020202020204" pitchFamily="34" charset="0"/>
              </a:rPr>
              <a:t>patient</a:t>
            </a:r>
            <a:r>
              <a:rPr lang="it-IT" sz="2800" dirty="0">
                <a:latin typeface="Aptos" panose="020B0004020202020204" pitchFamily="34" charset="0"/>
              </a:rPr>
              <a:t> </a:t>
            </a:r>
            <a:r>
              <a:rPr lang="it-IT" sz="2800" dirty="0" err="1">
                <a:latin typeface="Aptos" panose="020B0004020202020204" pitchFamily="34" charset="0"/>
              </a:rPr>
              <a:t>inflow</a:t>
            </a:r>
            <a:endParaRPr lang="it-IT" sz="2800" dirty="0">
              <a:latin typeface="Aptos" panose="020B0004020202020204" pitchFamily="34" charset="0"/>
            </a:endParaRPr>
          </a:p>
          <a:p>
            <a:pPr marL="457200" indent="-457200" algn="just">
              <a:buFont typeface="Arial" panose="020B0604020202020204" pitchFamily="34" charset="0"/>
              <a:buChar char="•"/>
            </a:pPr>
            <a:r>
              <a:rPr lang="it-IT" sz="2800" b="1" dirty="0">
                <a:latin typeface="Aptos" panose="020B0004020202020204" pitchFamily="34" charset="0"/>
              </a:rPr>
              <a:t>Slow and </a:t>
            </a:r>
            <a:r>
              <a:rPr lang="it-IT" sz="2800" b="1" dirty="0" err="1">
                <a:latin typeface="Aptos" panose="020B0004020202020204" pitchFamily="34" charset="0"/>
              </a:rPr>
              <a:t>redundant</a:t>
            </a:r>
            <a:r>
              <a:rPr lang="it-IT" sz="2800" b="1" dirty="0">
                <a:latin typeface="Aptos" panose="020B0004020202020204" pitchFamily="34" charset="0"/>
              </a:rPr>
              <a:t> </a:t>
            </a:r>
            <a:r>
              <a:rPr lang="it-IT" sz="2800" dirty="0">
                <a:latin typeface="Aptos" panose="020B0004020202020204" pitchFamily="34" charset="0"/>
              </a:rPr>
              <a:t>decision-making </a:t>
            </a:r>
            <a:r>
              <a:rPr lang="it-IT" sz="2800" dirty="0" err="1">
                <a:latin typeface="Aptos" panose="020B0004020202020204" pitchFamily="34" charset="0"/>
              </a:rPr>
              <a:t>processes</a:t>
            </a:r>
            <a:endParaRPr lang="it-IT" sz="2800" dirty="0">
              <a:latin typeface="Aptos" panose="020B0004020202020204" pitchFamily="34" charset="0"/>
            </a:endParaRPr>
          </a:p>
          <a:p>
            <a:pPr marL="457200" indent="-457200" algn="just">
              <a:buFont typeface="Arial" panose="020B0604020202020204" pitchFamily="34" charset="0"/>
              <a:buChar char="•"/>
            </a:pPr>
            <a:endParaRPr lang="it-IT" sz="2800" b="1" dirty="0">
              <a:latin typeface="Aptos" panose="020B0004020202020204" pitchFamily="34" charset="0"/>
            </a:endParaRPr>
          </a:p>
          <a:p>
            <a:pPr algn="just"/>
            <a:r>
              <a:rPr lang="it-IT" sz="2800" b="1" dirty="0" err="1">
                <a:latin typeface="Aptos" panose="020B0004020202020204" pitchFamily="34" charset="0"/>
              </a:rPr>
              <a:t>Consequence</a:t>
            </a:r>
            <a:endParaRPr lang="it-IT" sz="2800" b="1" dirty="0">
              <a:latin typeface="Aptos" panose="020B0004020202020204" pitchFamily="34" charset="0"/>
            </a:endParaRPr>
          </a:p>
          <a:p>
            <a:pPr algn="just"/>
            <a:endParaRPr lang="it-IT" sz="1400" b="1" dirty="0">
              <a:latin typeface="Aptos" panose="020B0004020202020204" pitchFamily="34" charset="0"/>
            </a:endParaRPr>
          </a:p>
          <a:p>
            <a:pPr algn="just"/>
            <a:r>
              <a:rPr lang="en-US" sz="2800" dirty="0">
                <a:latin typeface="Aptos" panose="020B0004020202020204" pitchFamily="34" charset="0"/>
              </a:rPr>
              <a:t>Delays, errors, stress for medical staff</a:t>
            </a:r>
          </a:p>
          <a:p>
            <a:pPr algn="just"/>
            <a:r>
              <a:rPr lang="it-IT" sz="2800" dirty="0">
                <a:latin typeface="Aptos" panose="020B0004020202020204" pitchFamily="34" charset="0"/>
              </a:rPr>
              <a:t>→</a:t>
            </a:r>
            <a:r>
              <a:rPr lang="it-IT" sz="2800" b="1" dirty="0">
                <a:latin typeface="Aptos" panose="020B0004020202020204" pitchFamily="34" charset="0"/>
              </a:rPr>
              <a:t> </a:t>
            </a:r>
            <a:r>
              <a:rPr lang="en-US" sz="2800" b="1" dirty="0">
                <a:latin typeface="Aptos" panose="020B0004020202020204" pitchFamily="34" charset="0"/>
              </a:rPr>
              <a:t>Deterioration of the patient experience</a:t>
            </a:r>
            <a:endParaRPr lang="it-IT" sz="2800" b="1" dirty="0">
              <a:latin typeface="Aptos" panose="020B0004020202020204" pitchFamily="34" charset="0"/>
            </a:endParaRPr>
          </a:p>
        </p:txBody>
      </p:sp>
      <p:sp>
        <p:nvSpPr>
          <p:cNvPr id="7" name="CasellaDiTesto 6">
            <a:extLst>
              <a:ext uri="{FF2B5EF4-FFF2-40B4-BE49-F238E27FC236}">
                <a16:creationId xmlns:a16="http://schemas.microsoft.com/office/drawing/2014/main" id="{E4197A4B-E2A7-E54E-1992-47F8F46864CE}"/>
              </a:ext>
            </a:extLst>
          </p:cNvPr>
          <p:cNvSpPr txBox="1"/>
          <p:nvPr/>
        </p:nvSpPr>
        <p:spPr>
          <a:xfrm>
            <a:off x="1037287" y="6473090"/>
            <a:ext cx="2084225" cy="369332"/>
          </a:xfrm>
          <a:prstGeom prst="rect">
            <a:avLst/>
          </a:prstGeom>
          <a:noFill/>
        </p:spPr>
        <p:txBody>
          <a:bodyPr wrap="none" rtlCol="0">
            <a:spAutoFit/>
          </a:bodyPr>
          <a:lstStyle/>
          <a:p>
            <a:pPr algn="ctr"/>
            <a:r>
              <a:rPr lang="it-IT" dirty="0" err="1">
                <a:solidFill>
                  <a:schemeClr val="bg1"/>
                </a:solidFill>
                <a:latin typeface="Aptos" panose="020B0004020202020204" pitchFamily="34" charset="0"/>
              </a:rPr>
              <a:t>EarlyCare</a:t>
            </a:r>
            <a:r>
              <a:rPr lang="it-IT" dirty="0">
                <a:solidFill>
                  <a:schemeClr val="bg1"/>
                </a:solidFill>
                <a:latin typeface="Aptos" panose="020B0004020202020204" pitchFamily="34" charset="0"/>
              </a:rPr>
              <a:t> Gateway</a:t>
            </a:r>
          </a:p>
        </p:txBody>
      </p:sp>
      <p:sp>
        <p:nvSpPr>
          <p:cNvPr id="8" name="CasellaDiTesto 7">
            <a:extLst>
              <a:ext uri="{FF2B5EF4-FFF2-40B4-BE49-F238E27FC236}">
                <a16:creationId xmlns:a16="http://schemas.microsoft.com/office/drawing/2014/main" id="{5B074E69-8CB9-E4C5-E3B9-D414BCAA2028}"/>
              </a:ext>
            </a:extLst>
          </p:cNvPr>
          <p:cNvSpPr txBox="1"/>
          <p:nvPr/>
        </p:nvSpPr>
        <p:spPr>
          <a:xfrm>
            <a:off x="84328" y="6473090"/>
            <a:ext cx="1104791" cy="369332"/>
          </a:xfrm>
          <a:prstGeom prst="rect">
            <a:avLst/>
          </a:prstGeom>
          <a:noFill/>
        </p:spPr>
        <p:txBody>
          <a:bodyPr wrap="none" rtlCol="0">
            <a:spAutoFit/>
          </a:bodyPr>
          <a:lstStyle/>
          <a:p>
            <a:pPr algn="ctr"/>
            <a:r>
              <a:rPr lang="it-IT" dirty="0">
                <a:solidFill>
                  <a:schemeClr val="bg1"/>
                </a:solidFill>
                <a:latin typeface="Aptos" panose="020B0004020202020204" pitchFamily="34" charset="0"/>
              </a:rPr>
              <a:t>Group 9 -</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674C1DB-7385-E2A7-7609-0065A8C4FC10}"/>
            </a:ext>
          </a:extLst>
        </p:cNvPr>
        <p:cNvGrpSpPr/>
        <p:nvPr/>
      </p:nvGrpSpPr>
      <p:grpSpPr>
        <a:xfrm>
          <a:off x="0" y="0"/>
          <a:ext cx="0" cy="0"/>
          <a:chOff x="0" y="0"/>
          <a:chExt cx="0" cy="0"/>
        </a:xfrm>
      </p:grpSpPr>
      <p:sp>
        <p:nvSpPr>
          <p:cNvPr id="21" name="CasellaDiTesto 20">
            <a:extLst>
              <a:ext uri="{FF2B5EF4-FFF2-40B4-BE49-F238E27FC236}">
                <a16:creationId xmlns:a16="http://schemas.microsoft.com/office/drawing/2014/main" id="{8B248CF0-AFA9-1996-D476-CD38B2F1ACDF}"/>
              </a:ext>
            </a:extLst>
          </p:cNvPr>
          <p:cNvSpPr txBox="1"/>
          <p:nvPr/>
        </p:nvSpPr>
        <p:spPr>
          <a:xfrm>
            <a:off x="609600" y="1780137"/>
            <a:ext cx="10573512" cy="3970318"/>
          </a:xfrm>
          <a:prstGeom prst="rect">
            <a:avLst/>
          </a:prstGeom>
          <a:noFill/>
        </p:spPr>
        <p:txBody>
          <a:bodyPr wrap="square" lIns="91440" tIns="45720" rIns="91440" bIns="45720" rtlCol="0" anchor="t">
            <a:spAutoFit/>
          </a:bodyPr>
          <a:lstStyle/>
          <a:p>
            <a:pPr algn="just"/>
            <a:r>
              <a:rPr lang="en-US" sz="2800" b="1" dirty="0">
                <a:latin typeface="Aptos" panose="020B0004020202020204" pitchFamily="34" charset="0"/>
              </a:rPr>
              <a:t>Solution</a:t>
            </a:r>
          </a:p>
          <a:p>
            <a:pPr algn="just"/>
            <a:endParaRPr lang="en-US" sz="1400" b="1" dirty="0">
              <a:latin typeface="Aptos" panose="020B0004020202020204" pitchFamily="34" charset="0"/>
            </a:endParaRPr>
          </a:p>
          <a:p>
            <a:pPr algn="just"/>
            <a:r>
              <a:rPr lang="it-IT" sz="2800" b="1" dirty="0" err="1">
                <a:latin typeface="Aptos" panose="020B0004020202020204" pitchFamily="34" charset="0"/>
              </a:rPr>
              <a:t>Intelligent</a:t>
            </a:r>
            <a:r>
              <a:rPr lang="it-IT" sz="2800" b="1" dirty="0">
                <a:latin typeface="Aptos" panose="020B0004020202020204" pitchFamily="34" charset="0"/>
              </a:rPr>
              <a:t> </a:t>
            </a:r>
            <a:r>
              <a:rPr lang="it-IT" sz="2800" b="1" dirty="0" err="1">
                <a:latin typeface="Aptos" panose="020B0004020202020204" pitchFamily="34" charset="0"/>
              </a:rPr>
              <a:t>analysis</a:t>
            </a:r>
            <a:r>
              <a:rPr lang="it-IT" sz="2800" b="1" dirty="0">
                <a:latin typeface="Aptos" panose="020B0004020202020204" pitchFamily="34" charset="0"/>
              </a:rPr>
              <a:t> </a:t>
            </a:r>
            <a:r>
              <a:rPr lang="it-IT" sz="2800" b="1" dirty="0" err="1">
                <a:latin typeface="Aptos" panose="020B0004020202020204" pitchFamily="34" charset="0"/>
              </a:rPr>
              <a:t>platform</a:t>
            </a:r>
            <a:r>
              <a:rPr lang="it-IT" sz="2800" b="1" dirty="0">
                <a:latin typeface="Aptos" panose="020B0004020202020204" pitchFamily="34" charset="0"/>
              </a:rPr>
              <a:t> </a:t>
            </a:r>
            <a:r>
              <a:rPr lang="it-IT" sz="2800" dirty="0">
                <a:latin typeface="Aptos" panose="020B0004020202020204" pitchFamily="34" charset="0"/>
              </a:rPr>
              <a:t>for doctors</a:t>
            </a:r>
          </a:p>
          <a:p>
            <a:pPr algn="just"/>
            <a:r>
              <a:rPr lang="it-IT" sz="2800" dirty="0">
                <a:latin typeface="Aptos" panose="020B0004020202020204" pitchFamily="34" charset="0"/>
              </a:rPr>
              <a:t>→ </a:t>
            </a:r>
            <a:r>
              <a:rPr lang="it-IT" sz="2800" b="1" dirty="0" err="1">
                <a:latin typeface="Aptos" panose="020B0004020202020204" pitchFamily="34" charset="0"/>
              </a:rPr>
              <a:t>Provides</a:t>
            </a:r>
            <a:r>
              <a:rPr lang="it-IT" sz="2800" b="1" dirty="0">
                <a:latin typeface="Aptos" panose="020B0004020202020204" pitchFamily="34" charset="0"/>
              </a:rPr>
              <a:t> </a:t>
            </a:r>
            <a:r>
              <a:rPr lang="it-IT" sz="2800" b="1" dirty="0" err="1">
                <a:latin typeface="Aptos" panose="020B0004020202020204" pitchFamily="34" charset="0"/>
              </a:rPr>
              <a:t>diagnoses</a:t>
            </a:r>
            <a:r>
              <a:rPr lang="it-IT" sz="2800" b="1" dirty="0">
                <a:latin typeface="Aptos" panose="020B0004020202020204" pitchFamily="34" charset="0"/>
              </a:rPr>
              <a:t> and supports </a:t>
            </a:r>
            <a:r>
              <a:rPr lang="it-IT" sz="2800" b="1" dirty="0" err="1">
                <a:latin typeface="Aptos" panose="020B0004020202020204" pitchFamily="34" charset="0"/>
              </a:rPr>
              <a:t>decisions</a:t>
            </a:r>
            <a:endParaRPr lang="it-IT" sz="2800" b="1" dirty="0">
              <a:latin typeface="Aptos" panose="020B0004020202020204" pitchFamily="34" charset="0"/>
            </a:endParaRPr>
          </a:p>
          <a:p>
            <a:pPr algn="just"/>
            <a:endParaRPr lang="it-IT" sz="2800" dirty="0">
              <a:latin typeface="Aptos" panose="020B0004020202020204" pitchFamily="34" charset="0"/>
            </a:endParaRPr>
          </a:p>
          <a:p>
            <a:pPr algn="just"/>
            <a:r>
              <a:rPr lang="it-IT" sz="2800" b="1" dirty="0">
                <a:latin typeface="Aptos" panose="020B0004020202020204" pitchFamily="34" charset="0"/>
              </a:rPr>
              <a:t>Key Features</a:t>
            </a:r>
          </a:p>
          <a:p>
            <a:pPr algn="just"/>
            <a:endParaRPr lang="it-IT" sz="1400" b="1" dirty="0">
              <a:latin typeface="Aptos" panose="020B0004020202020204" pitchFamily="34" charset="0"/>
            </a:endParaRPr>
          </a:p>
          <a:p>
            <a:pPr marL="457200" indent="-457200" algn="just">
              <a:buFont typeface="Arial"/>
              <a:buChar char="•"/>
            </a:pPr>
            <a:r>
              <a:rPr lang="it-IT" sz="2800" b="1" dirty="0" err="1">
                <a:latin typeface="Aptos"/>
              </a:rPr>
              <a:t>Explainable</a:t>
            </a:r>
            <a:r>
              <a:rPr lang="it-IT" sz="2800" b="1" dirty="0">
                <a:latin typeface="Aptos"/>
              </a:rPr>
              <a:t> AI: </a:t>
            </a:r>
            <a:r>
              <a:rPr lang="en-US" sz="2800" dirty="0">
                <a:latin typeface="Aptos"/>
              </a:rPr>
              <a:t>Multimodal analysis with explanations</a:t>
            </a:r>
            <a:endParaRPr lang="it-IT" sz="2800" dirty="0">
              <a:latin typeface="Aptos"/>
            </a:endParaRPr>
          </a:p>
          <a:p>
            <a:pPr marL="457200" indent="-457200" algn="just">
              <a:buFont typeface="Arial"/>
              <a:buChar char="•"/>
            </a:pPr>
            <a:r>
              <a:rPr lang="it-IT" sz="2800" b="1" dirty="0">
                <a:latin typeface="Aptos"/>
              </a:rPr>
              <a:t>Distributed Architecture: </a:t>
            </a:r>
            <a:r>
              <a:rPr lang="it-IT" sz="2800" dirty="0">
                <a:latin typeface="Aptos"/>
              </a:rPr>
              <a:t>Remote private</a:t>
            </a:r>
            <a:r>
              <a:rPr lang="it-IT" sz="2800" b="1" dirty="0">
                <a:latin typeface="Aptos"/>
              </a:rPr>
              <a:t> </a:t>
            </a:r>
            <a:r>
              <a:rPr lang="it-IT" sz="2800" dirty="0">
                <a:latin typeface="Aptos"/>
              </a:rPr>
              <a:t>and secure access</a:t>
            </a:r>
            <a:endParaRPr lang="it-IT" dirty="0"/>
          </a:p>
          <a:p>
            <a:pPr marL="457200" indent="-457200" algn="just">
              <a:buFont typeface="Arial"/>
              <a:buChar char="•"/>
            </a:pPr>
            <a:r>
              <a:rPr lang="it-IT" sz="2800" b="1" dirty="0">
                <a:latin typeface="Aptos"/>
              </a:rPr>
              <a:t>Clinical Dashboard: </a:t>
            </a:r>
            <a:r>
              <a:rPr lang="en-US" sz="2800" dirty="0">
                <a:latin typeface="Aptos"/>
              </a:rPr>
              <a:t>Interface to manage analysis and reports</a:t>
            </a:r>
            <a:endParaRPr lang="it-IT" dirty="0"/>
          </a:p>
        </p:txBody>
      </p:sp>
      <p:pic>
        <p:nvPicPr>
          <p:cNvPr id="7" name="Immagine 6" descr="Artificial Intelligence Head Icon Vector Ai Icon Vector Design Used In Ai  Concepts Artificial Intelligence Icon Stock Illustration - Download Image  Now - iStock">
            <a:extLst>
              <a:ext uri="{FF2B5EF4-FFF2-40B4-BE49-F238E27FC236}">
                <a16:creationId xmlns:a16="http://schemas.microsoft.com/office/drawing/2014/main" id="{E7146A0F-752F-48F1-2426-8CA591B8322F}"/>
              </a:ext>
            </a:extLst>
          </p:cNvPr>
          <p:cNvPicPr>
            <a:picLocks noChangeAspect="1"/>
          </p:cNvPicPr>
          <p:nvPr/>
        </p:nvPicPr>
        <p:blipFill>
          <a:blip r:embed="rId3"/>
          <a:srcRect l="19281" t="16830" r="18791" b="15686"/>
          <a:stretch>
            <a:fillRect/>
          </a:stretch>
        </p:blipFill>
        <p:spPr>
          <a:xfrm>
            <a:off x="9366728" y="1697841"/>
            <a:ext cx="2072416" cy="2319341"/>
          </a:xfrm>
          <a:prstGeom prst="rect">
            <a:avLst/>
          </a:prstGeom>
        </p:spPr>
      </p:pic>
      <p:sp>
        <p:nvSpPr>
          <p:cNvPr id="5" name="CasellaDiTesto 4">
            <a:extLst>
              <a:ext uri="{FF2B5EF4-FFF2-40B4-BE49-F238E27FC236}">
                <a16:creationId xmlns:a16="http://schemas.microsoft.com/office/drawing/2014/main" id="{9BB238DD-29C3-41EF-3505-92631C94ED76}"/>
              </a:ext>
            </a:extLst>
          </p:cNvPr>
          <p:cNvSpPr txBox="1"/>
          <p:nvPr/>
        </p:nvSpPr>
        <p:spPr>
          <a:xfrm>
            <a:off x="609600" y="381000"/>
            <a:ext cx="4541628" cy="1015663"/>
          </a:xfrm>
          <a:prstGeom prst="rect">
            <a:avLst/>
          </a:prstGeom>
          <a:noFill/>
        </p:spPr>
        <p:txBody>
          <a:bodyPr wrap="none" rtlCol="0">
            <a:spAutoFit/>
          </a:bodyPr>
          <a:lstStyle/>
          <a:p>
            <a:r>
              <a:rPr lang="it-IT" sz="6000" b="1" err="1">
                <a:latin typeface="Aptos" panose="020B0004020202020204" pitchFamily="34" charset="0"/>
              </a:rPr>
              <a:t>Introduction</a:t>
            </a:r>
            <a:endParaRPr lang="it-IT" sz="6000" b="1">
              <a:latin typeface="Aptos" panose="020B0004020202020204" pitchFamily="34" charset="0"/>
            </a:endParaRPr>
          </a:p>
        </p:txBody>
      </p:sp>
      <p:grpSp>
        <p:nvGrpSpPr>
          <p:cNvPr id="8" name="object 9">
            <a:extLst>
              <a:ext uri="{FF2B5EF4-FFF2-40B4-BE49-F238E27FC236}">
                <a16:creationId xmlns:a16="http://schemas.microsoft.com/office/drawing/2014/main" id="{CB5C38D0-985E-1D92-ECEB-F95F6D3CA091}"/>
              </a:ext>
            </a:extLst>
          </p:cNvPr>
          <p:cNvGrpSpPr/>
          <p:nvPr/>
        </p:nvGrpSpPr>
        <p:grpSpPr>
          <a:xfrm>
            <a:off x="-7209" y="6455826"/>
            <a:ext cx="12211050" cy="403860"/>
            <a:chOff x="-7209" y="6455826"/>
            <a:chExt cx="12211050" cy="403860"/>
          </a:xfrm>
          <a:solidFill>
            <a:srgbClr val="009999"/>
          </a:solidFill>
        </p:grpSpPr>
        <p:sp>
          <p:nvSpPr>
            <p:cNvPr id="9" name="object 10">
              <a:extLst>
                <a:ext uri="{FF2B5EF4-FFF2-40B4-BE49-F238E27FC236}">
                  <a16:creationId xmlns:a16="http://schemas.microsoft.com/office/drawing/2014/main" id="{6B708BA0-C73F-1026-D992-6F5CA94AE8F5}"/>
                </a:ext>
              </a:extLst>
            </p:cNvPr>
            <p:cNvSpPr/>
            <p:nvPr/>
          </p:nvSpPr>
          <p:spPr>
            <a:xfrm>
              <a:off x="2315" y="6465351"/>
              <a:ext cx="12192000" cy="384810"/>
            </a:xfrm>
            <a:custGeom>
              <a:avLst/>
              <a:gdLst/>
              <a:ahLst/>
              <a:cxnLst/>
              <a:rect l="l" t="t" r="r" b="b"/>
              <a:pathLst>
                <a:path w="12192000" h="384809">
                  <a:moveTo>
                    <a:pt x="12191619" y="0"/>
                  </a:moveTo>
                  <a:lnTo>
                    <a:pt x="0" y="0"/>
                  </a:lnTo>
                  <a:lnTo>
                    <a:pt x="0" y="384657"/>
                  </a:lnTo>
                  <a:lnTo>
                    <a:pt x="12191619" y="384657"/>
                  </a:lnTo>
                  <a:lnTo>
                    <a:pt x="12191619" y="0"/>
                  </a:lnTo>
                  <a:close/>
                </a:path>
              </a:pathLst>
            </a:custGeom>
            <a:grpFill/>
          </p:spPr>
          <p:txBody>
            <a:bodyPr wrap="square" lIns="0" tIns="0" rIns="0" bIns="0" rtlCol="0"/>
            <a:lstStyle/>
            <a:p>
              <a:endParaRPr/>
            </a:p>
          </p:txBody>
        </p:sp>
        <p:sp>
          <p:nvSpPr>
            <p:cNvPr id="10" name="object 11">
              <a:extLst>
                <a:ext uri="{FF2B5EF4-FFF2-40B4-BE49-F238E27FC236}">
                  <a16:creationId xmlns:a16="http://schemas.microsoft.com/office/drawing/2014/main" id="{D1B87D85-5BCF-9F59-5716-F5EBA1E0351A}"/>
                </a:ext>
              </a:extLst>
            </p:cNvPr>
            <p:cNvSpPr/>
            <p:nvPr/>
          </p:nvSpPr>
          <p:spPr>
            <a:xfrm>
              <a:off x="2315" y="6465351"/>
              <a:ext cx="12192000" cy="384810"/>
            </a:xfrm>
            <a:custGeom>
              <a:avLst/>
              <a:gdLst/>
              <a:ahLst/>
              <a:cxnLst/>
              <a:rect l="l" t="t" r="r" b="b"/>
              <a:pathLst>
                <a:path w="12192000" h="384809">
                  <a:moveTo>
                    <a:pt x="0" y="384657"/>
                  </a:moveTo>
                  <a:lnTo>
                    <a:pt x="12191619" y="384657"/>
                  </a:lnTo>
                  <a:lnTo>
                    <a:pt x="12191619" y="0"/>
                  </a:lnTo>
                  <a:lnTo>
                    <a:pt x="0" y="0"/>
                  </a:lnTo>
                  <a:lnTo>
                    <a:pt x="0" y="384657"/>
                  </a:lnTo>
                  <a:close/>
                </a:path>
              </a:pathLst>
            </a:custGeom>
            <a:grpFill/>
            <a:ln w="19050">
              <a:solidFill>
                <a:srgbClr val="009999"/>
              </a:solidFill>
            </a:ln>
          </p:spPr>
          <p:txBody>
            <a:bodyPr wrap="square" lIns="0" tIns="0" rIns="0" bIns="0" rtlCol="0"/>
            <a:lstStyle/>
            <a:p>
              <a:endParaRPr/>
            </a:p>
          </p:txBody>
        </p:sp>
      </p:grpSp>
      <p:sp>
        <p:nvSpPr>
          <p:cNvPr id="12" name="CasellaDiTesto 11">
            <a:extLst>
              <a:ext uri="{FF2B5EF4-FFF2-40B4-BE49-F238E27FC236}">
                <a16:creationId xmlns:a16="http://schemas.microsoft.com/office/drawing/2014/main" id="{63B743BC-0D27-670B-2B4B-504AF4A158AC}"/>
              </a:ext>
            </a:extLst>
          </p:cNvPr>
          <p:cNvSpPr txBox="1"/>
          <p:nvPr/>
        </p:nvSpPr>
        <p:spPr>
          <a:xfrm>
            <a:off x="11698856" y="6480829"/>
            <a:ext cx="308097" cy="369332"/>
          </a:xfrm>
          <a:prstGeom prst="rect">
            <a:avLst/>
          </a:prstGeom>
          <a:noFill/>
        </p:spPr>
        <p:txBody>
          <a:bodyPr wrap="none" rtlCol="0">
            <a:spAutoFit/>
          </a:bodyPr>
          <a:lstStyle/>
          <a:p>
            <a:pPr algn="ctr"/>
            <a:r>
              <a:rPr lang="it-IT">
                <a:solidFill>
                  <a:schemeClr val="bg1"/>
                </a:solidFill>
                <a:latin typeface="Aptos" panose="020B0004020202020204" pitchFamily="34" charset="0"/>
              </a:rPr>
              <a:t>2</a:t>
            </a:r>
          </a:p>
        </p:txBody>
      </p:sp>
      <p:sp>
        <p:nvSpPr>
          <p:cNvPr id="2" name="CasellaDiTesto 1">
            <a:extLst>
              <a:ext uri="{FF2B5EF4-FFF2-40B4-BE49-F238E27FC236}">
                <a16:creationId xmlns:a16="http://schemas.microsoft.com/office/drawing/2014/main" id="{825A9017-A358-4167-B4C3-E48C256E29B8}"/>
              </a:ext>
            </a:extLst>
          </p:cNvPr>
          <p:cNvSpPr txBox="1"/>
          <p:nvPr/>
        </p:nvSpPr>
        <p:spPr>
          <a:xfrm>
            <a:off x="1037287" y="6473090"/>
            <a:ext cx="2084225" cy="369332"/>
          </a:xfrm>
          <a:prstGeom prst="rect">
            <a:avLst/>
          </a:prstGeom>
          <a:noFill/>
        </p:spPr>
        <p:txBody>
          <a:bodyPr wrap="none" rtlCol="0">
            <a:spAutoFit/>
          </a:bodyPr>
          <a:lstStyle/>
          <a:p>
            <a:pPr algn="ctr"/>
            <a:r>
              <a:rPr lang="it-IT" dirty="0" err="1">
                <a:solidFill>
                  <a:schemeClr val="bg1"/>
                </a:solidFill>
                <a:latin typeface="Aptos" panose="020B0004020202020204" pitchFamily="34" charset="0"/>
              </a:rPr>
              <a:t>EarlyCare</a:t>
            </a:r>
            <a:r>
              <a:rPr lang="it-IT" dirty="0">
                <a:solidFill>
                  <a:schemeClr val="bg1"/>
                </a:solidFill>
                <a:latin typeface="Aptos" panose="020B0004020202020204" pitchFamily="34" charset="0"/>
              </a:rPr>
              <a:t> Gateway</a:t>
            </a:r>
          </a:p>
        </p:txBody>
      </p:sp>
      <p:sp>
        <p:nvSpPr>
          <p:cNvPr id="3" name="CasellaDiTesto 2">
            <a:extLst>
              <a:ext uri="{FF2B5EF4-FFF2-40B4-BE49-F238E27FC236}">
                <a16:creationId xmlns:a16="http://schemas.microsoft.com/office/drawing/2014/main" id="{E54F1A65-9AE0-3661-D6D0-0B20BA650E6C}"/>
              </a:ext>
            </a:extLst>
          </p:cNvPr>
          <p:cNvSpPr txBox="1"/>
          <p:nvPr/>
        </p:nvSpPr>
        <p:spPr>
          <a:xfrm>
            <a:off x="84328" y="6473090"/>
            <a:ext cx="1104791" cy="369332"/>
          </a:xfrm>
          <a:prstGeom prst="rect">
            <a:avLst/>
          </a:prstGeom>
          <a:noFill/>
        </p:spPr>
        <p:txBody>
          <a:bodyPr wrap="none" rtlCol="0">
            <a:spAutoFit/>
          </a:bodyPr>
          <a:lstStyle/>
          <a:p>
            <a:pPr algn="ctr"/>
            <a:r>
              <a:rPr lang="it-IT" dirty="0">
                <a:solidFill>
                  <a:schemeClr val="bg1"/>
                </a:solidFill>
                <a:latin typeface="Aptos" panose="020B0004020202020204" pitchFamily="34" charset="0"/>
              </a:rPr>
              <a:t>Group 9 -</a:t>
            </a:r>
          </a:p>
        </p:txBody>
      </p:sp>
    </p:spTree>
    <p:extLst>
      <p:ext uri="{BB962C8B-B14F-4D97-AF65-F5344CB8AC3E}">
        <p14:creationId xmlns:p14="http://schemas.microsoft.com/office/powerpoint/2010/main" val="286012020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981DB36-9DFC-E87D-8552-C57C2D64BEBC}"/>
            </a:ext>
          </a:extLst>
        </p:cNvPr>
        <p:cNvGrpSpPr/>
        <p:nvPr/>
      </p:nvGrpSpPr>
      <p:grpSpPr>
        <a:xfrm>
          <a:off x="0" y="0"/>
          <a:ext cx="0" cy="0"/>
          <a:chOff x="0" y="0"/>
          <a:chExt cx="0" cy="0"/>
        </a:xfrm>
      </p:grpSpPr>
      <p:sp>
        <p:nvSpPr>
          <p:cNvPr id="19" name="CasellaDiTesto 18">
            <a:extLst>
              <a:ext uri="{FF2B5EF4-FFF2-40B4-BE49-F238E27FC236}">
                <a16:creationId xmlns:a16="http://schemas.microsoft.com/office/drawing/2014/main" id="{43E5E8C3-AE96-66EB-B191-7CACB37CB7F4}"/>
              </a:ext>
            </a:extLst>
          </p:cNvPr>
          <p:cNvSpPr txBox="1"/>
          <p:nvPr/>
        </p:nvSpPr>
        <p:spPr>
          <a:xfrm>
            <a:off x="723900" y="365720"/>
            <a:ext cx="9276899" cy="1015663"/>
          </a:xfrm>
          <a:prstGeom prst="rect">
            <a:avLst/>
          </a:prstGeom>
          <a:noFill/>
        </p:spPr>
        <p:txBody>
          <a:bodyPr wrap="none" rtlCol="0">
            <a:spAutoFit/>
          </a:bodyPr>
          <a:lstStyle/>
          <a:p>
            <a:r>
              <a:rPr lang="it-IT" sz="6000" b="1" err="1">
                <a:latin typeface="Aptos" panose="020B0004020202020204" pitchFamily="34" charset="0"/>
              </a:rPr>
              <a:t>Functional</a:t>
            </a:r>
            <a:r>
              <a:rPr lang="it-IT" sz="6000" b="1">
                <a:latin typeface="Aptos" panose="020B0004020202020204" pitchFamily="34" charset="0"/>
              </a:rPr>
              <a:t> </a:t>
            </a:r>
            <a:r>
              <a:rPr lang="it-IT" sz="6000" b="1" err="1">
                <a:latin typeface="Aptos" panose="020B0004020202020204" pitchFamily="34" charset="0"/>
              </a:rPr>
              <a:t>Requirements</a:t>
            </a:r>
            <a:endParaRPr lang="it-IT" sz="6000" b="1">
              <a:latin typeface="Aptos" panose="020B0004020202020204" pitchFamily="34" charset="0"/>
            </a:endParaRPr>
          </a:p>
        </p:txBody>
      </p:sp>
      <p:sp>
        <p:nvSpPr>
          <p:cNvPr id="5" name="CasellaDiTesto 4">
            <a:extLst>
              <a:ext uri="{FF2B5EF4-FFF2-40B4-BE49-F238E27FC236}">
                <a16:creationId xmlns:a16="http://schemas.microsoft.com/office/drawing/2014/main" id="{01D51F80-6472-41D7-F948-67FE74B264EE}"/>
              </a:ext>
            </a:extLst>
          </p:cNvPr>
          <p:cNvSpPr txBox="1"/>
          <p:nvPr/>
        </p:nvSpPr>
        <p:spPr>
          <a:xfrm>
            <a:off x="723900" y="1910247"/>
            <a:ext cx="10623804" cy="2677656"/>
          </a:xfrm>
          <a:prstGeom prst="rect">
            <a:avLst/>
          </a:prstGeom>
          <a:noFill/>
        </p:spPr>
        <p:txBody>
          <a:bodyPr wrap="square" rtlCol="0">
            <a:spAutoFit/>
          </a:bodyPr>
          <a:lstStyle/>
          <a:p>
            <a:pPr marL="457200" indent="-457200" algn="just">
              <a:buFont typeface="Arial" panose="020B0604020202020204" pitchFamily="34" charset="0"/>
              <a:buChar char="•"/>
            </a:pPr>
            <a:r>
              <a:rPr lang="it-IT" sz="2800" b="1" dirty="0" err="1">
                <a:latin typeface="Aptos" panose="020B0004020202020204" pitchFamily="34" charset="0"/>
              </a:rPr>
              <a:t>Medical</a:t>
            </a:r>
            <a:r>
              <a:rPr lang="it-IT" sz="2800" b="1" dirty="0">
                <a:latin typeface="Aptos" panose="020B0004020202020204" pitchFamily="34" charset="0"/>
              </a:rPr>
              <a:t> Staff Management: </a:t>
            </a:r>
            <a:r>
              <a:rPr lang="en-US" sz="2800" dirty="0">
                <a:latin typeface="Aptos" panose="020B0004020202020204" pitchFamily="34" charset="0"/>
              </a:rPr>
              <a:t>Authentication and authorization</a:t>
            </a:r>
          </a:p>
          <a:p>
            <a:pPr marL="457200" indent="-457200" algn="just">
              <a:buFont typeface="Arial" panose="020B0604020202020204" pitchFamily="34" charset="0"/>
              <a:buChar char="•"/>
            </a:pPr>
            <a:endParaRPr lang="it-IT" sz="1400" dirty="0">
              <a:latin typeface="Aptos" panose="020B0004020202020204" pitchFamily="34" charset="0"/>
            </a:endParaRPr>
          </a:p>
          <a:p>
            <a:pPr marL="457200" indent="-457200" algn="just">
              <a:buFont typeface="Arial" panose="020B0604020202020204" pitchFamily="34" charset="0"/>
              <a:buChar char="•"/>
            </a:pPr>
            <a:r>
              <a:rPr lang="it-IT" sz="2800" b="1" dirty="0" err="1">
                <a:latin typeface="Aptos" panose="020B0004020202020204" pitchFamily="34" charset="0"/>
              </a:rPr>
              <a:t>Explainable</a:t>
            </a:r>
            <a:r>
              <a:rPr lang="it-IT" sz="2800" b="1" dirty="0">
                <a:latin typeface="Aptos" panose="020B0004020202020204" pitchFamily="34" charset="0"/>
              </a:rPr>
              <a:t> AI Analysis: </a:t>
            </a:r>
            <a:r>
              <a:rPr lang="en-US" sz="2800" dirty="0">
                <a:latin typeface="Aptos" panose="020B0004020202020204" pitchFamily="34" charset="0"/>
              </a:rPr>
              <a:t>Submission of clinical data for AI-based classification, and generation of explainable reports</a:t>
            </a:r>
          </a:p>
          <a:p>
            <a:pPr marL="457200" indent="-457200" algn="just">
              <a:buFont typeface="Arial" panose="020B0604020202020204" pitchFamily="34" charset="0"/>
              <a:buChar char="•"/>
            </a:pPr>
            <a:endParaRPr lang="it-IT" sz="1400" dirty="0">
              <a:latin typeface="Aptos" panose="020B0004020202020204" pitchFamily="34" charset="0"/>
            </a:endParaRPr>
          </a:p>
          <a:p>
            <a:pPr marL="457200" indent="-457200" algn="just">
              <a:buFont typeface="Arial" panose="020B0604020202020204" pitchFamily="34" charset="0"/>
              <a:buChar char="•"/>
            </a:pPr>
            <a:r>
              <a:rPr lang="it-IT" sz="2800" b="1" dirty="0" err="1">
                <a:latin typeface="Aptos" panose="020B0004020202020204" pitchFamily="34" charset="0"/>
              </a:rPr>
              <a:t>Persistent</a:t>
            </a:r>
            <a:r>
              <a:rPr lang="it-IT" sz="2800" b="1" dirty="0">
                <a:latin typeface="Aptos" panose="020B0004020202020204" pitchFamily="34" charset="0"/>
              </a:rPr>
              <a:t> Report Management: </a:t>
            </a:r>
            <a:r>
              <a:rPr lang="en-US" sz="2800" dirty="0">
                <a:latin typeface="Aptos" panose="020B0004020202020204" pitchFamily="34" charset="0"/>
              </a:rPr>
              <a:t>Viewing doctor reports and filtering by patient</a:t>
            </a:r>
          </a:p>
        </p:txBody>
      </p:sp>
      <p:sp>
        <p:nvSpPr>
          <p:cNvPr id="6" name="CasellaDiTesto 5">
            <a:extLst>
              <a:ext uri="{FF2B5EF4-FFF2-40B4-BE49-F238E27FC236}">
                <a16:creationId xmlns:a16="http://schemas.microsoft.com/office/drawing/2014/main" id="{78CDBEE1-D376-DBD5-47A7-A2AD0296C59E}"/>
              </a:ext>
            </a:extLst>
          </p:cNvPr>
          <p:cNvSpPr txBox="1"/>
          <p:nvPr/>
        </p:nvSpPr>
        <p:spPr>
          <a:xfrm>
            <a:off x="3238499" y="5357605"/>
            <a:ext cx="5714999" cy="578882"/>
          </a:xfrm>
          <a:prstGeom prst="roundRect">
            <a:avLst/>
          </a:prstGeom>
          <a:solidFill>
            <a:srgbClr val="009999">
              <a:alpha val="10196"/>
            </a:srgbClr>
          </a:solidFill>
          <a:ln>
            <a:solidFill>
              <a:srgbClr val="008196"/>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sz="2800" b="1">
                <a:latin typeface="Aptos" panose="020B0004020202020204" pitchFamily="34" charset="0"/>
              </a:rPr>
              <a:t>Only authorized </a:t>
            </a:r>
            <a:r>
              <a:rPr lang="en-US" sz="2800">
                <a:latin typeface="Aptos" panose="020B0004020202020204" pitchFamily="34" charset="0"/>
              </a:rPr>
              <a:t>medical staff</a:t>
            </a:r>
            <a:endParaRPr lang="it-IT" sz="2800">
              <a:latin typeface="Aptos" panose="020B0004020202020204" pitchFamily="34" charset="0"/>
            </a:endParaRPr>
          </a:p>
        </p:txBody>
      </p:sp>
      <p:pic>
        <p:nvPicPr>
          <p:cNvPr id="4098" name="Picture 2" descr="Warning - Free signaling icons">
            <a:extLst>
              <a:ext uri="{FF2B5EF4-FFF2-40B4-BE49-F238E27FC236}">
                <a16:creationId xmlns:a16="http://schemas.microsoft.com/office/drawing/2014/main" id="{97EE22C9-38DD-BDD7-9E15-7472908C864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24174" y="5119606"/>
            <a:ext cx="628650" cy="62865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object 9">
            <a:extLst>
              <a:ext uri="{FF2B5EF4-FFF2-40B4-BE49-F238E27FC236}">
                <a16:creationId xmlns:a16="http://schemas.microsoft.com/office/drawing/2014/main" id="{30148544-2E4C-D477-FE0D-B8FA9C15925D}"/>
              </a:ext>
            </a:extLst>
          </p:cNvPr>
          <p:cNvGrpSpPr/>
          <p:nvPr/>
        </p:nvGrpSpPr>
        <p:grpSpPr>
          <a:xfrm>
            <a:off x="-7209" y="6455826"/>
            <a:ext cx="12211050" cy="403860"/>
            <a:chOff x="-7209" y="6455826"/>
            <a:chExt cx="12211050" cy="403860"/>
          </a:xfrm>
          <a:solidFill>
            <a:srgbClr val="009999"/>
          </a:solidFill>
        </p:grpSpPr>
        <p:sp>
          <p:nvSpPr>
            <p:cNvPr id="9" name="object 10">
              <a:extLst>
                <a:ext uri="{FF2B5EF4-FFF2-40B4-BE49-F238E27FC236}">
                  <a16:creationId xmlns:a16="http://schemas.microsoft.com/office/drawing/2014/main" id="{2719E25F-C5A7-D71D-03E2-5BBB4CEE2729}"/>
                </a:ext>
              </a:extLst>
            </p:cNvPr>
            <p:cNvSpPr/>
            <p:nvPr/>
          </p:nvSpPr>
          <p:spPr>
            <a:xfrm>
              <a:off x="2315" y="6465351"/>
              <a:ext cx="12192000" cy="384810"/>
            </a:xfrm>
            <a:custGeom>
              <a:avLst/>
              <a:gdLst/>
              <a:ahLst/>
              <a:cxnLst/>
              <a:rect l="l" t="t" r="r" b="b"/>
              <a:pathLst>
                <a:path w="12192000" h="384809">
                  <a:moveTo>
                    <a:pt x="12191619" y="0"/>
                  </a:moveTo>
                  <a:lnTo>
                    <a:pt x="0" y="0"/>
                  </a:lnTo>
                  <a:lnTo>
                    <a:pt x="0" y="384657"/>
                  </a:lnTo>
                  <a:lnTo>
                    <a:pt x="12191619" y="384657"/>
                  </a:lnTo>
                  <a:lnTo>
                    <a:pt x="12191619" y="0"/>
                  </a:lnTo>
                  <a:close/>
                </a:path>
              </a:pathLst>
            </a:custGeom>
            <a:grpFill/>
          </p:spPr>
          <p:txBody>
            <a:bodyPr wrap="square" lIns="0" tIns="0" rIns="0" bIns="0" rtlCol="0"/>
            <a:lstStyle/>
            <a:p>
              <a:endParaRPr/>
            </a:p>
          </p:txBody>
        </p:sp>
        <p:sp>
          <p:nvSpPr>
            <p:cNvPr id="10" name="object 11">
              <a:extLst>
                <a:ext uri="{FF2B5EF4-FFF2-40B4-BE49-F238E27FC236}">
                  <a16:creationId xmlns:a16="http://schemas.microsoft.com/office/drawing/2014/main" id="{630A650D-6D9C-3BB0-7160-D500629FE371}"/>
                </a:ext>
              </a:extLst>
            </p:cNvPr>
            <p:cNvSpPr/>
            <p:nvPr/>
          </p:nvSpPr>
          <p:spPr>
            <a:xfrm>
              <a:off x="2315" y="6465351"/>
              <a:ext cx="12192000" cy="384810"/>
            </a:xfrm>
            <a:custGeom>
              <a:avLst/>
              <a:gdLst/>
              <a:ahLst/>
              <a:cxnLst/>
              <a:rect l="l" t="t" r="r" b="b"/>
              <a:pathLst>
                <a:path w="12192000" h="384809">
                  <a:moveTo>
                    <a:pt x="0" y="384657"/>
                  </a:moveTo>
                  <a:lnTo>
                    <a:pt x="12191619" y="384657"/>
                  </a:lnTo>
                  <a:lnTo>
                    <a:pt x="12191619" y="0"/>
                  </a:lnTo>
                  <a:lnTo>
                    <a:pt x="0" y="0"/>
                  </a:lnTo>
                  <a:lnTo>
                    <a:pt x="0" y="384657"/>
                  </a:lnTo>
                  <a:close/>
                </a:path>
              </a:pathLst>
            </a:custGeom>
            <a:grpFill/>
            <a:ln w="19050">
              <a:solidFill>
                <a:srgbClr val="009999"/>
              </a:solidFill>
            </a:ln>
          </p:spPr>
          <p:txBody>
            <a:bodyPr wrap="square" lIns="0" tIns="0" rIns="0" bIns="0" rtlCol="0"/>
            <a:lstStyle/>
            <a:p>
              <a:endParaRPr/>
            </a:p>
          </p:txBody>
        </p:sp>
      </p:grpSp>
      <p:sp>
        <p:nvSpPr>
          <p:cNvPr id="12" name="CasellaDiTesto 11">
            <a:extLst>
              <a:ext uri="{FF2B5EF4-FFF2-40B4-BE49-F238E27FC236}">
                <a16:creationId xmlns:a16="http://schemas.microsoft.com/office/drawing/2014/main" id="{BDEFBBA0-4501-EC4B-DFFF-5AB546172BD8}"/>
              </a:ext>
            </a:extLst>
          </p:cNvPr>
          <p:cNvSpPr txBox="1"/>
          <p:nvPr/>
        </p:nvSpPr>
        <p:spPr>
          <a:xfrm>
            <a:off x="11698855" y="6480829"/>
            <a:ext cx="308098" cy="369332"/>
          </a:xfrm>
          <a:prstGeom prst="rect">
            <a:avLst/>
          </a:prstGeom>
          <a:noFill/>
        </p:spPr>
        <p:txBody>
          <a:bodyPr wrap="none" rtlCol="0">
            <a:spAutoFit/>
          </a:bodyPr>
          <a:lstStyle/>
          <a:p>
            <a:pPr algn="ctr"/>
            <a:r>
              <a:rPr lang="it-IT">
                <a:solidFill>
                  <a:schemeClr val="bg1"/>
                </a:solidFill>
                <a:latin typeface="Aptos" panose="020B0004020202020204" pitchFamily="34" charset="0"/>
              </a:rPr>
              <a:t>3</a:t>
            </a:r>
          </a:p>
        </p:txBody>
      </p:sp>
      <p:sp>
        <p:nvSpPr>
          <p:cNvPr id="2" name="CasellaDiTesto 1">
            <a:extLst>
              <a:ext uri="{FF2B5EF4-FFF2-40B4-BE49-F238E27FC236}">
                <a16:creationId xmlns:a16="http://schemas.microsoft.com/office/drawing/2014/main" id="{FCF20C1F-9D3D-6E5E-D3DF-70A69FFD47D7}"/>
              </a:ext>
            </a:extLst>
          </p:cNvPr>
          <p:cNvSpPr txBox="1"/>
          <p:nvPr/>
        </p:nvSpPr>
        <p:spPr>
          <a:xfrm>
            <a:off x="1037287" y="6473090"/>
            <a:ext cx="2084225" cy="369332"/>
          </a:xfrm>
          <a:prstGeom prst="rect">
            <a:avLst/>
          </a:prstGeom>
          <a:noFill/>
        </p:spPr>
        <p:txBody>
          <a:bodyPr wrap="none" rtlCol="0">
            <a:spAutoFit/>
          </a:bodyPr>
          <a:lstStyle/>
          <a:p>
            <a:pPr algn="ctr"/>
            <a:r>
              <a:rPr lang="it-IT" dirty="0" err="1">
                <a:solidFill>
                  <a:schemeClr val="bg1"/>
                </a:solidFill>
                <a:latin typeface="Aptos" panose="020B0004020202020204" pitchFamily="34" charset="0"/>
              </a:rPr>
              <a:t>EarlyCare</a:t>
            </a:r>
            <a:r>
              <a:rPr lang="it-IT" dirty="0">
                <a:solidFill>
                  <a:schemeClr val="bg1"/>
                </a:solidFill>
                <a:latin typeface="Aptos" panose="020B0004020202020204" pitchFamily="34" charset="0"/>
              </a:rPr>
              <a:t> Gateway</a:t>
            </a:r>
          </a:p>
        </p:txBody>
      </p:sp>
      <p:sp>
        <p:nvSpPr>
          <p:cNvPr id="3" name="CasellaDiTesto 2">
            <a:extLst>
              <a:ext uri="{FF2B5EF4-FFF2-40B4-BE49-F238E27FC236}">
                <a16:creationId xmlns:a16="http://schemas.microsoft.com/office/drawing/2014/main" id="{A34B1E37-0A47-E79C-9748-05A44D10DFEB}"/>
              </a:ext>
            </a:extLst>
          </p:cNvPr>
          <p:cNvSpPr txBox="1"/>
          <p:nvPr/>
        </p:nvSpPr>
        <p:spPr>
          <a:xfrm>
            <a:off x="84328" y="6473090"/>
            <a:ext cx="1104791" cy="369332"/>
          </a:xfrm>
          <a:prstGeom prst="rect">
            <a:avLst/>
          </a:prstGeom>
          <a:noFill/>
        </p:spPr>
        <p:txBody>
          <a:bodyPr wrap="none" rtlCol="0">
            <a:spAutoFit/>
          </a:bodyPr>
          <a:lstStyle/>
          <a:p>
            <a:pPr algn="ctr"/>
            <a:r>
              <a:rPr lang="it-IT" dirty="0">
                <a:solidFill>
                  <a:schemeClr val="bg1"/>
                </a:solidFill>
                <a:latin typeface="Aptos" panose="020B0004020202020204" pitchFamily="34" charset="0"/>
              </a:rPr>
              <a:t>Group 9 -</a:t>
            </a:r>
          </a:p>
        </p:txBody>
      </p:sp>
    </p:spTree>
    <p:extLst>
      <p:ext uri="{BB962C8B-B14F-4D97-AF65-F5344CB8AC3E}">
        <p14:creationId xmlns:p14="http://schemas.microsoft.com/office/powerpoint/2010/main" val="356059936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73B6AD7-0145-718B-DC07-DBC116BB3ACF}"/>
            </a:ext>
          </a:extLst>
        </p:cNvPr>
        <p:cNvGrpSpPr/>
        <p:nvPr/>
      </p:nvGrpSpPr>
      <p:grpSpPr>
        <a:xfrm>
          <a:off x="0" y="0"/>
          <a:ext cx="0" cy="0"/>
          <a:chOff x="0" y="0"/>
          <a:chExt cx="0" cy="0"/>
        </a:xfrm>
      </p:grpSpPr>
      <p:sp>
        <p:nvSpPr>
          <p:cNvPr id="19" name="CasellaDiTesto 18">
            <a:extLst>
              <a:ext uri="{FF2B5EF4-FFF2-40B4-BE49-F238E27FC236}">
                <a16:creationId xmlns:a16="http://schemas.microsoft.com/office/drawing/2014/main" id="{998FE30C-C22A-8D13-4AE8-8F71B4787DEA}"/>
              </a:ext>
            </a:extLst>
          </p:cNvPr>
          <p:cNvSpPr txBox="1"/>
          <p:nvPr/>
        </p:nvSpPr>
        <p:spPr>
          <a:xfrm>
            <a:off x="717964" y="360565"/>
            <a:ext cx="10980891" cy="1015663"/>
          </a:xfrm>
          <a:prstGeom prst="rect">
            <a:avLst/>
          </a:prstGeom>
          <a:noFill/>
        </p:spPr>
        <p:txBody>
          <a:bodyPr wrap="none" rtlCol="0">
            <a:spAutoFit/>
          </a:bodyPr>
          <a:lstStyle/>
          <a:p>
            <a:r>
              <a:rPr lang="it-IT" sz="6000" b="1">
                <a:latin typeface="Aptos" panose="020B0004020202020204" pitchFamily="34" charset="0"/>
              </a:rPr>
              <a:t>Non-</a:t>
            </a:r>
            <a:r>
              <a:rPr lang="it-IT" sz="6000" b="1" err="1">
                <a:latin typeface="Aptos" panose="020B0004020202020204" pitchFamily="34" charset="0"/>
              </a:rPr>
              <a:t>Functional</a:t>
            </a:r>
            <a:r>
              <a:rPr lang="it-IT" sz="6000" b="1">
                <a:latin typeface="Aptos" panose="020B0004020202020204" pitchFamily="34" charset="0"/>
              </a:rPr>
              <a:t> </a:t>
            </a:r>
            <a:r>
              <a:rPr lang="it-IT" sz="6000" b="1" err="1">
                <a:latin typeface="Aptos" panose="020B0004020202020204" pitchFamily="34" charset="0"/>
              </a:rPr>
              <a:t>Requirements</a:t>
            </a:r>
            <a:endParaRPr lang="it-IT" sz="6000" b="1">
              <a:latin typeface="Aptos" panose="020B0004020202020204" pitchFamily="34" charset="0"/>
            </a:endParaRPr>
          </a:p>
        </p:txBody>
      </p:sp>
      <p:sp>
        <p:nvSpPr>
          <p:cNvPr id="5" name="CasellaDiTesto 4">
            <a:extLst>
              <a:ext uri="{FF2B5EF4-FFF2-40B4-BE49-F238E27FC236}">
                <a16:creationId xmlns:a16="http://schemas.microsoft.com/office/drawing/2014/main" id="{F5443EAD-8907-D5D3-583F-82ADEEFDA602}"/>
              </a:ext>
            </a:extLst>
          </p:cNvPr>
          <p:cNvSpPr txBox="1"/>
          <p:nvPr/>
        </p:nvSpPr>
        <p:spPr>
          <a:xfrm>
            <a:off x="717964" y="1540490"/>
            <a:ext cx="9267284" cy="4616648"/>
          </a:xfrm>
          <a:prstGeom prst="rect">
            <a:avLst/>
          </a:prstGeom>
          <a:noFill/>
        </p:spPr>
        <p:txBody>
          <a:bodyPr wrap="square" rtlCol="0">
            <a:spAutoFit/>
          </a:bodyPr>
          <a:lstStyle/>
          <a:p>
            <a:pPr marL="457200" indent="-457200" algn="just">
              <a:buFont typeface="Arial" panose="020B0604020202020204" pitchFamily="34" charset="0"/>
              <a:buChar char="•"/>
            </a:pPr>
            <a:r>
              <a:rPr lang="it-IT" sz="2800" b="1" dirty="0">
                <a:latin typeface="Aptos" panose="020B0004020202020204" pitchFamily="34" charset="0"/>
              </a:rPr>
              <a:t>Privacy and Security: </a:t>
            </a:r>
            <a:r>
              <a:rPr lang="en-US" sz="2800" dirty="0">
                <a:latin typeface="Aptos" panose="020B0004020202020204" pitchFamily="34" charset="0"/>
              </a:rPr>
              <a:t>Anonymization of sensitive data (SHA256), authentication with JSON Web Tokens (JWT)</a:t>
            </a:r>
          </a:p>
          <a:p>
            <a:pPr marL="457200" indent="-457200" algn="just">
              <a:buFont typeface="Arial" panose="020B0604020202020204" pitchFamily="34" charset="0"/>
              <a:buChar char="•"/>
            </a:pPr>
            <a:endParaRPr lang="en-US" sz="1400" dirty="0">
              <a:latin typeface="Aptos" panose="020B0004020202020204" pitchFamily="34" charset="0"/>
            </a:endParaRPr>
          </a:p>
          <a:p>
            <a:pPr marL="457200" indent="-457200" algn="just">
              <a:buFont typeface="Arial" panose="020B0604020202020204" pitchFamily="34" charset="0"/>
              <a:buChar char="•"/>
            </a:pPr>
            <a:r>
              <a:rPr lang="it-IT" sz="2800" b="1" dirty="0" err="1">
                <a:latin typeface="Aptos" panose="020B0004020202020204" pitchFamily="34" charset="0"/>
              </a:rPr>
              <a:t>Traceability</a:t>
            </a:r>
            <a:r>
              <a:rPr lang="it-IT" sz="2800" b="1" dirty="0">
                <a:latin typeface="Aptos" panose="020B0004020202020204" pitchFamily="34" charset="0"/>
              </a:rPr>
              <a:t> and Audit: </a:t>
            </a:r>
            <a:r>
              <a:rPr lang="it-IT" sz="2800" dirty="0" err="1">
                <a:latin typeface="Aptos" panose="020B0004020202020204" pitchFamily="34" charset="0"/>
              </a:rPr>
              <a:t>Asynchronous</a:t>
            </a:r>
            <a:r>
              <a:rPr lang="it-IT" sz="2800" dirty="0">
                <a:latin typeface="Aptos" panose="020B0004020202020204" pitchFamily="34" charset="0"/>
              </a:rPr>
              <a:t> </a:t>
            </a:r>
            <a:r>
              <a:rPr lang="it-IT" sz="2800" dirty="0" err="1">
                <a:latin typeface="Aptos" panose="020B0004020202020204" pitchFamily="34" charset="0"/>
              </a:rPr>
              <a:t>logging</a:t>
            </a:r>
            <a:endParaRPr lang="it-IT" sz="2800" dirty="0">
              <a:latin typeface="Aptos" panose="020B0004020202020204" pitchFamily="34" charset="0"/>
            </a:endParaRPr>
          </a:p>
          <a:p>
            <a:pPr marL="457200" indent="-457200" algn="just">
              <a:buFont typeface="Arial" panose="020B0604020202020204" pitchFamily="34" charset="0"/>
              <a:buChar char="•"/>
            </a:pPr>
            <a:endParaRPr lang="it-IT" sz="1400" dirty="0">
              <a:latin typeface="Aptos" panose="020B0004020202020204" pitchFamily="34" charset="0"/>
            </a:endParaRPr>
          </a:p>
          <a:p>
            <a:pPr marL="457200" indent="-457200" algn="just">
              <a:buFont typeface="Arial" panose="020B0604020202020204" pitchFamily="34" charset="0"/>
              <a:buChar char="•"/>
            </a:pPr>
            <a:r>
              <a:rPr lang="it-IT" sz="2800" b="1" dirty="0" err="1">
                <a:latin typeface="Aptos" panose="020B0004020202020204" pitchFamily="34" charset="0"/>
              </a:rPr>
              <a:t>Configurable</a:t>
            </a:r>
            <a:r>
              <a:rPr lang="it-IT" sz="2800" b="1" dirty="0">
                <a:latin typeface="Aptos" panose="020B0004020202020204" pitchFamily="34" charset="0"/>
              </a:rPr>
              <a:t> </a:t>
            </a:r>
            <a:r>
              <a:rPr lang="it-IT" sz="2800" b="1" dirty="0" err="1">
                <a:latin typeface="Aptos" panose="020B0004020202020204" pitchFamily="34" charset="0"/>
              </a:rPr>
              <a:t>Response</a:t>
            </a:r>
            <a:r>
              <a:rPr lang="it-IT" sz="2800" b="1" dirty="0">
                <a:latin typeface="Aptos" panose="020B0004020202020204" pitchFamily="34" charset="0"/>
              </a:rPr>
              <a:t> Times: </a:t>
            </a:r>
            <a:r>
              <a:rPr lang="en-US" sz="2800" dirty="0">
                <a:latin typeface="Aptos" panose="020B0004020202020204" pitchFamily="34" charset="0"/>
              </a:rPr>
              <a:t>Runtime choice between faster or more accurate AI models (Swappable AI)</a:t>
            </a:r>
          </a:p>
          <a:p>
            <a:pPr marL="457200" indent="-457200" algn="just">
              <a:buFont typeface="Arial" panose="020B0604020202020204" pitchFamily="34" charset="0"/>
              <a:buChar char="•"/>
            </a:pPr>
            <a:endParaRPr lang="en-US" sz="1400" dirty="0">
              <a:latin typeface="Aptos" panose="020B0004020202020204" pitchFamily="34" charset="0"/>
            </a:endParaRPr>
          </a:p>
          <a:p>
            <a:pPr marL="457200" indent="-457200" algn="just">
              <a:buFont typeface="Arial" panose="020B0604020202020204" pitchFamily="34" charset="0"/>
              <a:buChar char="•"/>
            </a:pPr>
            <a:r>
              <a:rPr lang="it-IT" sz="2800" b="1" dirty="0" err="1">
                <a:latin typeface="Aptos" panose="020B0004020202020204" pitchFamily="34" charset="0"/>
              </a:rPr>
              <a:t>Scalability</a:t>
            </a:r>
            <a:r>
              <a:rPr lang="it-IT" sz="2800" b="1" dirty="0">
                <a:latin typeface="Aptos" panose="020B0004020202020204" pitchFamily="34" charset="0"/>
              </a:rPr>
              <a:t> and </a:t>
            </a:r>
            <a:r>
              <a:rPr lang="it-IT" sz="2800" b="1" dirty="0" err="1">
                <a:latin typeface="Aptos" panose="020B0004020202020204" pitchFamily="34" charset="0"/>
              </a:rPr>
              <a:t>Maintainability</a:t>
            </a:r>
            <a:r>
              <a:rPr lang="it-IT" sz="2800" b="1" dirty="0">
                <a:latin typeface="Aptos" panose="020B0004020202020204" pitchFamily="34" charset="0"/>
              </a:rPr>
              <a:t>: </a:t>
            </a:r>
            <a:r>
              <a:rPr lang="it-IT" sz="2800" dirty="0" err="1">
                <a:latin typeface="Aptos" panose="020B0004020202020204" pitchFamily="34" charset="0"/>
              </a:rPr>
              <a:t>Containerized</a:t>
            </a:r>
            <a:r>
              <a:rPr lang="it-IT" sz="2800" dirty="0">
                <a:latin typeface="Aptos" panose="020B0004020202020204" pitchFamily="34" charset="0"/>
              </a:rPr>
              <a:t> m</a:t>
            </a:r>
            <a:r>
              <a:rPr lang="en-US" sz="2800" dirty="0" err="1">
                <a:latin typeface="Aptos" panose="020B0004020202020204" pitchFamily="34" charset="0"/>
              </a:rPr>
              <a:t>icroservices</a:t>
            </a:r>
            <a:r>
              <a:rPr lang="en-US" sz="2800" dirty="0">
                <a:latin typeface="Aptos" panose="020B0004020202020204" pitchFamily="34" charset="0"/>
              </a:rPr>
              <a:t> architecture through RESTful APIs communication</a:t>
            </a:r>
            <a:endParaRPr lang="it-IT" sz="2800" dirty="0">
              <a:latin typeface="Aptos" panose="020B0004020202020204" pitchFamily="34" charset="0"/>
            </a:endParaRPr>
          </a:p>
        </p:txBody>
      </p:sp>
      <p:pic>
        <p:nvPicPr>
          <p:cNvPr id="5126" name="Picture 6" descr="Non-Functional Requirements - UCD IT Services">
            <a:extLst>
              <a:ext uri="{FF2B5EF4-FFF2-40B4-BE49-F238E27FC236}">
                <a16:creationId xmlns:a16="http://schemas.microsoft.com/office/drawing/2014/main" id="{0E228737-AB4A-2F6E-1977-6B279EA6F98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9286" t="659" r="24955" b="-659"/>
          <a:stretch>
            <a:fillRect/>
          </a:stretch>
        </p:blipFill>
        <p:spPr bwMode="auto">
          <a:xfrm>
            <a:off x="10210800" y="2819400"/>
            <a:ext cx="1719953" cy="1926348"/>
          </a:xfrm>
          <a:prstGeom prst="rect">
            <a:avLst/>
          </a:prstGeom>
          <a:noFill/>
          <a:extLst>
            <a:ext uri="{909E8E84-426E-40DD-AFC4-6F175D3DCCD1}">
              <a14:hiddenFill xmlns:a14="http://schemas.microsoft.com/office/drawing/2010/main">
                <a:solidFill>
                  <a:srgbClr val="FFFFFF"/>
                </a:solidFill>
              </a14:hiddenFill>
            </a:ext>
          </a:extLst>
        </p:spPr>
      </p:pic>
      <p:grpSp>
        <p:nvGrpSpPr>
          <p:cNvPr id="6" name="object 9">
            <a:extLst>
              <a:ext uri="{FF2B5EF4-FFF2-40B4-BE49-F238E27FC236}">
                <a16:creationId xmlns:a16="http://schemas.microsoft.com/office/drawing/2014/main" id="{99A39BFB-6EAA-3FAB-7065-40809EBD1857}"/>
              </a:ext>
            </a:extLst>
          </p:cNvPr>
          <p:cNvGrpSpPr/>
          <p:nvPr/>
        </p:nvGrpSpPr>
        <p:grpSpPr>
          <a:xfrm>
            <a:off x="-7209" y="6455826"/>
            <a:ext cx="12211050" cy="403860"/>
            <a:chOff x="-7209" y="6455826"/>
            <a:chExt cx="12211050" cy="403860"/>
          </a:xfrm>
          <a:solidFill>
            <a:srgbClr val="009999"/>
          </a:solidFill>
        </p:grpSpPr>
        <p:sp>
          <p:nvSpPr>
            <p:cNvPr id="7" name="object 10">
              <a:extLst>
                <a:ext uri="{FF2B5EF4-FFF2-40B4-BE49-F238E27FC236}">
                  <a16:creationId xmlns:a16="http://schemas.microsoft.com/office/drawing/2014/main" id="{2B91249E-24A0-43F6-74BD-8F8C230B12E0}"/>
                </a:ext>
              </a:extLst>
            </p:cNvPr>
            <p:cNvSpPr/>
            <p:nvPr/>
          </p:nvSpPr>
          <p:spPr>
            <a:xfrm>
              <a:off x="2315" y="6465351"/>
              <a:ext cx="12192000" cy="384810"/>
            </a:xfrm>
            <a:custGeom>
              <a:avLst/>
              <a:gdLst/>
              <a:ahLst/>
              <a:cxnLst/>
              <a:rect l="l" t="t" r="r" b="b"/>
              <a:pathLst>
                <a:path w="12192000" h="384809">
                  <a:moveTo>
                    <a:pt x="12191619" y="0"/>
                  </a:moveTo>
                  <a:lnTo>
                    <a:pt x="0" y="0"/>
                  </a:lnTo>
                  <a:lnTo>
                    <a:pt x="0" y="384657"/>
                  </a:lnTo>
                  <a:lnTo>
                    <a:pt x="12191619" y="384657"/>
                  </a:lnTo>
                  <a:lnTo>
                    <a:pt x="12191619" y="0"/>
                  </a:lnTo>
                  <a:close/>
                </a:path>
              </a:pathLst>
            </a:custGeom>
            <a:grpFill/>
          </p:spPr>
          <p:txBody>
            <a:bodyPr wrap="square" lIns="0" tIns="0" rIns="0" bIns="0" rtlCol="0"/>
            <a:lstStyle/>
            <a:p>
              <a:endParaRPr/>
            </a:p>
          </p:txBody>
        </p:sp>
        <p:sp>
          <p:nvSpPr>
            <p:cNvPr id="8" name="object 11">
              <a:extLst>
                <a:ext uri="{FF2B5EF4-FFF2-40B4-BE49-F238E27FC236}">
                  <a16:creationId xmlns:a16="http://schemas.microsoft.com/office/drawing/2014/main" id="{85F451B4-D568-648D-A2B6-E1C653468809}"/>
                </a:ext>
              </a:extLst>
            </p:cNvPr>
            <p:cNvSpPr/>
            <p:nvPr/>
          </p:nvSpPr>
          <p:spPr>
            <a:xfrm>
              <a:off x="2315" y="6465351"/>
              <a:ext cx="12192000" cy="384810"/>
            </a:xfrm>
            <a:custGeom>
              <a:avLst/>
              <a:gdLst/>
              <a:ahLst/>
              <a:cxnLst/>
              <a:rect l="l" t="t" r="r" b="b"/>
              <a:pathLst>
                <a:path w="12192000" h="384809">
                  <a:moveTo>
                    <a:pt x="0" y="384657"/>
                  </a:moveTo>
                  <a:lnTo>
                    <a:pt x="12191619" y="384657"/>
                  </a:lnTo>
                  <a:lnTo>
                    <a:pt x="12191619" y="0"/>
                  </a:lnTo>
                  <a:lnTo>
                    <a:pt x="0" y="0"/>
                  </a:lnTo>
                  <a:lnTo>
                    <a:pt x="0" y="384657"/>
                  </a:lnTo>
                  <a:close/>
                </a:path>
              </a:pathLst>
            </a:custGeom>
            <a:grpFill/>
            <a:ln w="19050">
              <a:solidFill>
                <a:srgbClr val="009999"/>
              </a:solidFill>
            </a:ln>
          </p:spPr>
          <p:txBody>
            <a:bodyPr wrap="square" lIns="0" tIns="0" rIns="0" bIns="0" rtlCol="0"/>
            <a:lstStyle/>
            <a:p>
              <a:endParaRPr/>
            </a:p>
          </p:txBody>
        </p:sp>
      </p:grpSp>
      <p:sp>
        <p:nvSpPr>
          <p:cNvPr id="10" name="CasellaDiTesto 9">
            <a:extLst>
              <a:ext uri="{FF2B5EF4-FFF2-40B4-BE49-F238E27FC236}">
                <a16:creationId xmlns:a16="http://schemas.microsoft.com/office/drawing/2014/main" id="{8AE974DB-5DD5-4C68-AFE9-1819784237DE}"/>
              </a:ext>
            </a:extLst>
          </p:cNvPr>
          <p:cNvSpPr txBox="1"/>
          <p:nvPr/>
        </p:nvSpPr>
        <p:spPr>
          <a:xfrm>
            <a:off x="11698855" y="6480829"/>
            <a:ext cx="308098" cy="369332"/>
          </a:xfrm>
          <a:prstGeom prst="rect">
            <a:avLst/>
          </a:prstGeom>
          <a:noFill/>
        </p:spPr>
        <p:txBody>
          <a:bodyPr wrap="none" rtlCol="0">
            <a:spAutoFit/>
          </a:bodyPr>
          <a:lstStyle/>
          <a:p>
            <a:pPr algn="ctr"/>
            <a:r>
              <a:rPr lang="it-IT">
                <a:solidFill>
                  <a:schemeClr val="bg1"/>
                </a:solidFill>
                <a:latin typeface="Aptos" panose="020B0004020202020204" pitchFamily="34" charset="0"/>
              </a:rPr>
              <a:t>4</a:t>
            </a:r>
          </a:p>
        </p:txBody>
      </p:sp>
      <p:sp>
        <p:nvSpPr>
          <p:cNvPr id="2" name="CasellaDiTesto 1">
            <a:extLst>
              <a:ext uri="{FF2B5EF4-FFF2-40B4-BE49-F238E27FC236}">
                <a16:creationId xmlns:a16="http://schemas.microsoft.com/office/drawing/2014/main" id="{598365B2-5236-9B7A-F5BF-22E05D66C995}"/>
              </a:ext>
            </a:extLst>
          </p:cNvPr>
          <p:cNvSpPr txBox="1"/>
          <p:nvPr/>
        </p:nvSpPr>
        <p:spPr>
          <a:xfrm>
            <a:off x="1037287" y="6473090"/>
            <a:ext cx="2084225" cy="369332"/>
          </a:xfrm>
          <a:prstGeom prst="rect">
            <a:avLst/>
          </a:prstGeom>
          <a:noFill/>
        </p:spPr>
        <p:txBody>
          <a:bodyPr wrap="none" rtlCol="0">
            <a:spAutoFit/>
          </a:bodyPr>
          <a:lstStyle/>
          <a:p>
            <a:pPr algn="ctr"/>
            <a:r>
              <a:rPr lang="it-IT" dirty="0" err="1">
                <a:solidFill>
                  <a:schemeClr val="bg1"/>
                </a:solidFill>
                <a:latin typeface="Aptos" panose="020B0004020202020204" pitchFamily="34" charset="0"/>
              </a:rPr>
              <a:t>EarlyCare</a:t>
            </a:r>
            <a:r>
              <a:rPr lang="it-IT" dirty="0">
                <a:solidFill>
                  <a:schemeClr val="bg1"/>
                </a:solidFill>
                <a:latin typeface="Aptos" panose="020B0004020202020204" pitchFamily="34" charset="0"/>
              </a:rPr>
              <a:t> Gateway</a:t>
            </a:r>
          </a:p>
        </p:txBody>
      </p:sp>
      <p:sp>
        <p:nvSpPr>
          <p:cNvPr id="3" name="CasellaDiTesto 2">
            <a:extLst>
              <a:ext uri="{FF2B5EF4-FFF2-40B4-BE49-F238E27FC236}">
                <a16:creationId xmlns:a16="http://schemas.microsoft.com/office/drawing/2014/main" id="{C7E0D40C-EB71-1DD4-D215-9F1969A65174}"/>
              </a:ext>
            </a:extLst>
          </p:cNvPr>
          <p:cNvSpPr txBox="1"/>
          <p:nvPr/>
        </p:nvSpPr>
        <p:spPr>
          <a:xfrm>
            <a:off x="84328" y="6473090"/>
            <a:ext cx="1104791" cy="369332"/>
          </a:xfrm>
          <a:prstGeom prst="rect">
            <a:avLst/>
          </a:prstGeom>
          <a:noFill/>
        </p:spPr>
        <p:txBody>
          <a:bodyPr wrap="none" rtlCol="0">
            <a:spAutoFit/>
          </a:bodyPr>
          <a:lstStyle/>
          <a:p>
            <a:pPr algn="ctr"/>
            <a:r>
              <a:rPr lang="it-IT" dirty="0">
                <a:solidFill>
                  <a:schemeClr val="bg1"/>
                </a:solidFill>
                <a:latin typeface="Aptos" panose="020B0004020202020204" pitchFamily="34" charset="0"/>
              </a:rPr>
              <a:t>Group 9 -</a:t>
            </a:r>
          </a:p>
        </p:txBody>
      </p:sp>
    </p:spTree>
    <p:extLst>
      <p:ext uri="{BB962C8B-B14F-4D97-AF65-F5344CB8AC3E}">
        <p14:creationId xmlns:p14="http://schemas.microsoft.com/office/powerpoint/2010/main" val="157869461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A1CE2E5-D78E-9207-8830-E0DD2F5F27EE}"/>
            </a:ext>
          </a:extLst>
        </p:cNvPr>
        <p:cNvGrpSpPr/>
        <p:nvPr/>
      </p:nvGrpSpPr>
      <p:grpSpPr>
        <a:xfrm>
          <a:off x="0" y="0"/>
          <a:ext cx="0" cy="0"/>
          <a:chOff x="0" y="0"/>
          <a:chExt cx="0" cy="0"/>
        </a:xfrm>
      </p:grpSpPr>
      <p:sp>
        <p:nvSpPr>
          <p:cNvPr id="19" name="CasellaDiTesto 18">
            <a:extLst>
              <a:ext uri="{FF2B5EF4-FFF2-40B4-BE49-F238E27FC236}">
                <a16:creationId xmlns:a16="http://schemas.microsoft.com/office/drawing/2014/main" id="{99721CA0-370C-E328-110D-953D9A758ABB}"/>
              </a:ext>
            </a:extLst>
          </p:cNvPr>
          <p:cNvSpPr txBox="1"/>
          <p:nvPr/>
        </p:nvSpPr>
        <p:spPr>
          <a:xfrm>
            <a:off x="723900" y="365720"/>
            <a:ext cx="4576894" cy="1015663"/>
          </a:xfrm>
          <a:prstGeom prst="rect">
            <a:avLst/>
          </a:prstGeom>
          <a:noFill/>
        </p:spPr>
        <p:txBody>
          <a:bodyPr wrap="none" rtlCol="0">
            <a:spAutoFit/>
          </a:bodyPr>
          <a:lstStyle/>
          <a:p>
            <a:r>
              <a:rPr lang="it-IT" sz="6000" b="1">
                <a:latin typeface="Aptos" panose="020B0004020202020204" pitchFamily="34" charset="0"/>
              </a:rPr>
              <a:t>Architecture</a:t>
            </a:r>
          </a:p>
        </p:txBody>
      </p:sp>
      <p:sp>
        <p:nvSpPr>
          <p:cNvPr id="8" name="CasellaDiTesto 7">
            <a:extLst>
              <a:ext uri="{FF2B5EF4-FFF2-40B4-BE49-F238E27FC236}">
                <a16:creationId xmlns:a16="http://schemas.microsoft.com/office/drawing/2014/main" id="{D9479A86-E474-AAD0-9442-F3C05EE4880A}"/>
              </a:ext>
            </a:extLst>
          </p:cNvPr>
          <p:cNvSpPr txBox="1"/>
          <p:nvPr/>
        </p:nvSpPr>
        <p:spPr>
          <a:xfrm>
            <a:off x="723900" y="1524000"/>
            <a:ext cx="3009900" cy="954107"/>
          </a:xfrm>
          <a:prstGeom prst="rect">
            <a:avLst/>
          </a:prstGeom>
          <a:noFill/>
        </p:spPr>
        <p:txBody>
          <a:bodyPr wrap="square" rtlCol="0">
            <a:spAutoFit/>
          </a:bodyPr>
          <a:lstStyle/>
          <a:p>
            <a:pPr algn="just"/>
            <a:r>
              <a:rPr lang="it-IT" sz="2800">
                <a:latin typeface="Aptos" panose="020B0004020202020204" pitchFamily="34" charset="0"/>
              </a:rPr>
              <a:t>UML </a:t>
            </a:r>
            <a:r>
              <a:rPr lang="it-IT" sz="2800" err="1">
                <a:latin typeface="Aptos" panose="020B0004020202020204" pitchFamily="34" charset="0"/>
              </a:rPr>
              <a:t>Diagram</a:t>
            </a:r>
            <a:endParaRPr lang="it-IT" sz="2800">
              <a:latin typeface="Aptos" panose="020B0004020202020204" pitchFamily="34" charset="0"/>
            </a:endParaRPr>
          </a:p>
          <a:p>
            <a:pPr algn="just"/>
            <a:r>
              <a:rPr lang="it-IT" sz="2800" b="1">
                <a:latin typeface="Aptos" panose="020B0004020202020204" pitchFamily="34" charset="0"/>
              </a:rPr>
              <a:t>Components</a:t>
            </a:r>
          </a:p>
        </p:txBody>
      </p:sp>
      <p:pic>
        <p:nvPicPr>
          <p:cNvPr id="6" name="Elemento grafico 5">
            <a:extLst>
              <a:ext uri="{FF2B5EF4-FFF2-40B4-BE49-F238E27FC236}">
                <a16:creationId xmlns:a16="http://schemas.microsoft.com/office/drawing/2014/main" id="{2E29BC67-3622-11F3-5042-DC4991CD620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8850" y="176965"/>
            <a:ext cx="9092288" cy="6303864"/>
          </a:xfrm>
          <a:prstGeom prst="rect">
            <a:avLst/>
          </a:prstGeom>
        </p:spPr>
      </p:pic>
      <p:grpSp>
        <p:nvGrpSpPr>
          <p:cNvPr id="5" name="object 9">
            <a:extLst>
              <a:ext uri="{FF2B5EF4-FFF2-40B4-BE49-F238E27FC236}">
                <a16:creationId xmlns:a16="http://schemas.microsoft.com/office/drawing/2014/main" id="{0F67B3AA-7243-7BBF-55A9-B6342F246E16}"/>
              </a:ext>
            </a:extLst>
          </p:cNvPr>
          <p:cNvGrpSpPr/>
          <p:nvPr/>
        </p:nvGrpSpPr>
        <p:grpSpPr>
          <a:xfrm>
            <a:off x="-7209" y="6455826"/>
            <a:ext cx="12211050" cy="403860"/>
            <a:chOff x="-7209" y="6455826"/>
            <a:chExt cx="12211050" cy="403860"/>
          </a:xfrm>
          <a:solidFill>
            <a:srgbClr val="009999"/>
          </a:solidFill>
        </p:grpSpPr>
        <p:sp>
          <p:nvSpPr>
            <p:cNvPr id="7" name="object 10">
              <a:extLst>
                <a:ext uri="{FF2B5EF4-FFF2-40B4-BE49-F238E27FC236}">
                  <a16:creationId xmlns:a16="http://schemas.microsoft.com/office/drawing/2014/main" id="{33379CFF-6C06-EB42-B02F-24DD129D6311}"/>
                </a:ext>
              </a:extLst>
            </p:cNvPr>
            <p:cNvSpPr/>
            <p:nvPr/>
          </p:nvSpPr>
          <p:spPr>
            <a:xfrm>
              <a:off x="2315" y="6465351"/>
              <a:ext cx="12192000" cy="384810"/>
            </a:xfrm>
            <a:custGeom>
              <a:avLst/>
              <a:gdLst/>
              <a:ahLst/>
              <a:cxnLst/>
              <a:rect l="l" t="t" r="r" b="b"/>
              <a:pathLst>
                <a:path w="12192000" h="384809">
                  <a:moveTo>
                    <a:pt x="12191619" y="0"/>
                  </a:moveTo>
                  <a:lnTo>
                    <a:pt x="0" y="0"/>
                  </a:lnTo>
                  <a:lnTo>
                    <a:pt x="0" y="384657"/>
                  </a:lnTo>
                  <a:lnTo>
                    <a:pt x="12191619" y="384657"/>
                  </a:lnTo>
                  <a:lnTo>
                    <a:pt x="12191619" y="0"/>
                  </a:lnTo>
                  <a:close/>
                </a:path>
              </a:pathLst>
            </a:custGeom>
            <a:grpFill/>
          </p:spPr>
          <p:txBody>
            <a:bodyPr wrap="square" lIns="0" tIns="0" rIns="0" bIns="0" rtlCol="0"/>
            <a:lstStyle/>
            <a:p>
              <a:endParaRPr/>
            </a:p>
          </p:txBody>
        </p:sp>
        <p:sp>
          <p:nvSpPr>
            <p:cNvPr id="10" name="object 11">
              <a:extLst>
                <a:ext uri="{FF2B5EF4-FFF2-40B4-BE49-F238E27FC236}">
                  <a16:creationId xmlns:a16="http://schemas.microsoft.com/office/drawing/2014/main" id="{BB3B6CAB-3ED1-E02C-2B89-7B710BFBA08D}"/>
                </a:ext>
              </a:extLst>
            </p:cNvPr>
            <p:cNvSpPr/>
            <p:nvPr/>
          </p:nvSpPr>
          <p:spPr>
            <a:xfrm>
              <a:off x="2315" y="6465351"/>
              <a:ext cx="12192000" cy="384810"/>
            </a:xfrm>
            <a:custGeom>
              <a:avLst/>
              <a:gdLst/>
              <a:ahLst/>
              <a:cxnLst/>
              <a:rect l="l" t="t" r="r" b="b"/>
              <a:pathLst>
                <a:path w="12192000" h="384809">
                  <a:moveTo>
                    <a:pt x="0" y="384657"/>
                  </a:moveTo>
                  <a:lnTo>
                    <a:pt x="12191619" y="384657"/>
                  </a:lnTo>
                  <a:lnTo>
                    <a:pt x="12191619" y="0"/>
                  </a:lnTo>
                  <a:lnTo>
                    <a:pt x="0" y="0"/>
                  </a:lnTo>
                  <a:lnTo>
                    <a:pt x="0" y="384657"/>
                  </a:lnTo>
                  <a:close/>
                </a:path>
              </a:pathLst>
            </a:custGeom>
            <a:grpFill/>
            <a:ln w="19050">
              <a:solidFill>
                <a:srgbClr val="009999"/>
              </a:solidFill>
            </a:ln>
          </p:spPr>
          <p:txBody>
            <a:bodyPr wrap="square" lIns="0" tIns="0" rIns="0" bIns="0" rtlCol="0"/>
            <a:lstStyle/>
            <a:p>
              <a:endParaRPr/>
            </a:p>
          </p:txBody>
        </p:sp>
      </p:grpSp>
      <p:sp>
        <p:nvSpPr>
          <p:cNvPr id="12" name="CasellaDiTesto 11">
            <a:extLst>
              <a:ext uri="{FF2B5EF4-FFF2-40B4-BE49-F238E27FC236}">
                <a16:creationId xmlns:a16="http://schemas.microsoft.com/office/drawing/2014/main" id="{1739D153-8F8C-BAAA-0FCD-456C9B730D5D}"/>
              </a:ext>
            </a:extLst>
          </p:cNvPr>
          <p:cNvSpPr txBox="1"/>
          <p:nvPr/>
        </p:nvSpPr>
        <p:spPr>
          <a:xfrm>
            <a:off x="11698855" y="6480829"/>
            <a:ext cx="308098" cy="369332"/>
          </a:xfrm>
          <a:prstGeom prst="rect">
            <a:avLst/>
          </a:prstGeom>
          <a:noFill/>
        </p:spPr>
        <p:txBody>
          <a:bodyPr wrap="none" rtlCol="0">
            <a:spAutoFit/>
          </a:bodyPr>
          <a:lstStyle/>
          <a:p>
            <a:pPr algn="ctr"/>
            <a:r>
              <a:rPr lang="it-IT">
                <a:solidFill>
                  <a:schemeClr val="bg1"/>
                </a:solidFill>
                <a:latin typeface="Aptos" panose="020B0004020202020204" pitchFamily="34" charset="0"/>
              </a:rPr>
              <a:t>5</a:t>
            </a:r>
          </a:p>
        </p:txBody>
      </p:sp>
      <p:sp>
        <p:nvSpPr>
          <p:cNvPr id="2" name="CasellaDiTesto 1">
            <a:extLst>
              <a:ext uri="{FF2B5EF4-FFF2-40B4-BE49-F238E27FC236}">
                <a16:creationId xmlns:a16="http://schemas.microsoft.com/office/drawing/2014/main" id="{C6D597E3-A6CA-6D8F-0D5E-4483CAECFE78}"/>
              </a:ext>
            </a:extLst>
          </p:cNvPr>
          <p:cNvSpPr txBox="1"/>
          <p:nvPr/>
        </p:nvSpPr>
        <p:spPr>
          <a:xfrm>
            <a:off x="1037287" y="6473090"/>
            <a:ext cx="2084225" cy="369332"/>
          </a:xfrm>
          <a:prstGeom prst="rect">
            <a:avLst/>
          </a:prstGeom>
          <a:noFill/>
        </p:spPr>
        <p:txBody>
          <a:bodyPr wrap="none" rtlCol="0">
            <a:spAutoFit/>
          </a:bodyPr>
          <a:lstStyle/>
          <a:p>
            <a:pPr algn="ctr"/>
            <a:r>
              <a:rPr lang="it-IT" dirty="0" err="1">
                <a:solidFill>
                  <a:schemeClr val="bg1"/>
                </a:solidFill>
                <a:latin typeface="Aptos" panose="020B0004020202020204" pitchFamily="34" charset="0"/>
              </a:rPr>
              <a:t>EarlyCare</a:t>
            </a:r>
            <a:r>
              <a:rPr lang="it-IT" dirty="0">
                <a:solidFill>
                  <a:schemeClr val="bg1"/>
                </a:solidFill>
                <a:latin typeface="Aptos" panose="020B0004020202020204" pitchFamily="34" charset="0"/>
              </a:rPr>
              <a:t> Gateway</a:t>
            </a:r>
          </a:p>
        </p:txBody>
      </p:sp>
      <p:sp>
        <p:nvSpPr>
          <p:cNvPr id="3" name="CasellaDiTesto 2">
            <a:extLst>
              <a:ext uri="{FF2B5EF4-FFF2-40B4-BE49-F238E27FC236}">
                <a16:creationId xmlns:a16="http://schemas.microsoft.com/office/drawing/2014/main" id="{C39FC3F8-AFA6-A852-1E5D-8E9DB61A924E}"/>
              </a:ext>
            </a:extLst>
          </p:cNvPr>
          <p:cNvSpPr txBox="1"/>
          <p:nvPr/>
        </p:nvSpPr>
        <p:spPr>
          <a:xfrm>
            <a:off x="84328" y="6473090"/>
            <a:ext cx="1104791" cy="369332"/>
          </a:xfrm>
          <a:prstGeom prst="rect">
            <a:avLst/>
          </a:prstGeom>
          <a:noFill/>
        </p:spPr>
        <p:txBody>
          <a:bodyPr wrap="none" rtlCol="0">
            <a:spAutoFit/>
          </a:bodyPr>
          <a:lstStyle/>
          <a:p>
            <a:pPr algn="ctr"/>
            <a:r>
              <a:rPr lang="it-IT" dirty="0">
                <a:solidFill>
                  <a:schemeClr val="bg1"/>
                </a:solidFill>
                <a:latin typeface="Aptos" panose="020B0004020202020204" pitchFamily="34" charset="0"/>
              </a:rPr>
              <a:t>Group 9 -</a:t>
            </a:r>
          </a:p>
        </p:txBody>
      </p:sp>
    </p:spTree>
    <p:extLst>
      <p:ext uri="{BB962C8B-B14F-4D97-AF65-F5344CB8AC3E}">
        <p14:creationId xmlns:p14="http://schemas.microsoft.com/office/powerpoint/2010/main" val="383465142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8E6C8AE-63FC-8A96-38A4-8AA3480866D7}"/>
            </a:ext>
          </a:extLst>
        </p:cNvPr>
        <p:cNvGrpSpPr/>
        <p:nvPr/>
      </p:nvGrpSpPr>
      <p:grpSpPr>
        <a:xfrm>
          <a:off x="0" y="0"/>
          <a:ext cx="0" cy="0"/>
          <a:chOff x="0" y="0"/>
          <a:chExt cx="0" cy="0"/>
        </a:xfrm>
      </p:grpSpPr>
      <p:sp>
        <p:nvSpPr>
          <p:cNvPr id="19" name="CasellaDiTesto 18">
            <a:extLst>
              <a:ext uri="{FF2B5EF4-FFF2-40B4-BE49-F238E27FC236}">
                <a16:creationId xmlns:a16="http://schemas.microsoft.com/office/drawing/2014/main" id="{97160DC9-4268-3040-4C5B-3C0D7B1364B1}"/>
              </a:ext>
            </a:extLst>
          </p:cNvPr>
          <p:cNvSpPr txBox="1"/>
          <p:nvPr/>
        </p:nvSpPr>
        <p:spPr>
          <a:xfrm>
            <a:off x="723900" y="365720"/>
            <a:ext cx="5750292" cy="1015663"/>
          </a:xfrm>
          <a:prstGeom prst="rect">
            <a:avLst/>
          </a:prstGeom>
          <a:noFill/>
        </p:spPr>
        <p:txBody>
          <a:bodyPr wrap="none" rtlCol="0">
            <a:spAutoFit/>
          </a:bodyPr>
          <a:lstStyle/>
          <a:p>
            <a:r>
              <a:rPr lang="it-IT" sz="6000" b="1">
                <a:latin typeface="Aptos" panose="020B0004020202020204" pitchFamily="34" charset="0"/>
              </a:rPr>
              <a:t>Design Patterns</a:t>
            </a:r>
          </a:p>
        </p:txBody>
      </p:sp>
      <p:sp>
        <p:nvSpPr>
          <p:cNvPr id="5" name="CasellaDiTesto 4">
            <a:extLst>
              <a:ext uri="{FF2B5EF4-FFF2-40B4-BE49-F238E27FC236}">
                <a16:creationId xmlns:a16="http://schemas.microsoft.com/office/drawing/2014/main" id="{B15ECF5C-018A-1D97-6AB1-765A51AE7265}"/>
              </a:ext>
            </a:extLst>
          </p:cNvPr>
          <p:cNvSpPr txBox="1"/>
          <p:nvPr/>
        </p:nvSpPr>
        <p:spPr>
          <a:xfrm>
            <a:off x="838200" y="1676400"/>
            <a:ext cx="10325100" cy="4185761"/>
          </a:xfrm>
          <a:prstGeom prst="rect">
            <a:avLst/>
          </a:prstGeom>
          <a:noFill/>
        </p:spPr>
        <p:txBody>
          <a:bodyPr wrap="square" rtlCol="0">
            <a:spAutoFit/>
          </a:bodyPr>
          <a:lstStyle/>
          <a:p>
            <a:pPr algn="just"/>
            <a:r>
              <a:rPr lang="en-US" sz="2800" b="1">
                <a:latin typeface="Aptos" panose="020B0004020202020204" pitchFamily="34" charset="0"/>
              </a:rPr>
              <a:t>Each service </a:t>
            </a:r>
            <a:r>
              <a:rPr lang="en-US" sz="2800">
                <a:latin typeface="Aptos" panose="020B0004020202020204" pitchFamily="34" charset="0"/>
              </a:rPr>
              <a:t>is associated with at least one </a:t>
            </a:r>
            <a:r>
              <a:rPr lang="en-US" sz="2800" b="1">
                <a:latin typeface="Aptos" panose="020B0004020202020204" pitchFamily="34" charset="0"/>
              </a:rPr>
              <a:t>design</a:t>
            </a:r>
            <a:r>
              <a:rPr lang="en-US" sz="2800">
                <a:latin typeface="Aptos" panose="020B0004020202020204" pitchFamily="34" charset="0"/>
              </a:rPr>
              <a:t> </a:t>
            </a:r>
            <a:r>
              <a:rPr lang="it-IT" sz="2800" b="1">
                <a:latin typeface="Aptos" panose="020B0004020202020204" pitchFamily="34" charset="0"/>
              </a:rPr>
              <a:t>pattern</a:t>
            </a:r>
            <a:endParaRPr lang="it-IT" sz="2800">
              <a:latin typeface="Aptos" panose="020B0004020202020204" pitchFamily="34" charset="0"/>
            </a:endParaRPr>
          </a:p>
          <a:p>
            <a:pPr algn="just"/>
            <a:endParaRPr lang="it-IT" sz="1400">
              <a:latin typeface="Aptos" panose="020B0004020202020204" pitchFamily="34" charset="0"/>
            </a:endParaRPr>
          </a:p>
          <a:p>
            <a:pPr marL="457200" indent="-457200" algn="just">
              <a:buFont typeface="Arial" panose="020B0604020202020204" pitchFamily="34" charset="0"/>
              <a:buChar char="•"/>
            </a:pPr>
            <a:r>
              <a:rPr lang="it-IT" sz="2800" b="1">
                <a:latin typeface="Aptos" panose="020B0004020202020204" pitchFamily="34" charset="0"/>
              </a:rPr>
              <a:t>Gateway: </a:t>
            </a:r>
            <a:r>
              <a:rPr lang="it-IT" sz="2800" err="1">
                <a:latin typeface="Aptos" panose="020B0004020202020204" pitchFamily="34" charset="0"/>
              </a:rPr>
              <a:t>Facade</a:t>
            </a:r>
            <a:endParaRPr lang="it-IT" sz="2800">
              <a:latin typeface="Aptos" panose="020B0004020202020204" pitchFamily="34" charset="0"/>
            </a:endParaRPr>
          </a:p>
          <a:p>
            <a:pPr marL="457200" indent="-457200" algn="just">
              <a:buFont typeface="Arial" panose="020B0604020202020204" pitchFamily="34" charset="0"/>
              <a:buChar char="•"/>
            </a:pPr>
            <a:endParaRPr lang="it-IT" sz="1400" b="1">
              <a:latin typeface="Aptos" panose="020B0004020202020204" pitchFamily="34" charset="0"/>
            </a:endParaRPr>
          </a:p>
          <a:p>
            <a:pPr marL="457200" indent="-457200" algn="just">
              <a:buFont typeface="Arial" panose="020B0604020202020204" pitchFamily="34" charset="0"/>
              <a:buChar char="•"/>
            </a:pPr>
            <a:r>
              <a:rPr lang="it-IT" sz="2800" b="1">
                <a:latin typeface="Aptos" panose="020B0004020202020204" pitchFamily="34" charset="0"/>
              </a:rPr>
              <a:t>Authentication: </a:t>
            </a:r>
            <a:r>
              <a:rPr lang="it-IT" sz="2800">
                <a:latin typeface="Aptos" panose="020B0004020202020204" pitchFamily="34" charset="0"/>
              </a:rPr>
              <a:t>Repository, Observer (</a:t>
            </a:r>
            <a:r>
              <a:rPr lang="it-IT" sz="2800" err="1">
                <a:latin typeface="Aptos" panose="020B0004020202020204" pitchFamily="34" charset="0"/>
              </a:rPr>
              <a:t>Subject</a:t>
            </a:r>
            <a:r>
              <a:rPr lang="it-IT" sz="2800">
                <a:latin typeface="Aptos" panose="020B0004020202020204" pitchFamily="34" charset="0"/>
              </a:rPr>
              <a:t>)</a:t>
            </a:r>
          </a:p>
          <a:p>
            <a:pPr marL="457200" indent="-457200" algn="just">
              <a:buFont typeface="Arial" panose="020B0604020202020204" pitchFamily="34" charset="0"/>
              <a:buChar char="•"/>
            </a:pPr>
            <a:endParaRPr lang="it-IT" sz="1400" b="1">
              <a:latin typeface="Aptos" panose="020B0004020202020204" pitchFamily="34" charset="0"/>
            </a:endParaRPr>
          </a:p>
          <a:p>
            <a:pPr marL="457200" indent="-457200" algn="just">
              <a:buFont typeface="Arial" panose="020B0604020202020204" pitchFamily="34" charset="0"/>
              <a:buChar char="•"/>
            </a:pPr>
            <a:r>
              <a:rPr lang="it-IT" sz="2800" b="1">
                <a:latin typeface="Aptos" panose="020B0004020202020204" pitchFamily="34" charset="0"/>
              </a:rPr>
              <a:t>Data Processing: </a:t>
            </a:r>
            <a:r>
              <a:rPr lang="it-IT" sz="2800">
                <a:latin typeface="Aptos" panose="020B0004020202020204" pitchFamily="34" charset="0"/>
              </a:rPr>
              <a:t>Chain of </a:t>
            </a:r>
            <a:r>
              <a:rPr lang="it-IT" sz="2800" err="1">
                <a:latin typeface="Aptos" panose="020B0004020202020204" pitchFamily="34" charset="0"/>
              </a:rPr>
              <a:t>Responsibility</a:t>
            </a:r>
            <a:r>
              <a:rPr lang="it-IT" sz="2800">
                <a:latin typeface="Aptos" panose="020B0004020202020204" pitchFamily="34" charset="0"/>
              </a:rPr>
              <a:t>, Repository, Observer (</a:t>
            </a:r>
            <a:r>
              <a:rPr lang="it-IT" sz="2800" err="1">
                <a:latin typeface="Aptos" panose="020B0004020202020204" pitchFamily="34" charset="0"/>
              </a:rPr>
              <a:t>Subject</a:t>
            </a:r>
            <a:r>
              <a:rPr lang="it-IT" sz="2800">
                <a:latin typeface="Aptos" panose="020B0004020202020204" pitchFamily="34" charset="0"/>
              </a:rPr>
              <a:t>)</a:t>
            </a:r>
          </a:p>
          <a:p>
            <a:pPr marL="457200" indent="-457200" algn="just">
              <a:buFont typeface="Arial" panose="020B0604020202020204" pitchFamily="34" charset="0"/>
              <a:buChar char="•"/>
            </a:pPr>
            <a:endParaRPr lang="it-IT" sz="1400" b="1">
              <a:latin typeface="Aptos" panose="020B0004020202020204" pitchFamily="34" charset="0"/>
            </a:endParaRPr>
          </a:p>
          <a:p>
            <a:pPr marL="457200" indent="-457200" algn="just">
              <a:buFont typeface="Arial" panose="020B0604020202020204" pitchFamily="34" charset="0"/>
              <a:buChar char="•"/>
            </a:pPr>
            <a:r>
              <a:rPr lang="it-IT" sz="2800" b="1" err="1">
                <a:latin typeface="Aptos" panose="020B0004020202020204" pitchFamily="34" charset="0"/>
              </a:rPr>
              <a:t>Explainable</a:t>
            </a:r>
            <a:r>
              <a:rPr lang="it-IT" sz="2800" b="1">
                <a:latin typeface="Aptos" panose="020B0004020202020204" pitchFamily="34" charset="0"/>
              </a:rPr>
              <a:t> AI: </a:t>
            </a:r>
            <a:r>
              <a:rPr lang="it-IT" sz="2800">
                <a:latin typeface="Aptos" panose="020B0004020202020204" pitchFamily="34" charset="0"/>
              </a:rPr>
              <a:t>Strategy, Repository</a:t>
            </a:r>
          </a:p>
          <a:p>
            <a:pPr marL="457200" indent="-457200" algn="just">
              <a:buFont typeface="Arial" panose="020B0604020202020204" pitchFamily="34" charset="0"/>
              <a:buChar char="•"/>
            </a:pPr>
            <a:endParaRPr lang="it-IT" sz="1400" b="1">
              <a:latin typeface="Aptos" panose="020B0004020202020204" pitchFamily="34" charset="0"/>
            </a:endParaRPr>
          </a:p>
          <a:p>
            <a:pPr marL="457200" indent="-457200" algn="just">
              <a:buFont typeface="Arial" panose="020B0604020202020204" pitchFamily="34" charset="0"/>
              <a:buChar char="•"/>
            </a:pPr>
            <a:r>
              <a:rPr lang="it-IT" sz="2800" b="1">
                <a:latin typeface="Aptos" panose="020B0004020202020204" pitchFamily="34" charset="0"/>
              </a:rPr>
              <a:t>Audit: </a:t>
            </a:r>
            <a:r>
              <a:rPr lang="it-IT" sz="2800">
                <a:latin typeface="Aptos" panose="020B0004020202020204" pitchFamily="34" charset="0"/>
              </a:rPr>
              <a:t>Observer, Repository</a:t>
            </a:r>
            <a:endParaRPr lang="it-IT" sz="2800" b="1">
              <a:latin typeface="Aptos" panose="020B0004020202020204" pitchFamily="34" charset="0"/>
            </a:endParaRPr>
          </a:p>
        </p:txBody>
      </p:sp>
      <p:pic>
        <p:nvPicPr>
          <p:cNvPr id="9218" name="Picture 2" descr="Design Patterns - bgasparotto">
            <a:extLst>
              <a:ext uri="{FF2B5EF4-FFF2-40B4-BE49-F238E27FC236}">
                <a16:creationId xmlns:a16="http://schemas.microsoft.com/office/drawing/2014/main" id="{8F4DC8FE-1E52-449B-C008-218CE9A8D5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3400" y="4495800"/>
            <a:ext cx="3324950" cy="1745599"/>
          </a:xfrm>
          <a:prstGeom prst="rect">
            <a:avLst/>
          </a:prstGeom>
          <a:noFill/>
          <a:extLst>
            <a:ext uri="{909E8E84-426E-40DD-AFC4-6F175D3DCCD1}">
              <a14:hiddenFill xmlns:a14="http://schemas.microsoft.com/office/drawing/2010/main">
                <a:solidFill>
                  <a:srgbClr val="FFFFFF"/>
                </a:solidFill>
              </a14:hiddenFill>
            </a:ext>
          </a:extLst>
        </p:spPr>
      </p:pic>
      <p:grpSp>
        <p:nvGrpSpPr>
          <p:cNvPr id="7" name="object 9">
            <a:extLst>
              <a:ext uri="{FF2B5EF4-FFF2-40B4-BE49-F238E27FC236}">
                <a16:creationId xmlns:a16="http://schemas.microsoft.com/office/drawing/2014/main" id="{5DED9057-1C05-1EB3-856C-D0AB5FC2AFA3}"/>
              </a:ext>
            </a:extLst>
          </p:cNvPr>
          <p:cNvGrpSpPr/>
          <p:nvPr/>
        </p:nvGrpSpPr>
        <p:grpSpPr>
          <a:xfrm>
            <a:off x="-7209" y="6455826"/>
            <a:ext cx="12211050" cy="403860"/>
            <a:chOff x="-7209" y="6455826"/>
            <a:chExt cx="12211050" cy="403860"/>
          </a:xfrm>
          <a:solidFill>
            <a:srgbClr val="009999"/>
          </a:solidFill>
        </p:grpSpPr>
        <p:sp>
          <p:nvSpPr>
            <p:cNvPr id="8" name="object 10">
              <a:extLst>
                <a:ext uri="{FF2B5EF4-FFF2-40B4-BE49-F238E27FC236}">
                  <a16:creationId xmlns:a16="http://schemas.microsoft.com/office/drawing/2014/main" id="{19D3A005-986A-9FB5-74F9-488DEEB97C44}"/>
                </a:ext>
              </a:extLst>
            </p:cNvPr>
            <p:cNvSpPr/>
            <p:nvPr/>
          </p:nvSpPr>
          <p:spPr>
            <a:xfrm>
              <a:off x="2315" y="6465351"/>
              <a:ext cx="12192000" cy="384810"/>
            </a:xfrm>
            <a:custGeom>
              <a:avLst/>
              <a:gdLst/>
              <a:ahLst/>
              <a:cxnLst/>
              <a:rect l="l" t="t" r="r" b="b"/>
              <a:pathLst>
                <a:path w="12192000" h="384809">
                  <a:moveTo>
                    <a:pt x="12191619" y="0"/>
                  </a:moveTo>
                  <a:lnTo>
                    <a:pt x="0" y="0"/>
                  </a:lnTo>
                  <a:lnTo>
                    <a:pt x="0" y="384657"/>
                  </a:lnTo>
                  <a:lnTo>
                    <a:pt x="12191619" y="384657"/>
                  </a:lnTo>
                  <a:lnTo>
                    <a:pt x="12191619" y="0"/>
                  </a:lnTo>
                  <a:close/>
                </a:path>
              </a:pathLst>
            </a:custGeom>
            <a:grpFill/>
          </p:spPr>
          <p:txBody>
            <a:bodyPr wrap="square" lIns="0" tIns="0" rIns="0" bIns="0" rtlCol="0"/>
            <a:lstStyle/>
            <a:p>
              <a:endParaRPr/>
            </a:p>
          </p:txBody>
        </p:sp>
        <p:sp>
          <p:nvSpPr>
            <p:cNvPr id="9" name="object 11">
              <a:extLst>
                <a:ext uri="{FF2B5EF4-FFF2-40B4-BE49-F238E27FC236}">
                  <a16:creationId xmlns:a16="http://schemas.microsoft.com/office/drawing/2014/main" id="{0427C6A3-5035-9CF9-DC07-6AB44D2BC890}"/>
                </a:ext>
              </a:extLst>
            </p:cNvPr>
            <p:cNvSpPr/>
            <p:nvPr/>
          </p:nvSpPr>
          <p:spPr>
            <a:xfrm>
              <a:off x="2315" y="6465351"/>
              <a:ext cx="12192000" cy="384810"/>
            </a:xfrm>
            <a:custGeom>
              <a:avLst/>
              <a:gdLst/>
              <a:ahLst/>
              <a:cxnLst/>
              <a:rect l="l" t="t" r="r" b="b"/>
              <a:pathLst>
                <a:path w="12192000" h="384809">
                  <a:moveTo>
                    <a:pt x="0" y="384657"/>
                  </a:moveTo>
                  <a:lnTo>
                    <a:pt x="12191619" y="384657"/>
                  </a:lnTo>
                  <a:lnTo>
                    <a:pt x="12191619" y="0"/>
                  </a:lnTo>
                  <a:lnTo>
                    <a:pt x="0" y="0"/>
                  </a:lnTo>
                  <a:lnTo>
                    <a:pt x="0" y="384657"/>
                  </a:lnTo>
                  <a:close/>
                </a:path>
              </a:pathLst>
            </a:custGeom>
            <a:grpFill/>
            <a:ln w="19050">
              <a:solidFill>
                <a:srgbClr val="009999"/>
              </a:solidFill>
            </a:ln>
          </p:spPr>
          <p:txBody>
            <a:bodyPr wrap="square" lIns="0" tIns="0" rIns="0" bIns="0" rtlCol="0"/>
            <a:lstStyle/>
            <a:p>
              <a:endParaRPr/>
            </a:p>
          </p:txBody>
        </p:sp>
      </p:grpSp>
      <p:sp>
        <p:nvSpPr>
          <p:cNvPr id="11" name="CasellaDiTesto 10">
            <a:extLst>
              <a:ext uri="{FF2B5EF4-FFF2-40B4-BE49-F238E27FC236}">
                <a16:creationId xmlns:a16="http://schemas.microsoft.com/office/drawing/2014/main" id="{8B57C76C-7679-20C5-2075-8CCA7E24D9FB}"/>
              </a:ext>
            </a:extLst>
          </p:cNvPr>
          <p:cNvSpPr txBox="1"/>
          <p:nvPr/>
        </p:nvSpPr>
        <p:spPr>
          <a:xfrm>
            <a:off x="11698855" y="6480829"/>
            <a:ext cx="308098" cy="369332"/>
          </a:xfrm>
          <a:prstGeom prst="rect">
            <a:avLst/>
          </a:prstGeom>
          <a:noFill/>
        </p:spPr>
        <p:txBody>
          <a:bodyPr wrap="none" rtlCol="0">
            <a:spAutoFit/>
          </a:bodyPr>
          <a:lstStyle/>
          <a:p>
            <a:pPr algn="ctr"/>
            <a:r>
              <a:rPr lang="it-IT">
                <a:solidFill>
                  <a:schemeClr val="bg1"/>
                </a:solidFill>
                <a:latin typeface="Aptos" panose="020B0004020202020204" pitchFamily="34" charset="0"/>
              </a:rPr>
              <a:t>6</a:t>
            </a:r>
          </a:p>
        </p:txBody>
      </p:sp>
      <p:sp>
        <p:nvSpPr>
          <p:cNvPr id="2" name="CasellaDiTesto 1">
            <a:extLst>
              <a:ext uri="{FF2B5EF4-FFF2-40B4-BE49-F238E27FC236}">
                <a16:creationId xmlns:a16="http://schemas.microsoft.com/office/drawing/2014/main" id="{8A27748C-85A6-C584-F670-AD20DC3A5DD5}"/>
              </a:ext>
            </a:extLst>
          </p:cNvPr>
          <p:cNvSpPr txBox="1"/>
          <p:nvPr/>
        </p:nvSpPr>
        <p:spPr>
          <a:xfrm>
            <a:off x="1037287" y="6473090"/>
            <a:ext cx="2084225" cy="369332"/>
          </a:xfrm>
          <a:prstGeom prst="rect">
            <a:avLst/>
          </a:prstGeom>
          <a:noFill/>
        </p:spPr>
        <p:txBody>
          <a:bodyPr wrap="none" rtlCol="0">
            <a:spAutoFit/>
          </a:bodyPr>
          <a:lstStyle/>
          <a:p>
            <a:pPr algn="ctr"/>
            <a:r>
              <a:rPr lang="it-IT" dirty="0" err="1">
                <a:solidFill>
                  <a:schemeClr val="bg1"/>
                </a:solidFill>
                <a:latin typeface="Aptos" panose="020B0004020202020204" pitchFamily="34" charset="0"/>
              </a:rPr>
              <a:t>EarlyCare</a:t>
            </a:r>
            <a:r>
              <a:rPr lang="it-IT" dirty="0">
                <a:solidFill>
                  <a:schemeClr val="bg1"/>
                </a:solidFill>
                <a:latin typeface="Aptos" panose="020B0004020202020204" pitchFamily="34" charset="0"/>
              </a:rPr>
              <a:t> Gateway</a:t>
            </a:r>
          </a:p>
        </p:txBody>
      </p:sp>
      <p:sp>
        <p:nvSpPr>
          <p:cNvPr id="3" name="CasellaDiTesto 2">
            <a:extLst>
              <a:ext uri="{FF2B5EF4-FFF2-40B4-BE49-F238E27FC236}">
                <a16:creationId xmlns:a16="http://schemas.microsoft.com/office/drawing/2014/main" id="{5F114ED2-A818-0881-3739-ADD31C71C478}"/>
              </a:ext>
            </a:extLst>
          </p:cNvPr>
          <p:cNvSpPr txBox="1"/>
          <p:nvPr/>
        </p:nvSpPr>
        <p:spPr>
          <a:xfrm>
            <a:off x="84328" y="6473090"/>
            <a:ext cx="1104791" cy="369332"/>
          </a:xfrm>
          <a:prstGeom prst="rect">
            <a:avLst/>
          </a:prstGeom>
          <a:noFill/>
        </p:spPr>
        <p:txBody>
          <a:bodyPr wrap="none" rtlCol="0">
            <a:spAutoFit/>
          </a:bodyPr>
          <a:lstStyle/>
          <a:p>
            <a:pPr algn="ctr"/>
            <a:r>
              <a:rPr lang="it-IT" dirty="0">
                <a:solidFill>
                  <a:schemeClr val="bg1"/>
                </a:solidFill>
                <a:latin typeface="Aptos" panose="020B0004020202020204" pitchFamily="34" charset="0"/>
              </a:rPr>
              <a:t>Group 9 -</a:t>
            </a:r>
          </a:p>
        </p:txBody>
      </p:sp>
    </p:spTree>
    <p:extLst>
      <p:ext uri="{BB962C8B-B14F-4D97-AF65-F5344CB8AC3E}">
        <p14:creationId xmlns:p14="http://schemas.microsoft.com/office/powerpoint/2010/main" val="35253841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8BD7FEB-3D4E-EEC8-BDF6-2A4B5E7E336E}"/>
            </a:ext>
          </a:extLst>
        </p:cNvPr>
        <p:cNvGrpSpPr/>
        <p:nvPr/>
      </p:nvGrpSpPr>
      <p:grpSpPr>
        <a:xfrm>
          <a:off x="0" y="0"/>
          <a:ext cx="0" cy="0"/>
          <a:chOff x="0" y="0"/>
          <a:chExt cx="0" cy="0"/>
        </a:xfrm>
      </p:grpSpPr>
      <p:pic>
        <p:nvPicPr>
          <p:cNvPr id="6146" name="Picture 2" descr="Api icon simple thin line flat symbol | Premium Vector">
            <a:extLst>
              <a:ext uri="{FF2B5EF4-FFF2-40B4-BE49-F238E27FC236}">
                <a16:creationId xmlns:a16="http://schemas.microsoft.com/office/drawing/2014/main" id="{8323E0A4-3513-B019-C57A-57AFD97E14B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955" t="12699" r="18367" b="13370"/>
          <a:stretch>
            <a:fillRect/>
          </a:stretch>
        </p:blipFill>
        <p:spPr bwMode="auto">
          <a:xfrm>
            <a:off x="9751951" y="3243901"/>
            <a:ext cx="1692933" cy="2029251"/>
          </a:xfrm>
          <a:prstGeom prst="rect">
            <a:avLst/>
          </a:prstGeom>
          <a:noFill/>
          <a:extLst>
            <a:ext uri="{909E8E84-426E-40DD-AFC4-6F175D3DCCD1}">
              <a14:hiddenFill xmlns:a14="http://schemas.microsoft.com/office/drawing/2010/main">
                <a:solidFill>
                  <a:srgbClr val="FFFFFF"/>
                </a:solidFill>
              </a14:hiddenFill>
            </a:ext>
          </a:extLst>
        </p:spPr>
      </p:pic>
      <p:sp>
        <p:nvSpPr>
          <p:cNvPr id="19" name="CasellaDiTesto 18">
            <a:extLst>
              <a:ext uri="{FF2B5EF4-FFF2-40B4-BE49-F238E27FC236}">
                <a16:creationId xmlns:a16="http://schemas.microsoft.com/office/drawing/2014/main" id="{47AB6765-1958-F209-E2AF-3EE738D5690E}"/>
              </a:ext>
            </a:extLst>
          </p:cNvPr>
          <p:cNvSpPr txBox="1"/>
          <p:nvPr/>
        </p:nvSpPr>
        <p:spPr>
          <a:xfrm>
            <a:off x="723900" y="365720"/>
            <a:ext cx="10934700" cy="1938992"/>
          </a:xfrm>
          <a:prstGeom prst="rect">
            <a:avLst/>
          </a:prstGeom>
          <a:noFill/>
        </p:spPr>
        <p:txBody>
          <a:bodyPr wrap="square" rtlCol="0">
            <a:spAutoFit/>
          </a:bodyPr>
          <a:lstStyle/>
          <a:p>
            <a:r>
              <a:rPr lang="it-IT" sz="6000" b="1">
                <a:latin typeface="Aptos" panose="020B0004020202020204" pitchFamily="34" charset="0"/>
              </a:rPr>
              <a:t>Application Programming</a:t>
            </a:r>
          </a:p>
          <a:p>
            <a:r>
              <a:rPr lang="it-IT" sz="6000" b="1">
                <a:latin typeface="Aptos" panose="020B0004020202020204" pitchFamily="34" charset="0"/>
              </a:rPr>
              <a:t>Interface (API)</a:t>
            </a:r>
          </a:p>
        </p:txBody>
      </p:sp>
      <p:sp>
        <p:nvSpPr>
          <p:cNvPr id="8" name="CasellaDiTesto 7">
            <a:extLst>
              <a:ext uri="{FF2B5EF4-FFF2-40B4-BE49-F238E27FC236}">
                <a16:creationId xmlns:a16="http://schemas.microsoft.com/office/drawing/2014/main" id="{055BD2A3-640F-37F5-FD6A-6E43379E67D5}"/>
              </a:ext>
            </a:extLst>
          </p:cNvPr>
          <p:cNvSpPr txBox="1"/>
          <p:nvPr/>
        </p:nvSpPr>
        <p:spPr>
          <a:xfrm>
            <a:off x="747116" y="2829808"/>
            <a:ext cx="8343900" cy="2677656"/>
          </a:xfrm>
          <a:prstGeom prst="rect">
            <a:avLst/>
          </a:prstGeom>
          <a:noFill/>
        </p:spPr>
        <p:txBody>
          <a:bodyPr wrap="square" rtlCol="0">
            <a:spAutoFit/>
          </a:bodyPr>
          <a:lstStyle/>
          <a:p>
            <a:pPr algn="just"/>
            <a:r>
              <a:rPr lang="it-IT" sz="2800" b="1">
                <a:latin typeface="Aptos" panose="020B0004020202020204" pitchFamily="34" charset="0"/>
              </a:rPr>
              <a:t>Public endpoints</a:t>
            </a:r>
          </a:p>
          <a:p>
            <a:pPr algn="just"/>
            <a:endParaRPr lang="it-IT" sz="1400" b="1">
              <a:latin typeface="Aptos" panose="020B0004020202020204" pitchFamily="34" charset="0"/>
            </a:endParaRPr>
          </a:p>
          <a:p>
            <a:pPr marL="457200" indent="-457200" algn="just">
              <a:buFont typeface="Arial" panose="020B0604020202020204" pitchFamily="34" charset="0"/>
              <a:buChar char="•"/>
            </a:pPr>
            <a:r>
              <a:rPr lang="it-IT" sz="2800" b="1">
                <a:latin typeface="Aptos" panose="020B0004020202020204" pitchFamily="34" charset="0"/>
              </a:rPr>
              <a:t>POST /</a:t>
            </a:r>
            <a:r>
              <a:rPr lang="it-IT" sz="2800" b="1" err="1">
                <a:latin typeface="Aptos" panose="020B0004020202020204" pitchFamily="34" charset="0"/>
              </a:rPr>
              <a:t>register</a:t>
            </a:r>
            <a:r>
              <a:rPr lang="it-IT" sz="2800" b="1">
                <a:latin typeface="Aptos" panose="020B0004020202020204" pitchFamily="34" charset="0"/>
              </a:rPr>
              <a:t>: </a:t>
            </a:r>
            <a:r>
              <a:rPr lang="it-IT" sz="2800" err="1">
                <a:latin typeface="Aptos" panose="020B0004020202020204" pitchFamily="34" charset="0"/>
              </a:rPr>
              <a:t>Allows</a:t>
            </a:r>
            <a:r>
              <a:rPr lang="it-IT" sz="2800">
                <a:latin typeface="Aptos" panose="020B0004020202020204" pitchFamily="34" charset="0"/>
              </a:rPr>
              <a:t> </a:t>
            </a:r>
            <a:r>
              <a:rPr lang="it-IT" sz="2800" err="1">
                <a:latin typeface="Aptos" panose="020B0004020202020204" pitchFamily="34" charset="0"/>
              </a:rPr>
              <a:t>medical</a:t>
            </a:r>
            <a:r>
              <a:rPr lang="it-IT" sz="2800">
                <a:latin typeface="Aptos" panose="020B0004020202020204" pitchFamily="34" charset="0"/>
              </a:rPr>
              <a:t> staff </a:t>
            </a:r>
            <a:r>
              <a:rPr lang="it-IT" sz="2800" err="1">
                <a:latin typeface="Aptos" panose="020B0004020202020204" pitchFamily="34" charset="0"/>
              </a:rPr>
              <a:t>registration</a:t>
            </a:r>
            <a:endParaRPr lang="it-IT" sz="2800">
              <a:latin typeface="Aptos" panose="020B0004020202020204" pitchFamily="34" charset="0"/>
            </a:endParaRPr>
          </a:p>
          <a:p>
            <a:pPr marL="457200" indent="-457200" algn="just">
              <a:buFont typeface="Arial" panose="020B0604020202020204" pitchFamily="34" charset="0"/>
              <a:buChar char="•"/>
            </a:pPr>
            <a:endParaRPr lang="it-IT" sz="1400">
              <a:latin typeface="Aptos" panose="020B0004020202020204" pitchFamily="34" charset="0"/>
            </a:endParaRPr>
          </a:p>
          <a:p>
            <a:pPr marL="457200" indent="-457200" algn="just">
              <a:buFont typeface="Arial" panose="020B0604020202020204" pitchFamily="34" charset="0"/>
              <a:buChar char="•"/>
            </a:pPr>
            <a:r>
              <a:rPr lang="it-IT" sz="2800" b="1">
                <a:latin typeface="Aptos" panose="020B0004020202020204" pitchFamily="34" charset="0"/>
              </a:rPr>
              <a:t>POST /login: </a:t>
            </a:r>
            <a:r>
              <a:rPr lang="en-US" sz="2800">
                <a:latin typeface="Aptos" panose="020B0004020202020204" pitchFamily="34" charset="0"/>
              </a:rPr>
              <a:t>Authenticates the user and generates a JWT token, required for protected endpoints</a:t>
            </a:r>
            <a:endParaRPr lang="it-IT" sz="2800">
              <a:latin typeface="Aptos" panose="020B0004020202020204" pitchFamily="34" charset="0"/>
            </a:endParaRPr>
          </a:p>
        </p:txBody>
      </p:sp>
      <p:grpSp>
        <p:nvGrpSpPr>
          <p:cNvPr id="5" name="object 9">
            <a:extLst>
              <a:ext uri="{FF2B5EF4-FFF2-40B4-BE49-F238E27FC236}">
                <a16:creationId xmlns:a16="http://schemas.microsoft.com/office/drawing/2014/main" id="{4FC32F88-A9EB-F182-E39B-B235317DD15C}"/>
              </a:ext>
            </a:extLst>
          </p:cNvPr>
          <p:cNvGrpSpPr/>
          <p:nvPr/>
        </p:nvGrpSpPr>
        <p:grpSpPr>
          <a:xfrm>
            <a:off x="-7209" y="6455826"/>
            <a:ext cx="12211050" cy="403860"/>
            <a:chOff x="-7209" y="6455826"/>
            <a:chExt cx="12211050" cy="403860"/>
          </a:xfrm>
          <a:solidFill>
            <a:srgbClr val="009999"/>
          </a:solidFill>
        </p:grpSpPr>
        <p:sp>
          <p:nvSpPr>
            <p:cNvPr id="6" name="object 10">
              <a:extLst>
                <a:ext uri="{FF2B5EF4-FFF2-40B4-BE49-F238E27FC236}">
                  <a16:creationId xmlns:a16="http://schemas.microsoft.com/office/drawing/2014/main" id="{6C05112D-31C6-0EEF-E9D5-3C3E638B85A2}"/>
                </a:ext>
              </a:extLst>
            </p:cNvPr>
            <p:cNvSpPr/>
            <p:nvPr/>
          </p:nvSpPr>
          <p:spPr>
            <a:xfrm>
              <a:off x="2315" y="6465351"/>
              <a:ext cx="12192000" cy="384810"/>
            </a:xfrm>
            <a:custGeom>
              <a:avLst/>
              <a:gdLst/>
              <a:ahLst/>
              <a:cxnLst/>
              <a:rect l="l" t="t" r="r" b="b"/>
              <a:pathLst>
                <a:path w="12192000" h="384809">
                  <a:moveTo>
                    <a:pt x="12191619" y="0"/>
                  </a:moveTo>
                  <a:lnTo>
                    <a:pt x="0" y="0"/>
                  </a:lnTo>
                  <a:lnTo>
                    <a:pt x="0" y="384657"/>
                  </a:lnTo>
                  <a:lnTo>
                    <a:pt x="12191619" y="384657"/>
                  </a:lnTo>
                  <a:lnTo>
                    <a:pt x="12191619" y="0"/>
                  </a:lnTo>
                  <a:close/>
                </a:path>
              </a:pathLst>
            </a:custGeom>
            <a:grpFill/>
          </p:spPr>
          <p:txBody>
            <a:bodyPr wrap="square" lIns="0" tIns="0" rIns="0" bIns="0" rtlCol="0"/>
            <a:lstStyle/>
            <a:p>
              <a:endParaRPr/>
            </a:p>
          </p:txBody>
        </p:sp>
        <p:sp>
          <p:nvSpPr>
            <p:cNvPr id="7" name="object 11">
              <a:extLst>
                <a:ext uri="{FF2B5EF4-FFF2-40B4-BE49-F238E27FC236}">
                  <a16:creationId xmlns:a16="http://schemas.microsoft.com/office/drawing/2014/main" id="{6AA035BB-0D8C-D4C2-31D7-1E40A017942F}"/>
                </a:ext>
              </a:extLst>
            </p:cNvPr>
            <p:cNvSpPr/>
            <p:nvPr/>
          </p:nvSpPr>
          <p:spPr>
            <a:xfrm>
              <a:off x="2315" y="6465351"/>
              <a:ext cx="12192000" cy="384810"/>
            </a:xfrm>
            <a:custGeom>
              <a:avLst/>
              <a:gdLst/>
              <a:ahLst/>
              <a:cxnLst/>
              <a:rect l="l" t="t" r="r" b="b"/>
              <a:pathLst>
                <a:path w="12192000" h="384809">
                  <a:moveTo>
                    <a:pt x="0" y="384657"/>
                  </a:moveTo>
                  <a:lnTo>
                    <a:pt x="12191619" y="384657"/>
                  </a:lnTo>
                  <a:lnTo>
                    <a:pt x="12191619" y="0"/>
                  </a:lnTo>
                  <a:lnTo>
                    <a:pt x="0" y="0"/>
                  </a:lnTo>
                  <a:lnTo>
                    <a:pt x="0" y="384657"/>
                  </a:lnTo>
                  <a:close/>
                </a:path>
              </a:pathLst>
            </a:custGeom>
            <a:grpFill/>
            <a:ln w="19050">
              <a:solidFill>
                <a:srgbClr val="009999"/>
              </a:solidFill>
            </a:ln>
          </p:spPr>
          <p:txBody>
            <a:bodyPr wrap="square" lIns="0" tIns="0" rIns="0" bIns="0" rtlCol="0"/>
            <a:lstStyle/>
            <a:p>
              <a:endParaRPr/>
            </a:p>
          </p:txBody>
        </p:sp>
      </p:grpSp>
      <p:sp>
        <p:nvSpPr>
          <p:cNvPr id="11" name="CasellaDiTesto 10">
            <a:extLst>
              <a:ext uri="{FF2B5EF4-FFF2-40B4-BE49-F238E27FC236}">
                <a16:creationId xmlns:a16="http://schemas.microsoft.com/office/drawing/2014/main" id="{5C4ACBA9-D944-F734-9B01-7E41FF65FC65}"/>
              </a:ext>
            </a:extLst>
          </p:cNvPr>
          <p:cNvSpPr txBox="1"/>
          <p:nvPr/>
        </p:nvSpPr>
        <p:spPr>
          <a:xfrm>
            <a:off x="11698855" y="6480829"/>
            <a:ext cx="308098" cy="369332"/>
          </a:xfrm>
          <a:prstGeom prst="rect">
            <a:avLst/>
          </a:prstGeom>
          <a:noFill/>
        </p:spPr>
        <p:txBody>
          <a:bodyPr wrap="none" rtlCol="0">
            <a:spAutoFit/>
          </a:bodyPr>
          <a:lstStyle/>
          <a:p>
            <a:pPr algn="ctr"/>
            <a:r>
              <a:rPr lang="it-IT">
                <a:solidFill>
                  <a:schemeClr val="bg1"/>
                </a:solidFill>
                <a:latin typeface="Aptos" panose="020B0004020202020204" pitchFamily="34" charset="0"/>
              </a:rPr>
              <a:t>7</a:t>
            </a:r>
          </a:p>
        </p:txBody>
      </p:sp>
      <p:sp>
        <p:nvSpPr>
          <p:cNvPr id="2" name="CasellaDiTesto 1">
            <a:extLst>
              <a:ext uri="{FF2B5EF4-FFF2-40B4-BE49-F238E27FC236}">
                <a16:creationId xmlns:a16="http://schemas.microsoft.com/office/drawing/2014/main" id="{F8ACF1E2-BFD4-0AE6-6A15-B72CAF21C199}"/>
              </a:ext>
            </a:extLst>
          </p:cNvPr>
          <p:cNvSpPr txBox="1"/>
          <p:nvPr/>
        </p:nvSpPr>
        <p:spPr>
          <a:xfrm>
            <a:off x="1037287" y="6473090"/>
            <a:ext cx="2084225" cy="369332"/>
          </a:xfrm>
          <a:prstGeom prst="rect">
            <a:avLst/>
          </a:prstGeom>
          <a:noFill/>
        </p:spPr>
        <p:txBody>
          <a:bodyPr wrap="none" rtlCol="0">
            <a:spAutoFit/>
          </a:bodyPr>
          <a:lstStyle/>
          <a:p>
            <a:pPr algn="ctr"/>
            <a:r>
              <a:rPr lang="it-IT" dirty="0" err="1">
                <a:solidFill>
                  <a:schemeClr val="bg1"/>
                </a:solidFill>
                <a:latin typeface="Aptos" panose="020B0004020202020204" pitchFamily="34" charset="0"/>
              </a:rPr>
              <a:t>EarlyCare</a:t>
            </a:r>
            <a:r>
              <a:rPr lang="it-IT" dirty="0">
                <a:solidFill>
                  <a:schemeClr val="bg1"/>
                </a:solidFill>
                <a:latin typeface="Aptos" panose="020B0004020202020204" pitchFamily="34" charset="0"/>
              </a:rPr>
              <a:t> Gateway</a:t>
            </a:r>
          </a:p>
        </p:txBody>
      </p:sp>
      <p:sp>
        <p:nvSpPr>
          <p:cNvPr id="3" name="CasellaDiTesto 2">
            <a:extLst>
              <a:ext uri="{FF2B5EF4-FFF2-40B4-BE49-F238E27FC236}">
                <a16:creationId xmlns:a16="http://schemas.microsoft.com/office/drawing/2014/main" id="{DE39366C-C9C6-D8DC-F00C-10098ACA3384}"/>
              </a:ext>
            </a:extLst>
          </p:cNvPr>
          <p:cNvSpPr txBox="1"/>
          <p:nvPr/>
        </p:nvSpPr>
        <p:spPr>
          <a:xfrm>
            <a:off x="84328" y="6473090"/>
            <a:ext cx="1104791" cy="369332"/>
          </a:xfrm>
          <a:prstGeom prst="rect">
            <a:avLst/>
          </a:prstGeom>
          <a:noFill/>
        </p:spPr>
        <p:txBody>
          <a:bodyPr wrap="none" rtlCol="0">
            <a:spAutoFit/>
          </a:bodyPr>
          <a:lstStyle/>
          <a:p>
            <a:pPr algn="ctr"/>
            <a:r>
              <a:rPr lang="it-IT" dirty="0">
                <a:solidFill>
                  <a:schemeClr val="bg1"/>
                </a:solidFill>
                <a:latin typeface="Aptos" panose="020B0004020202020204" pitchFamily="34" charset="0"/>
              </a:rPr>
              <a:t>Group 9 -</a:t>
            </a:r>
          </a:p>
        </p:txBody>
      </p:sp>
    </p:spTree>
    <p:extLst>
      <p:ext uri="{BB962C8B-B14F-4D97-AF65-F5344CB8AC3E}">
        <p14:creationId xmlns:p14="http://schemas.microsoft.com/office/powerpoint/2010/main" val="300441110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9B7A6AE-1F68-C6EF-37D8-4B600D53FA1D}"/>
            </a:ext>
          </a:extLst>
        </p:cNvPr>
        <p:cNvGrpSpPr/>
        <p:nvPr/>
      </p:nvGrpSpPr>
      <p:grpSpPr>
        <a:xfrm>
          <a:off x="0" y="0"/>
          <a:ext cx="0" cy="0"/>
          <a:chOff x="0" y="0"/>
          <a:chExt cx="0" cy="0"/>
        </a:xfrm>
      </p:grpSpPr>
      <p:grpSp>
        <p:nvGrpSpPr>
          <p:cNvPr id="2" name="object 9">
            <a:extLst>
              <a:ext uri="{FF2B5EF4-FFF2-40B4-BE49-F238E27FC236}">
                <a16:creationId xmlns:a16="http://schemas.microsoft.com/office/drawing/2014/main" id="{C119118A-6171-7C99-38B6-6A00F8F18976}"/>
              </a:ext>
            </a:extLst>
          </p:cNvPr>
          <p:cNvGrpSpPr/>
          <p:nvPr/>
        </p:nvGrpSpPr>
        <p:grpSpPr>
          <a:xfrm>
            <a:off x="-7209" y="6455826"/>
            <a:ext cx="12211050" cy="403860"/>
            <a:chOff x="-7209" y="6455826"/>
            <a:chExt cx="12211050" cy="403860"/>
          </a:xfrm>
          <a:solidFill>
            <a:srgbClr val="009999"/>
          </a:solidFill>
        </p:grpSpPr>
        <p:sp>
          <p:nvSpPr>
            <p:cNvPr id="3" name="object 10">
              <a:extLst>
                <a:ext uri="{FF2B5EF4-FFF2-40B4-BE49-F238E27FC236}">
                  <a16:creationId xmlns:a16="http://schemas.microsoft.com/office/drawing/2014/main" id="{2BE52C2C-7B67-84D1-A67F-4E416B030410}"/>
                </a:ext>
              </a:extLst>
            </p:cNvPr>
            <p:cNvSpPr/>
            <p:nvPr/>
          </p:nvSpPr>
          <p:spPr>
            <a:xfrm>
              <a:off x="2315" y="6465351"/>
              <a:ext cx="12192000" cy="384810"/>
            </a:xfrm>
            <a:custGeom>
              <a:avLst/>
              <a:gdLst/>
              <a:ahLst/>
              <a:cxnLst/>
              <a:rect l="l" t="t" r="r" b="b"/>
              <a:pathLst>
                <a:path w="12192000" h="384809">
                  <a:moveTo>
                    <a:pt x="12191619" y="0"/>
                  </a:moveTo>
                  <a:lnTo>
                    <a:pt x="0" y="0"/>
                  </a:lnTo>
                  <a:lnTo>
                    <a:pt x="0" y="384657"/>
                  </a:lnTo>
                  <a:lnTo>
                    <a:pt x="12191619" y="384657"/>
                  </a:lnTo>
                  <a:lnTo>
                    <a:pt x="12191619" y="0"/>
                  </a:lnTo>
                  <a:close/>
                </a:path>
              </a:pathLst>
            </a:custGeom>
            <a:grpFill/>
          </p:spPr>
          <p:txBody>
            <a:bodyPr wrap="square" lIns="0" tIns="0" rIns="0" bIns="0" rtlCol="0"/>
            <a:lstStyle/>
            <a:p>
              <a:endParaRPr/>
            </a:p>
          </p:txBody>
        </p:sp>
        <p:sp>
          <p:nvSpPr>
            <p:cNvPr id="4" name="object 11">
              <a:extLst>
                <a:ext uri="{FF2B5EF4-FFF2-40B4-BE49-F238E27FC236}">
                  <a16:creationId xmlns:a16="http://schemas.microsoft.com/office/drawing/2014/main" id="{C4A7C163-497E-CA11-ECE0-F0E19A291157}"/>
                </a:ext>
              </a:extLst>
            </p:cNvPr>
            <p:cNvSpPr/>
            <p:nvPr/>
          </p:nvSpPr>
          <p:spPr>
            <a:xfrm>
              <a:off x="2315" y="6465351"/>
              <a:ext cx="12192000" cy="384810"/>
            </a:xfrm>
            <a:custGeom>
              <a:avLst/>
              <a:gdLst/>
              <a:ahLst/>
              <a:cxnLst/>
              <a:rect l="l" t="t" r="r" b="b"/>
              <a:pathLst>
                <a:path w="12192000" h="384809">
                  <a:moveTo>
                    <a:pt x="0" y="384657"/>
                  </a:moveTo>
                  <a:lnTo>
                    <a:pt x="12191619" y="384657"/>
                  </a:lnTo>
                  <a:lnTo>
                    <a:pt x="12191619" y="0"/>
                  </a:lnTo>
                  <a:lnTo>
                    <a:pt x="0" y="0"/>
                  </a:lnTo>
                  <a:lnTo>
                    <a:pt x="0" y="384657"/>
                  </a:lnTo>
                  <a:close/>
                </a:path>
              </a:pathLst>
            </a:custGeom>
            <a:grpFill/>
            <a:ln w="19050">
              <a:solidFill>
                <a:srgbClr val="009999"/>
              </a:solidFill>
            </a:ln>
          </p:spPr>
          <p:txBody>
            <a:bodyPr wrap="square" lIns="0" tIns="0" rIns="0" bIns="0" rtlCol="0"/>
            <a:lstStyle/>
            <a:p>
              <a:endParaRPr/>
            </a:p>
          </p:txBody>
        </p:sp>
      </p:grpSp>
      <p:pic>
        <p:nvPicPr>
          <p:cNvPr id="8196" name="Picture 4" descr="lucchetto icona nel piatto stile clip arte 22062243 PNG">
            <a:extLst>
              <a:ext uri="{FF2B5EF4-FFF2-40B4-BE49-F238E27FC236}">
                <a16:creationId xmlns:a16="http://schemas.microsoft.com/office/drawing/2014/main" id="{58517C18-FDFA-5339-5E5B-24A9DEC8292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1042" y="3429000"/>
            <a:ext cx="1447800" cy="1447800"/>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AE63FB91-EF3D-4063-1D64-550DB9C4830B}"/>
              </a:ext>
            </a:extLst>
          </p:cNvPr>
          <p:cNvSpPr txBox="1"/>
          <p:nvPr/>
        </p:nvSpPr>
        <p:spPr>
          <a:xfrm>
            <a:off x="723900" y="365720"/>
            <a:ext cx="10934700" cy="1938992"/>
          </a:xfrm>
          <a:prstGeom prst="rect">
            <a:avLst/>
          </a:prstGeom>
          <a:noFill/>
        </p:spPr>
        <p:txBody>
          <a:bodyPr wrap="square" rtlCol="0">
            <a:spAutoFit/>
          </a:bodyPr>
          <a:lstStyle/>
          <a:p>
            <a:r>
              <a:rPr lang="it-IT" sz="6000" b="1">
                <a:latin typeface="Aptos" panose="020B0004020202020204" pitchFamily="34" charset="0"/>
              </a:rPr>
              <a:t>Application Programming</a:t>
            </a:r>
          </a:p>
          <a:p>
            <a:r>
              <a:rPr lang="it-IT" sz="6000" b="1">
                <a:latin typeface="Aptos" panose="020B0004020202020204" pitchFamily="34" charset="0"/>
              </a:rPr>
              <a:t>Interface (API)</a:t>
            </a:r>
          </a:p>
        </p:txBody>
      </p:sp>
      <p:sp>
        <p:nvSpPr>
          <p:cNvPr id="9" name="CasellaDiTesto 8">
            <a:extLst>
              <a:ext uri="{FF2B5EF4-FFF2-40B4-BE49-F238E27FC236}">
                <a16:creationId xmlns:a16="http://schemas.microsoft.com/office/drawing/2014/main" id="{58BBF9A9-A12C-BFAC-9CFE-B5CF9B40F38F}"/>
              </a:ext>
            </a:extLst>
          </p:cNvPr>
          <p:cNvSpPr txBox="1"/>
          <p:nvPr/>
        </p:nvSpPr>
        <p:spPr>
          <a:xfrm>
            <a:off x="747116" y="2829808"/>
            <a:ext cx="8549284" cy="3108543"/>
          </a:xfrm>
          <a:prstGeom prst="rect">
            <a:avLst/>
          </a:prstGeom>
          <a:noFill/>
        </p:spPr>
        <p:txBody>
          <a:bodyPr wrap="square" rtlCol="0">
            <a:spAutoFit/>
          </a:bodyPr>
          <a:lstStyle/>
          <a:p>
            <a:pPr algn="just"/>
            <a:r>
              <a:rPr lang="it-IT" sz="2800" b="1" err="1">
                <a:latin typeface="Aptos" panose="020B0004020202020204" pitchFamily="34" charset="0"/>
              </a:rPr>
              <a:t>Protected</a:t>
            </a:r>
            <a:r>
              <a:rPr lang="it-IT" sz="2800" b="1">
                <a:latin typeface="Aptos" panose="020B0004020202020204" pitchFamily="34" charset="0"/>
              </a:rPr>
              <a:t> endpoints</a:t>
            </a:r>
          </a:p>
          <a:p>
            <a:pPr algn="just"/>
            <a:endParaRPr lang="it-IT" sz="1400" b="1">
              <a:latin typeface="Aptos" panose="020B0004020202020204" pitchFamily="34" charset="0"/>
            </a:endParaRPr>
          </a:p>
          <a:p>
            <a:pPr marL="457200" indent="-457200" algn="just">
              <a:buFont typeface="Arial" panose="020B0604020202020204" pitchFamily="34" charset="0"/>
              <a:buChar char="•"/>
            </a:pPr>
            <a:r>
              <a:rPr lang="it-IT" sz="2800" b="1">
                <a:latin typeface="Aptos" panose="020B0004020202020204" pitchFamily="34" charset="0"/>
              </a:rPr>
              <a:t>POST /</a:t>
            </a:r>
            <a:r>
              <a:rPr lang="it-IT" sz="2800" b="1" err="1">
                <a:latin typeface="Aptos" panose="020B0004020202020204" pitchFamily="34" charset="0"/>
              </a:rPr>
              <a:t>analyse</a:t>
            </a:r>
            <a:r>
              <a:rPr lang="it-IT" sz="2800" b="1">
                <a:latin typeface="Aptos" panose="020B0004020202020204" pitchFamily="34" charset="0"/>
              </a:rPr>
              <a:t>: </a:t>
            </a:r>
            <a:r>
              <a:rPr lang="en-US" sz="2800">
                <a:latin typeface="Aptos" panose="020B0004020202020204" pitchFamily="34" charset="0"/>
              </a:rPr>
              <a:t>Runs data processing and XAI analysis to obtain a diagnosis</a:t>
            </a:r>
            <a:endParaRPr lang="it-IT" sz="2800">
              <a:latin typeface="Aptos" panose="020B0004020202020204" pitchFamily="34" charset="0"/>
            </a:endParaRPr>
          </a:p>
          <a:p>
            <a:pPr marL="457200" indent="-457200" algn="just">
              <a:buFont typeface="Arial" panose="020B0604020202020204" pitchFamily="34" charset="0"/>
              <a:buChar char="•"/>
            </a:pPr>
            <a:endParaRPr lang="it-IT" sz="1400">
              <a:latin typeface="Aptos" panose="020B0004020202020204" pitchFamily="34" charset="0"/>
            </a:endParaRPr>
          </a:p>
          <a:p>
            <a:pPr marL="457200" indent="-457200" algn="just">
              <a:buFont typeface="Arial" panose="020B0604020202020204" pitchFamily="34" charset="0"/>
              <a:buChar char="•"/>
            </a:pPr>
            <a:r>
              <a:rPr lang="it-IT" sz="2800" b="1">
                <a:latin typeface="Aptos" panose="020B0004020202020204" pitchFamily="34" charset="0"/>
              </a:rPr>
              <a:t>GET /reports: </a:t>
            </a:r>
            <a:r>
              <a:rPr lang="en-US" sz="2800">
                <a:latin typeface="Aptos" panose="020B0004020202020204" pitchFamily="34" charset="0"/>
              </a:rPr>
              <a:t>Allows authenticated doctors to retrieve all generated reports or filter by a specific patient</a:t>
            </a:r>
            <a:endParaRPr lang="it-IT" sz="2800">
              <a:latin typeface="Aptos" panose="020B0004020202020204" pitchFamily="34" charset="0"/>
            </a:endParaRPr>
          </a:p>
        </p:txBody>
      </p:sp>
      <p:sp>
        <p:nvSpPr>
          <p:cNvPr id="14" name="CasellaDiTesto 13">
            <a:extLst>
              <a:ext uri="{FF2B5EF4-FFF2-40B4-BE49-F238E27FC236}">
                <a16:creationId xmlns:a16="http://schemas.microsoft.com/office/drawing/2014/main" id="{339E85E8-47E9-1F62-C7D8-EEC4D8CB884D}"/>
              </a:ext>
            </a:extLst>
          </p:cNvPr>
          <p:cNvSpPr txBox="1"/>
          <p:nvPr/>
        </p:nvSpPr>
        <p:spPr>
          <a:xfrm>
            <a:off x="11698855" y="6480829"/>
            <a:ext cx="308098" cy="369332"/>
          </a:xfrm>
          <a:prstGeom prst="rect">
            <a:avLst/>
          </a:prstGeom>
          <a:noFill/>
        </p:spPr>
        <p:txBody>
          <a:bodyPr wrap="none" rtlCol="0">
            <a:spAutoFit/>
          </a:bodyPr>
          <a:lstStyle/>
          <a:p>
            <a:pPr algn="ctr"/>
            <a:r>
              <a:rPr lang="it-IT">
                <a:solidFill>
                  <a:schemeClr val="bg1"/>
                </a:solidFill>
                <a:latin typeface="Aptos" panose="020B0004020202020204" pitchFamily="34" charset="0"/>
              </a:rPr>
              <a:t>8</a:t>
            </a:r>
          </a:p>
        </p:txBody>
      </p:sp>
      <p:sp>
        <p:nvSpPr>
          <p:cNvPr id="5" name="CasellaDiTesto 4">
            <a:extLst>
              <a:ext uri="{FF2B5EF4-FFF2-40B4-BE49-F238E27FC236}">
                <a16:creationId xmlns:a16="http://schemas.microsoft.com/office/drawing/2014/main" id="{4B06D643-5D4C-620F-1496-07CE4587777F}"/>
              </a:ext>
            </a:extLst>
          </p:cNvPr>
          <p:cNvSpPr txBox="1"/>
          <p:nvPr/>
        </p:nvSpPr>
        <p:spPr>
          <a:xfrm>
            <a:off x="1037287" y="6473090"/>
            <a:ext cx="2084225" cy="369332"/>
          </a:xfrm>
          <a:prstGeom prst="rect">
            <a:avLst/>
          </a:prstGeom>
          <a:noFill/>
        </p:spPr>
        <p:txBody>
          <a:bodyPr wrap="none" rtlCol="0">
            <a:spAutoFit/>
          </a:bodyPr>
          <a:lstStyle/>
          <a:p>
            <a:pPr algn="ctr"/>
            <a:r>
              <a:rPr lang="it-IT" dirty="0" err="1">
                <a:solidFill>
                  <a:schemeClr val="bg1"/>
                </a:solidFill>
                <a:latin typeface="Aptos" panose="020B0004020202020204" pitchFamily="34" charset="0"/>
              </a:rPr>
              <a:t>EarlyCare</a:t>
            </a:r>
            <a:r>
              <a:rPr lang="it-IT" dirty="0">
                <a:solidFill>
                  <a:schemeClr val="bg1"/>
                </a:solidFill>
                <a:latin typeface="Aptos" panose="020B0004020202020204" pitchFamily="34" charset="0"/>
              </a:rPr>
              <a:t> Gateway</a:t>
            </a:r>
          </a:p>
        </p:txBody>
      </p:sp>
      <p:sp>
        <p:nvSpPr>
          <p:cNvPr id="8" name="CasellaDiTesto 7">
            <a:extLst>
              <a:ext uri="{FF2B5EF4-FFF2-40B4-BE49-F238E27FC236}">
                <a16:creationId xmlns:a16="http://schemas.microsoft.com/office/drawing/2014/main" id="{5C401DAC-7097-E8C0-DAF4-DB4288C7A54F}"/>
              </a:ext>
            </a:extLst>
          </p:cNvPr>
          <p:cNvSpPr txBox="1"/>
          <p:nvPr/>
        </p:nvSpPr>
        <p:spPr>
          <a:xfrm>
            <a:off x="84328" y="6473090"/>
            <a:ext cx="1104791" cy="369332"/>
          </a:xfrm>
          <a:prstGeom prst="rect">
            <a:avLst/>
          </a:prstGeom>
          <a:noFill/>
        </p:spPr>
        <p:txBody>
          <a:bodyPr wrap="none" rtlCol="0">
            <a:spAutoFit/>
          </a:bodyPr>
          <a:lstStyle/>
          <a:p>
            <a:pPr algn="ctr"/>
            <a:r>
              <a:rPr lang="it-IT" dirty="0">
                <a:solidFill>
                  <a:schemeClr val="bg1"/>
                </a:solidFill>
                <a:latin typeface="Aptos" panose="020B0004020202020204" pitchFamily="34" charset="0"/>
              </a:rPr>
              <a:t>Group 9 -</a:t>
            </a:r>
          </a:p>
        </p:txBody>
      </p:sp>
    </p:spTree>
    <p:extLst>
      <p:ext uri="{BB962C8B-B14F-4D97-AF65-F5344CB8AC3E}">
        <p14:creationId xmlns:p14="http://schemas.microsoft.com/office/powerpoint/2010/main" val="198012502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6797AD4-30F5-6C53-088F-C66EAC33BBA9}"/>
            </a:ext>
          </a:extLst>
        </p:cNvPr>
        <p:cNvGrpSpPr/>
        <p:nvPr/>
      </p:nvGrpSpPr>
      <p:grpSpPr>
        <a:xfrm>
          <a:off x="0" y="0"/>
          <a:ext cx="0" cy="0"/>
          <a:chOff x="0" y="0"/>
          <a:chExt cx="0" cy="0"/>
        </a:xfrm>
      </p:grpSpPr>
      <p:sp>
        <p:nvSpPr>
          <p:cNvPr id="19" name="CasellaDiTesto 18">
            <a:extLst>
              <a:ext uri="{FF2B5EF4-FFF2-40B4-BE49-F238E27FC236}">
                <a16:creationId xmlns:a16="http://schemas.microsoft.com/office/drawing/2014/main" id="{1BBADE56-1068-AA23-91D3-5509BE3F66B4}"/>
              </a:ext>
            </a:extLst>
          </p:cNvPr>
          <p:cNvSpPr txBox="1"/>
          <p:nvPr/>
        </p:nvSpPr>
        <p:spPr>
          <a:xfrm>
            <a:off x="723900" y="365720"/>
            <a:ext cx="3496470" cy="1015663"/>
          </a:xfrm>
          <a:prstGeom prst="rect">
            <a:avLst/>
          </a:prstGeom>
          <a:noFill/>
        </p:spPr>
        <p:txBody>
          <a:bodyPr wrap="none" rtlCol="0">
            <a:spAutoFit/>
          </a:bodyPr>
          <a:lstStyle/>
          <a:p>
            <a:r>
              <a:rPr lang="it-IT" sz="6000" b="1">
                <a:latin typeface="Aptos" panose="020B0004020202020204" pitchFamily="34" charset="0"/>
              </a:rPr>
              <a:t>Use Case</a:t>
            </a:r>
          </a:p>
        </p:txBody>
      </p:sp>
      <p:sp>
        <p:nvSpPr>
          <p:cNvPr id="8" name="CasellaDiTesto 7">
            <a:extLst>
              <a:ext uri="{FF2B5EF4-FFF2-40B4-BE49-F238E27FC236}">
                <a16:creationId xmlns:a16="http://schemas.microsoft.com/office/drawing/2014/main" id="{F28AF682-5446-0457-ADCB-AA7B6D420D28}"/>
              </a:ext>
            </a:extLst>
          </p:cNvPr>
          <p:cNvSpPr txBox="1"/>
          <p:nvPr/>
        </p:nvSpPr>
        <p:spPr>
          <a:xfrm>
            <a:off x="707136" y="1524000"/>
            <a:ext cx="4648200" cy="2893100"/>
          </a:xfrm>
          <a:prstGeom prst="rect">
            <a:avLst/>
          </a:prstGeom>
          <a:noFill/>
        </p:spPr>
        <p:txBody>
          <a:bodyPr wrap="square" rtlCol="0">
            <a:spAutoFit/>
          </a:bodyPr>
          <a:lstStyle/>
          <a:p>
            <a:pPr algn="just"/>
            <a:r>
              <a:rPr lang="it-IT" sz="2800" dirty="0">
                <a:latin typeface="Aptos" panose="020B0004020202020204" pitchFamily="34" charset="0"/>
              </a:rPr>
              <a:t>UML </a:t>
            </a:r>
            <a:r>
              <a:rPr lang="it-IT" sz="2800" dirty="0" err="1">
                <a:latin typeface="Aptos" panose="020B0004020202020204" pitchFamily="34" charset="0"/>
              </a:rPr>
              <a:t>Diagram</a:t>
            </a:r>
            <a:endParaRPr lang="it-IT" sz="2800" dirty="0">
              <a:latin typeface="Aptos" panose="020B0004020202020204" pitchFamily="34" charset="0"/>
            </a:endParaRPr>
          </a:p>
          <a:p>
            <a:pPr algn="just"/>
            <a:r>
              <a:rPr lang="it-IT" sz="2800" b="1" dirty="0">
                <a:latin typeface="Aptos" panose="020B0004020202020204" pitchFamily="34" charset="0"/>
              </a:rPr>
              <a:t>Use Case</a:t>
            </a:r>
          </a:p>
          <a:p>
            <a:pPr marL="457200" indent="-457200" algn="just">
              <a:buFont typeface="Arial" panose="020B0604020202020204" pitchFamily="34" charset="0"/>
              <a:buChar char="•"/>
            </a:pPr>
            <a:endParaRPr lang="it-IT" sz="2800" dirty="0">
              <a:latin typeface="Aptos" panose="020B0004020202020204" pitchFamily="34" charset="0"/>
            </a:endParaRPr>
          </a:p>
          <a:p>
            <a:pPr algn="just"/>
            <a:r>
              <a:rPr lang="it-IT" sz="2800" b="1" dirty="0" err="1">
                <a:latin typeface="Aptos" panose="020B0004020202020204" pitchFamily="34" charset="0"/>
              </a:rPr>
              <a:t>Entities</a:t>
            </a:r>
            <a:endParaRPr lang="it-IT" sz="2800" b="1" dirty="0">
              <a:latin typeface="Aptos" panose="020B0004020202020204" pitchFamily="34" charset="0"/>
            </a:endParaRPr>
          </a:p>
          <a:p>
            <a:pPr algn="just"/>
            <a:endParaRPr lang="it-IT" sz="1400" b="1" dirty="0">
              <a:latin typeface="Aptos" panose="020B0004020202020204" pitchFamily="34" charset="0"/>
            </a:endParaRPr>
          </a:p>
          <a:p>
            <a:pPr marL="457200" indent="-457200" algn="just">
              <a:buFont typeface="Arial" panose="020B0604020202020204" pitchFamily="34" charset="0"/>
              <a:buChar char="•"/>
            </a:pPr>
            <a:r>
              <a:rPr lang="it-IT" sz="2800" dirty="0" err="1">
                <a:latin typeface="Aptos" panose="020B0004020202020204" pitchFamily="34" charset="0"/>
              </a:rPr>
              <a:t>Microservices</a:t>
            </a:r>
            <a:r>
              <a:rPr lang="it-IT" sz="2800" dirty="0">
                <a:latin typeface="Aptos" panose="020B0004020202020204" pitchFamily="34" charset="0"/>
              </a:rPr>
              <a:t> System</a:t>
            </a:r>
            <a:endParaRPr lang="it-IT" sz="1400" dirty="0">
              <a:latin typeface="Aptos" panose="020B0004020202020204" pitchFamily="34" charset="0"/>
            </a:endParaRPr>
          </a:p>
          <a:p>
            <a:pPr marL="457200" indent="-457200" algn="just">
              <a:buFont typeface="Arial" panose="020B0604020202020204" pitchFamily="34" charset="0"/>
              <a:buChar char="•"/>
            </a:pPr>
            <a:r>
              <a:rPr lang="it-IT" sz="2800" dirty="0">
                <a:latin typeface="Aptos" panose="020B0004020202020204" pitchFamily="34" charset="0"/>
              </a:rPr>
              <a:t>Doctor (</a:t>
            </a:r>
            <a:r>
              <a:rPr lang="it-IT" sz="2800" dirty="0" err="1">
                <a:latin typeface="Aptos" panose="020B0004020202020204" pitchFamily="34" charset="0"/>
              </a:rPr>
              <a:t>Actor</a:t>
            </a:r>
            <a:r>
              <a:rPr lang="it-IT" sz="2800" dirty="0">
                <a:latin typeface="Aptos" panose="020B0004020202020204" pitchFamily="34" charset="0"/>
              </a:rPr>
              <a:t>)</a:t>
            </a:r>
          </a:p>
        </p:txBody>
      </p:sp>
      <p:grpSp>
        <p:nvGrpSpPr>
          <p:cNvPr id="6" name="object 9">
            <a:extLst>
              <a:ext uri="{FF2B5EF4-FFF2-40B4-BE49-F238E27FC236}">
                <a16:creationId xmlns:a16="http://schemas.microsoft.com/office/drawing/2014/main" id="{E68AAB54-FD6E-3756-3550-8FF3160756C9}"/>
              </a:ext>
            </a:extLst>
          </p:cNvPr>
          <p:cNvGrpSpPr/>
          <p:nvPr/>
        </p:nvGrpSpPr>
        <p:grpSpPr>
          <a:xfrm>
            <a:off x="-7209" y="6455826"/>
            <a:ext cx="12211050" cy="403860"/>
            <a:chOff x="-7209" y="6455826"/>
            <a:chExt cx="12211050" cy="403860"/>
          </a:xfrm>
          <a:solidFill>
            <a:srgbClr val="009999"/>
          </a:solidFill>
        </p:grpSpPr>
        <p:sp>
          <p:nvSpPr>
            <p:cNvPr id="7" name="object 10">
              <a:extLst>
                <a:ext uri="{FF2B5EF4-FFF2-40B4-BE49-F238E27FC236}">
                  <a16:creationId xmlns:a16="http://schemas.microsoft.com/office/drawing/2014/main" id="{EDD2A8B9-6A07-88EB-2C51-BC1EB9455BC3}"/>
                </a:ext>
              </a:extLst>
            </p:cNvPr>
            <p:cNvSpPr/>
            <p:nvPr/>
          </p:nvSpPr>
          <p:spPr>
            <a:xfrm>
              <a:off x="2315" y="6465351"/>
              <a:ext cx="12192000" cy="384810"/>
            </a:xfrm>
            <a:custGeom>
              <a:avLst/>
              <a:gdLst/>
              <a:ahLst/>
              <a:cxnLst/>
              <a:rect l="l" t="t" r="r" b="b"/>
              <a:pathLst>
                <a:path w="12192000" h="384809">
                  <a:moveTo>
                    <a:pt x="12191619" y="0"/>
                  </a:moveTo>
                  <a:lnTo>
                    <a:pt x="0" y="0"/>
                  </a:lnTo>
                  <a:lnTo>
                    <a:pt x="0" y="384657"/>
                  </a:lnTo>
                  <a:lnTo>
                    <a:pt x="12191619" y="384657"/>
                  </a:lnTo>
                  <a:lnTo>
                    <a:pt x="12191619" y="0"/>
                  </a:lnTo>
                  <a:close/>
                </a:path>
              </a:pathLst>
            </a:custGeom>
            <a:grpFill/>
          </p:spPr>
          <p:txBody>
            <a:bodyPr wrap="square" lIns="0" tIns="0" rIns="0" bIns="0" rtlCol="0"/>
            <a:lstStyle/>
            <a:p>
              <a:endParaRPr/>
            </a:p>
          </p:txBody>
        </p:sp>
        <p:sp>
          <p:nvSpPr>
            <p:cNvPr id="9" name="object 11">
              <a:extLst>
                <a:ext uri="{FF2B5EF4-FFF2-40B4-BE49-F238E27FC236}">
                  <a16:creationId xmlns:a16="http://schemas.microsoft.com/office/drawing/2014/main" id="{CDE6FDB0-C509-3F0D-9FE0-5BA3BEC78702}"/>
                </a:ext>
              </a:extLst>
            </p:cNvPr>
            <p:cNvSpPr/>
            <p:nvPr/>
          </p:nvSpPr>
          <p:spPr>
            <a:xfrm>
              <a:off x="2315" y="6465351"/>
              <a:ext cx="12192000" cy="384810"/>
            </a:xfrm>
            <a:custGeom>
              <a:avLst/>
              <a:gdLst/>
              <a:ahLst/>
              <a:cxnLst/>
              <a:rect l="l" t="t" r="r" b="b"/>
              <a:pathLst>
                <a:path w="12192000" h="384809">
                  <a:moveTo>
                    <a:pt x="0" y="384657"/>
                  </a:moveTo>
                  <a:lnTo>
                    <a:pt x="12191619" y="384657"/>
                  </a:lnTo>
                  <a:lnTo>
                    <a:pt x="12191619" y="0"/>
                  </a:lnTo>
                  <a:lnTo>
                    <a:pt x="0" y="0"/>
                  </a:lnTo>
                  <a:lnTo>
                    <a:pt x="0" y="384657"/>
                  </a:lnTo>
                  <a:close/>
                </a:path>
              </a:pathLst>
            </a:custGeom>
            <a:grpFill/>
            <a:ln w="19050">
              <a:solidFill>
                <a:srgbClr val="009999"/>
              </a:solidFill>
            </a:ln>
          </p:spPr>
          <p:txBody>
            <a:bodyPr wrap="square" lIns="0" tIns="0" rIns="0" bIns="0" rtlCol="0"/>
            <a:lstStyle/>
            <a:p>
              <a:endParaRPr/>
            </a:p>
          </p:txBody>
        </p:sp>
      </p:grpSp>
      <p:sp>
        <p:nvSpPr>
          <p:cNvPr id="18" name="CasellaDiTesto 17">
            <a:extLst>
              <a:ext uri="{FF2B5EF4-FFF2-40B4-BE49-F238E27FC236}">
                <a16:creationId xmlns:a16="http://schemas.microsoft.com/office/drawing/2014/main" id="{9A4A6011-E3EF-4CAF-6DCE-D4238E952D28}"/>
              </a:ext>
            </a:extLst>
          </p:cNvPr>
          <p:cNvSpPr txBox="1"/>
          <p:nvPr/>
        </p:nvSpPr>
        <p:spPr>
          <a:xfrm>
            <a:off x="11698855" y="6480829"/>
            <a:ext cx="308098" cy="369332"/>
          </a:xfrm>
          <a:prstGeom prst="rect">
            <a:avLst/>
          </a:prstGeom>
          <a:noFill/>
        </p:spPr>
        <p:txBody>
          <a:bodyPr wrap="none" rtlCol="0">
            <a:spAutoFit/>
          </a:bodyPr>
          <a:lstStyle/>
          <a:p>
            <a:pPr algn="ctr"/>
            <a:r>
              <a:rPr lang="it-IT">
                <a:solidFill>
                  <a:schemeClr val="bg1"/>
                </a:solidFill>
                <a:latin typeface="Aptos" panose="020B0004020202020204" pitchFamily="34" charset="0"/>
              </a:rPr>
              <a:t>9</a:t>
            </a:r>
          </a:p>
        </p:txBody>
      </p:sp>
      <p:pic>
        <p:nvPicPr>
          <p:cNvPr id="3" name="Immagine 2" descr="Immagine che contiene testo, diagramma, Carattere, linea&#10;&#10;Il contenuto generato dall'IA potrebbe non essere corretto.">
            <a:extLst>
              <a:ext uri="{FF2B5EF4-FFF2-40B4-BE49-F238E27FC236}">
                <a16:creationId xmlns:a16="http://schemas.microsoft.com/office/drawing/2014/main" id="{5AF8155F-0727-7248-CC9A-5FE46530C2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2731" y="609600"/>
            <a:ext cx="6312153" cy="5434584"/>
          </a:xfrm>
          <a:prstGeom prst="rect">
            <a:avLst/>
          </a:prstGeom>
        </p:spPr>
      </p:pic>
      <p:sp>
        <p:nvSpPr>
          <p:cNvPr id="2" name="CasellaDiTesto 1">
            <a:extLst>
              <a:ext uri="{FF2B5EF4-FFF2-40B4-BE49-F238E27FC236}">
                <a16:creationId xmlns:a16="http://schemas.microsoft.com/office/drawing/2014/main" id="{F82A48F5-BB32-D059-33BA-0AA9CC4ABE7E}"/>
              </a:ext>
            </a:extLst>
          </p:cNvPr>
          <p:cNvSpPr txBox="1"/>
          <p:nvPr/>
        </p:nvSpPr>
        <p:spPr>
          <a:xfrm>
            <a:off x="1037287" y="6473090"/>
            <a:ext cx="2084225" cy="369332"/>
          </a:xfrm>
          <a:prstGeom prst="rect">
            <a:avLst/>
          </a:prstGeom>
          <a:noFill/>
        </p:spPr>
        <p:txBody>
          <a:bodyPr wrap="none" rtlCol="0">
            <a:spAutoFit/>
          </a:bodyPr>
          <a:lstStyle/>
          <a:p>
            <a:pPr algn="ctr"/>
            <a:r>
              <a:rPr lang="it-IT" dirty="0" err="1">
                <a:solidFill>
                  <a:schemeClr val="bg1"/>
                </a:solidFill>
                <a:latin typeface="Aptos" panose="020B0004020202020204" pitchFamily="34" charset="0"/>
              </a:rPr>
              <a:t>EarlyCare</a:t>
            </a:r>
            <a:r>
              <a:rPr lang="it-IT" dirty="0">
                <a:solidFill>
                  <a:schemeClr val="bg1"/>
                </a:solidFill>
                <a:latin typeface="Aptos" panose="020B0004020202020204" pitchFamily="34" charset="0"/>
              </a:rPr>
              <a:t> Gateway</a:t>
            </a:r>
          </a:p>
        </p:txBody>
      </p:sp>
      <p:sp>
        <p:nvSpPr>
          <p:cNvPr id="4" name="CasellaDiTesto 3">
            <a:extLst>
              <a:ext uri="{FF2B5EF4-FFF2-40B4-BE49-F238E27FC236}">
                <a16:creationId xmlns:a16="http://schemas.microsoft.com/office/drawing/2014/main" id="{1F9BD977-2BE8-2B56-27E3-90438BDDBF94}"/>
              </a:ext>
            </a:extLst>
          </p:cNvPr>
          <p:cNvSpPr txBox="1"/>
          <p:nvPr/>
        </p:nvSpPr>
        <p:spPr>
          <a:xfrm>
            <a:off x="84328" y="6473090"/>
            <a:ext cx="1104791" cy="369332"/>
          </a:xfrm>
          <a:prstGeom prst="rect">
            <a:avLst/>
          </a:prstGeom>
          <a:noFill/>
        </p:spPr>
        <p:txBody>
          <a:bodyPr wrap="none" rtlCol="0">
            <a:spAutoFit/>
          </a:bodyPr>
          <a:lstStyle/>
          <a:p>
            <a:pPr algn="ctr"/>
            <a:r>
              <a:rPr lang="it-IT" dirty="0">
                <a:solidFill>
                  <a:schemeClr val="bg1"/>
                </a:solidFill>
                <a:latin typeface="Aptos" panose="020B0004020202020204" pitchFamily="34" charset="0"/>
              </a:rPr>
              <a:t>Group 9 -</a:t>
            </a:r>
          </a:p>
        </p:txBody>
      </p:sp>
    </p:spTree>
    <p:extLst>
      <p:ext uri="{BB962C8B-B14F-4D97-AF65-F5344CB8AC3E}">
        <p14:creationId xmlns:p14="http://schemas.microsoft.com/office/powerpoint/2010/main" val="15997063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3E80469-F382-419F-4927-F317350BF17B}"/>
            </a:ext>
          </a:extLst>
        </p:cNvPr>
        <p:cNvGrpSpPr/>
        <p:nvPr/>
      </p:nvGrpSpPr>
      <p:grpSpPr>
        <a:xfrm>
          <a:off x="0" y="0"/>
          <a:ext cx="0" cy="0"/>
          <a:chOff x="0" y="0"/>
          <a:chExt cx="0" cy="0"/>
        </a:xfrm>
      </p:grpSpPr>
      <p:sp>
        <p:nvSpPr>
          <p:cNvPr id="8" name="CasellaDiTesto 7">
            <a:extLst>
              <a:ext uri="{FF2B5EF4-FFF2-40B4-BE49-F238E27FC236}">
                <a16:creationId xmlns:a16="http://schemas.microsoft.com/office/drawing/2014/main" id="{683DD8E6-E380-7AD0-BDE4-6ED8AA702A4B}"/>
              </a:ext>
            </a:extLst>
          </p:cNvPr>
          <p:cNvSpPr txBox="1"/>
          <p:nvPr/>
        </p:nvSpPr>
        <p:spPr>
          <a:xfrm>
            <a:off x="701827" y="1875424"/>
            <a:ext cx="11051155" cy="3754874"/>
          </a:xfrm>
          <a:prstGeom prst="rect">
            <a:avLst/>
          </a:prstGeom>
          <a:noFill/>
        </p:spPr>
        <p:txBody>
          <a:bodyPr wrap="square" rtlCol="0">
            <a:spAutoFit/>
          </a:bodyPr>
          <a:lstStyle/>
          <a:p>
            <a:pPr marL="457200" indent="-457200" algn="just">
              <a:buFont typeface="Arial" panose="020B0604020202020204" pitchFamily="34" charset="0"/>
              <a:buChar char="•"/>
            </a:pPr>
            <a:r>
              <a:rPr lang="it-IT" sz="2800" b="1">
                <a:latin typeface="Aptos" panose="020B0004020202020204" pitchFamily="34" charset="0"/>
              </a:rPr>
              <a:t>Agile: </a:t>
            </a:r>
            <a:r>
              <a:rPr lang="it-IT" sz="2800" err="1">
                <a:latin typeface="Aptos" panose="020B0004020202020204" pitchFamily="34" charset="0"/>
              </a:rPr>
              <a:t>Kanban</a:t>
            </a:r>
            <a:endParaRPr lang="it-IT" sz="2800">
              <a:latin typeface="Aptos" panose="020B0004020202020204" pitchFamily="34" charset="0"/>
            </a:endParaRPr>
          </a:p>
          <a:p>
            <a:pPr marL="457200" indent="-457200" algn="just">
              <a:buFont typeface="Arial" panose="020B0604020202020204" pitchFamily="34" charset="0"/>
              <a:buChar char="•"/>
            </a:pPr>
            <a:endParaRPr lang="it-IT" sz="1400">
              <a:latin typeface="Aptos" panose="020B0004020202020204" pitchFamily="34" charset="0"/>
            </a:endParaRPr>
          </a:p>
          <a:p>
            <a:pPr marL="457200" indent="-457200" algn="just">
              <a:buFont typeface="Arial" panose="020B0604020202020204" pitchFamily="34" charset="0"/>
              <a:buChar char="•"/>
            </a:pPr>
            <a:r>
              <a:rPr lang="it-IT" sz="2800" b="1">
                <a:latin typeface="Aptos" panose="020B0004020202020204" pitchFamily="34" charset="0"/>
              </a:rPr>
              <a:t>Task Planning: </a:t>
            </a:r>
            <a:r>
              <a:rPr lang="it-IT" sz="2800" err="1">
                <a:latin typeface="Aptos" panose="020B0004020202020204" pitchFamily="34" charset="0"/>
              </a:rPr>
              <a:t>Gantt</a:t>
            </a:r>
            <a:r>
              <a:rPr lang="it-IT" sz="2800">
                <a:latin typeface="Aptos" panose="020B0004020202020204" pitchFamily="34" charset="0"/>
              </a:rPr>
              <a:t> charts</a:t>
            </a:r>
          </a:p>
          <a:p>
            <a:pPr marL="457200" indent="-457200" algn="just">
              <a:buFont typeface="Arial" panose="020B0604020202020204" pitchFamily="34" charset="0"/>
              <a:buChar char="•"/>
            </a:pPr>
            <a:endParaRPr lang="it-IT" sz="1400">
              <a:latin typeface="Aptos" panose="020B0004020202020204" pitchFamily="34" charset="0"/>
            </a:endParaRPr>
          </a:p>
          <a:p>
            <a:pPr marL="457200" indent="-457200" algn="just">
              <a:buFont typeface="Arial" panose="020B0604020202020204" pitchFamily="34" charset="0"/>
              <a:buChar char="•"/>
            </a:pPr>
            <a:r>
              <a:rPr lang="it-IT" sz="2800" b="1" err="1">
                <a:latin typeface="Aptos" panose="020B0004020202020204" pitchFamily="34" charset="0"/>
              </a:rPr>
              <a:t>Communication</a:t>
            </a:r>
            <a:r>
              <a:rPr lang="it-IT" sz="2800" b="1">
                <a:latin typeface="Aptos" panose="020B0004020202020204" pitchFamily="34" charset="0"/>
              </a:rPr>
              <a:t>: </a:t>
            </a:r>
            <a:r>
              <a:rPr lang="it-IT" sz="2800">
                <a:latin typeface="Aptos" panose="020B0004020202020204" pitchFamily="34" charset="0"/>
              </a:rPr>
              <a:t>Microsoft Teams</a:t>
            </a:r>
          </a:p>
          <a:p>
            <a:pPr marL="457200" indent="-457200" algn="just">
              <a:buFont typeface="Arial" panose="020B0604020202020204" pitchFamily="34" charset="0"/>
              <a:buChar char="•"/>
            </a:pPr>
            <a:endParaRPr lang="it-IT" sz="1400">
              <a:latin typeface="Aptos" panose="020B0004020202020204" pitchFamily="34" charset="0"/>
            </a:endParaRPr>
          </a:p>
          <a:p>
            <a:pPr marL="457200" indent="-457200" algn="just">
              <a:buFont typeface="Arial" panose="020B0604020202020204" pitchFamily="34" charset="0"/>
              <a:buChar char="•"/>
            </a:pPr>
            <a:r>
              <a:rPr lang="it-IT" sz="2800" b="1">
                <a:latin typeface="Aptos" panose="020B0004020202020204" pitchFamily="34" charset="0"/>
              </a:rPr>
              <a:t>Version Control: </a:t>
            </a:r>
            <a:r>
              <a:rPr lang="it-IT" sz="2800" err="1">
                <a:latin typeface="Aptos" panose="020B0004020202020204" pitchFamily="34" charset="0"/>
              </a:rPr>
              <a:t>Git</a:t>
            </a:r>
            <a:r>
              <a:rPr lang="it-IT" sz="2800">
                <a:latin typeface="Aptos" panose="020B0004020202020204" pitchFamily="34" charset="0"/>
              </a:rPr>
              <a:t>/GitHub</a:t>
            </a:r>
          </a:p>
          <a:p>
            <a:pPr marL="457200" indent="-457200" algn="just">
              <a:buFont typeface="Arial" panose="020B0604020202020204" pitchFamily="34" charset="0"/>
              <a:buChar char="•"/>
            </a:pPr>
            <a:endParaRPr lang="it-IT" sz="1400">
              <a:latin typeface="Aptos" panose="020B0004020202020204" pitchFamily="34" charset="0"/>
            </a:endParaRPr>
          </a:p>
          <a:p>
            <a:pPr marL="457200" indent="-457200" algn="just">
              <a:buFont typeface="Arial" panose="020B0604020202020204" pitchFamily="34" charset="0"/>
              <a:buChar char="•"/>
            </a:pPr>
            <a:r>
              <a:rPr lang="it-IT" sz="2800" b="1" err="1">
                <a:latin typeface="Aptos" panose="020B0004020202020204" pitchFamily="34" charset="0"/>
              </a:rPr>
              <a:t>Containerization</a:t>
            </a:r>
            <a:r>
              <a:rPr lang="it-IT" sz="2800" b="1">
                <a:latin typeface="Aptos" panose="020B0004020202020204" pitchFamily="34" charset="0"/>
              </a:rPr>
              <a:t> and Deployment: </a:t>
            </a:r>
            <a:r>
              <a:rPr lang="it-IT" sz="2800">
                <a:latin typeface="Aptos" panose="020B0004020202020204" pitchFamily="34" charset="0"/>
              </a:rPr>
              <a:t>Docker, Docker-Compose</a:t>
            </a:r>
          </a:p>
          <a:p>
            <a:pPr marL="457200" indent="-457200" algn="just">
              <a:buFont typeface="Arial" panose="020B0604020202020204" pitchFamily="34" charset="0"/>
              <a:buChar char="•"/>
            </a:pPr>
            <a:endParaRPr lang="it-IT" sz="1400">
              <a:latin typeface="Aptos" panose="020B0004020202020204" pitchFamily="34" charset="0"/>
            </a:endParaRPr>
          </a:p>
          <a:p>
            <a:pPr marL="457200" indent="-457200" algn="just">
              <a:buFont typeface="Arial" panose="020B0604020202020204" pitchFamily="34" charset="0"/>
              <a:buChar char="•"/>
            </a:pPr>
            <a:r>
              <a:rPr lang="it-IT" sz="2800" b="1">
                <a:latin typeface="Aptos" panose="020B0004020202020204" pitchFamily="34" charset="0"/>
              </a:rPr>
              <a:t>Development and Testing: </a:t>
            </a:r>
            <a:r>
              <a:rPr lang="it-IT" sz="2800">
                <a:latin typeface="Aptos" panose="020B0004020202020204" pitchFamily="34" charset="0"/>
              </a:rPr>
              <a:t>Python (</a:t>
            </a:r>
            <a:r>
              <a:rPr lang="it-IT" sz="2800" err="1">
                <a:latin typeface="Aptos" panose="020B0004020202020204" pitchFamily="34" charset="0"/>
              </a:rPr>
              <a:t>FastAPI</a:t>
            </a:r>
            <a:r>
              <a:rPr lang="it-IT" sz="2800">
                <a:latin typeface="Aptos" panose="020B0004020202020204" pitchFamily="34" charset="0"/>
              </a:rPr>
              <a:t>), </a:t>
            </a:r>
            <a:r>
              <a:rPr lang="it-IT" sz="2800" err="1">
                <a:latin typeface="Aptos" panose="020B0004020202020204" pitchFamily="34" charset="0"/>
              </a:rPr>
              <a:t>PostgreSQL</a:t>
            </a:r>
            <a:r>
              <a:rPr lang="it-IT" sz="2800">
                <a:latin typeface="Aptos" panose="020B0004020202020204" pitchFamily="34" charset="0"/>
              </a:rPr>
              <a:t>, React</a:t>
            </a:r>
            <a:endParaRPr lang="it-IT" sz="2800" b="1">
              <a:latin typeface="Aptos" panose="020B0004020202020204" pitchFamily="34" charset="0"/>
            </a:endParaRPr>
          </a:p>
        </p:txBody>
      </p:sp>
      <p:sp>
        <p:nvSpPr>
          <p:cNvPr id="19" name="CasellaDiTesto 18">
            <a:extLst>
              <a:ext uri="{FF2B5EF4-FFF2-40B4-BE49-F238E27FC236}">
                <a16:creationId xmlns:a16="http://schemas.microsoft.com/office/drawing/2014/main" id="{74460A44-2D99-EFE8-681A-FD39FBB76A7E}"/>
              </a:ext>
            </a:extLst>
          </p:cNvPr>
          <p:cNvSpPr txBox="1"/>
          <p:nvPr/>
        </p:nvSpPr>
        <p:spPr>
          <a:xfrm>
            <a:off x="723900" y="365720"/>
            <a:ext cx="6345007" cy="1015663"/>
          </a:xfrm>
          <a:prstGeom prst="rect">
            <a:avLst/>
          </a:prstGeom>
          <a:noFill/>
        </p:spPr>
        <p:txBody>
          <a:bodyPr wrap="none" rtlCol="0">
            <a:spAutoFit/>
          </a:bodyPr>
          <a:lstStyle/>
          <a:p>
            <a:r>
              <a:rPr lang="it-IT" sz="6000" b="1">
                <a:latin typeface="Aptos" panose="020B0004020202020204" pitchFamily="34" charset="0"/>
              </a:rPr>
              <a:t>Technology </a:t>
            </a:r>
            <a:r>
              <a:rPr lang="it-IT" sz="6000" b="1" err="1">
                <a:latin typeface="Aptos" panose="020B0004020202020204" pitchFamily="34" charset="0"/>
              </a:rPr>
              <a:t>Stack</a:t>
            </a:r>
            <a:endParaRPr lang="it-IT" sz="6000" b="1">
              <a:latin typeface="Aptos" panose="020B0004020202020204" pitchFamily="34" charset="0"/>
            </a:endParaRPr>
          </a:p>
        </p:txBody>
      </p:sp>
      <p:pic>
        <p:nvPicPr>
          <p:cNvPr id="10242" name="Picture 2" descr="GitHub Logos and Usage · GitHub">
            <a:extLst>
              <a:ext uri="{FF2B5EF4-FFF2-40B4-BE49-F238E27FC236}">
                <a16:creationId xmlns:a16="http://schemas.microsoft.com/office/drawing/2014/main" id="{45307F2F-53D5-83A7-E212-860FE119E6C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76928" y="1955031"/>
            <a:ext cx="988082" cy="988082"/>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a:extLst>
              <a:ext uri="{FF2B5EF4-FFF2-40B4-BE49-F238E27FC236}">
                <a16:creationId xmlns:a16="http://schemas.microsoft.com/office/drawing/2014/main" id="{F2C229F0-3B64-9006-FDCE-114D6A576EBD}"/>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69375"/>
          <a:stretch>
            <a:fillRect/>
          </a:stretch>
        </p:blipFill>
        <p:spPr bwMode="auto">
          <a:xfrm>
            <a:off x="8887497" y="2323815"/>
            <a:ext cx="905454" cy="672546"/>
          </a:xfrm>
          <a:prstGeom prst="rect">
            <a:avLst/>
          </a:prstGeom>
          <a:noFill/>
          <a:extLst>
            <a:ext uri="{909E8E84-426E-40DD-AFC4-6F175D3DCCD1}">
              <a14:hiddenFill xmlns:a14="http://schemas.microsoft.com/office/drawing/2010/main">
                <a:solidFill>
                  <a:srgbClr val="FFFFFF"/>
                </a:solidFill>
              </a14:hiddenFill>
            </a:ext>
          </a:extLst>
        </p:spPr>
      </p:pic>
      <p:pic>
        <p:nvPicPr>
          <p:cNvPr id="10252" name="Picture 12" descr="Getting started with FastAPI - learnBATTA">
            <a:extLst>
              <a:ext uri="{FF2B5EF4-FFF2-40B4-BE49-F238E27FC236}">
                <a16:creationId xmlns:a16="http://schemas.microsoft.com/office/drawing/2014/main" id="{702F24C4-1EBC-0B48-2626-64DCFE72A84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07051" y="3267588"/>
            <a:ext cx="2622379" cy="945902"/>
          </a:xfrm>
          <a:prstGeom prst="rect">
            <a:avLst/>
          </a:prstGeom>
          <a:noFill/>
          <a:extLst>
            <a:ext uri="{909E8E84-426E-40DD-AFC4-6F175D3DCCD1}">
              <a14:hiddenFill xmlns:a14="http://schemas.microsoft.com/office/drawing/2010/main">
                <a:solidFill>
                  <a:srgbClr val="FFFFFF"/>
                </a:solidFill>
              </a14:hiddenFill>
            </a:ext>
          </a:extLst>
        </p:spPr>
      </p:pic>
      <p:pic>
        <p:nvPicPr>
          <p:cNvPr id="10256" name="Picture 16" descr="PostgreSQL Pros and Cons | User Likes &amp; Dislikes">
            <a:extLst>
              <a:ext uri="{FF2B5EF4-FFF2-40B4-BE49-F238E27FC236}">
                <a16:creationId xmlns:a16="http://schemas.microsoft.com/office/drawing/2014/main" id="{7B819C6B-0E74-828D-594E-A470B01DF73D}"/>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b="30000"/>
          <a:stretch>
            <a:fillRect/>
          </a:stretch>
        </p:blipFill>
        <p:spPr bwMode="auto">
          <a:xfrm>
            <a:off x="10056746" y="1460990"/>
            <a:ext cx="1270391" cy="988082"/>
          </a:xfrm>
          <a:prstGeom prst="rect">
            <a:avLst/>
          </a:prstGeom>
          <a:noFill/>
          <a:extLst>
            <a:ext uri="{909E8E84-426E-40DD-AFC4-6F175D3DCCD1}">
              <a14:hiddenFill xmlns:a14="http://schemas.microsoft.com/office/drawing/2010/main">
                <a:solidFill>
                  <a:srgbClr val="FFFFFF"/>
                </a:solidFill>
              </a14:hiddenFill>
            </a:ext>
          </a:extLst>
        </p:spPr>
      </p:pic>
      <p:pic>
        <p:nvPicPr>
          <p:cNvPr id="10260" name="Picture 20">
            <a:extLst>
              <a:ext uri="{FF2B5EF4-FFF2-40B4-BE49-F238E27FC236}">
                <a16:creationId xmlns:a16="http://schemas.microsoft.com/office/drawing/2014/main" id="{D55698EB-2263-1010-D58D-5F287A84283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384554" y="1128157"/>
            <a:ext cx="891672" cy="811990"/>
          </a:xfrm>
          <a:prstGeom prst="rect">
            <a:avLst/>
          </a:prstGeom>
          <a:noFill/>
          <a:extLst>
            <a:ext uri="{909E8E84-426E-40DD-AFC4-6F175D3DCCD1}">
              <a14:hiddenFill xmlns:a14="http://schemas.microsoft.com/office/drawing/2010/main">
                <a:solidFill>
                  <a:srgbClr val="FFFFFF"/>
                </a:solidFill>
              </a14:hiddenFill>
            </a:ext>
          </a:extLst>
        </p:spPr>
      </p:pic>
      <p:pic>
        <p:nvPicPr>
          <p:cNvPr id="10262" name="Picture 22">
            <a:extLst>
              <a:ext uri="{FF2B5EF4-FFF2-40B4-BE49-F238E27FC236}">
                <a16:creationId xmlns:a16="http://schemas.microsoft.com/office/drawing/2014/main" id="{328ABFF9-44EB-6E5C-E415-3DF6422A50E8}"/>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b="6033"/>
          <a:stretch>
            <a:fillRect/>
          </a:stretch>
        </p:blipFill>
        <p:spPr bwMode="auto">
          <a:xfrm>
            <a:off x="10360122" y="3101944"/>
            <a:ext cx="870190" cy="897937"/>
          </a:xfrm>
          <a:prstGeom prst="rect">
            <a:avLst/>
          </a:prstGeom>
          <a:noFill/>
          <a:extLst>
            <a:ext uri="{909E8E84-426E-40DD-AFC4-6F175D3DCCD1}">
              <a14:hiddenFill xmlns:a14="http://schemas.microsoft.com/office/drawing/2010/main">
                <a:solidFill>
                  <a:srgbClr val="FFFFFF"/>
                </a:solidFill>
              </a14:hiddenFill>
            </a:ext>
          </a:extLst>
        </p:spPr>
      </p:pic>
      <p:grpSp>
        <p:nvGrpSpPr>
          <p:cNvPr id="5" name="object 9">
            <a:extLst>
              <a:ext uri="{FF2B5EF4-FFF2-40B4-BE49-F238E27FC236}">
                <a16:creationId xmlns:a16="http://schemas.microsoft.com/office/drawing/2014/main" id="{109064FC-31CD-7534-606A-40C39E4C4C25}"/>
              </a:ext>
            </a:extLst>
          </p:cNvPr>
          <p:cNvGrpSpPr/>
          <p:nvPr/>
        </p:nvGrpSpPr>
        <p:grpSpPr>
          <a:xfrm>
            <a:off x="-7209" y="6455826"/>
            <a:ext cx="12211050" cy="403860"/>
            <a:chOff x="-7209" y="6455826"/>
            <a:chExt cx="12211050" cy="403860"/>
          </a:xfrm>
          <a:solidFill>
            <a:srgbClr val="009999"/>
          </a:solidFill>
        </p:grpSpPr>
        <p:sp>
          <p:nvSpPr>
            <p:cNvPr id="6" name="object 10">
              <a:extLst>
                <a:ext uri="{FF2B5EF4-FFF2-40B4-BE49-F238E27FC236}">
                  <a16:creationId xmlns:a16="http://schemas.microsoft.com/office/drawing/2014/main" id="{EC9455C0-6A92-4CD6-9613-6965AC2748C6}"/>
                </a:ext>
              </a:extLst>
            </p:cNvPr>
            <p:cNvSpPr/>
            <p:nvPr/>
          </p:nvSpPr>
          <p:spPr>
            <a:xfrm>
              <a:off x="2315" y="6465351"/>
              <a:ext cx="12192000" cy="384810"/>
            </a:xfrm>
            <a:custGeom>
              <a:avLst/>
              <a:gdLst/>
              <a:ahLst/>
              <a:cxnLst/>
              <a:rect l="l" t="t" r="r" b="b"/>
              <a:pathLst>
                <a:path w="12192000" h="384809">
                  <a:moveTo>
                    <a:pt x="12191619" y="0"/>
                  </a:moveTo>
                  <a:lnTo>
                    <a:pt x="0" y="0"/>
                  </a:lnTo>
                  <a:lnTo>
                    <a:pt x="0" y="384657"/>
                  </a:lnTo>
                  <a:lnTo>
                    <a:pt x="12191619" y="384657"/>
                  </a:lnTo>
                  <a:lnTo>
                    <a:pt x="12191619" y="0"/>
                  </a:lnTo>
                  <a:close/>
                </a:path>
              </a:pathLst>
            </a:custGeom>
            <a:grpFill/>
          </p:spPr>
          <p:txBody>
            <a:bodyPr wrap="square" lIns="0" tIns="0" rIns="0" bIns="0" rtlCol="0"/>
            <a:lstStyle/>
            <a:p>
              <a:endParaRPr/>
            </a:p>
          </p:txBody>
        </p:sp>
        <p:sp>
          <p:nvSpPr>
            <p:cNvPr id="7" name="object 11">
              <a:extLst>
                <a:ext uri="{FF2B5EF4-FFF2-40B4-BE49-F238E27FC236}">
                  <a16:creationId xmlns:a16="http://schemas.microsoft.com/office/drawing/2014/main" id="{8BBE17B8-A06D-3F88-0486-28200C3031D4}"/>
                </a:ext>
              </a:extLst>
            </p:cNvPr>
            <p:cNvSpPr/>
            <p:nvPr/>
          </p:nvSpPr>
          <p:spPr>
            <a:xfrm>
              <a:off x="2315" y="6465351"/>
              <a:ext cx="12192000" cy="384810"/>
            </a:xfrm>
            <a:custGeom>
              <a:avLst/>
              <a:gdLst/>
              <a:ahLst/>
              <a:cxnLst/>
              <a:rect l="l" t="t" r="r" b="b"/>
              <a:pathLst>
                <a:path w="12192000" h="384809">
                  <a:moveTo>
                    <a:pt x="0" y="384657"/>
                  </a:moveTo>
                  <a:lnTo>
                    <a:pt x="12191619" y="384657"/>
                  </a:lnTo>
                  <a:lnTo>
                    <a:pt x="12191619" y="0"/>
                  </a:lnTo>
                  <a:lnTo>
                    <a:pt x="0" y="0"/>
                  </a:lnTo>
                  <a:lnTo>
                    <a:pt x="0" y="384657"/>
                  </a:lnTo>
                  <a:close/>
                </a:path>
              </a:pathLst>
            </a:custGeom>
            <a:grpFill/>
            <a:ln w="19050">
              <a:solidFill>
                <a:srgbClr val="009999"/>
              </a:solidFill>
            </a:ln>
          </p:spPr>
          <p:txBody>
            <a:bodyPr wrap="square" lIns="0" tIns="0" rIns="0" bIns="0" rtlCol="0"/>
            <a:lstStyle/>
            <a:p>
              <a:endParaRPr/>
            </a:p>
          </p:txBody>
        </p:sp>
      </p:grpSp>
      <p:sp>
        <p:nvSpPr>
          <p:cNvPr id="17" name="CasellaDiTesto 16">
            <a:extLst>
              <a:ext uri="{FF2B5EF4-FFF2-40B4-BE49-F238E27FC236}">
                <a16:creationId xmlns:a16="http://schemas.microsoft.com/office/drawing/2014/main" id="{DDA74FBE-8303-DBEA-B75F-07FE4C650BE1}"/>
              </a:ext>
            </a:extLst>
          </p:cNvPr>
          <p:cNvSpPr txBox="1"/>
          <p:nvPr/>
        </p:nvSpPr>
        <p:spPr>
          <a:xfrm>
            <a:off x="11637140" y="6480829"/>
            <a:ext cx="431528" cy="369332"/>
          </a:xfrm>
          <a:prstGeom prst="rect">
            <a:avLst/>
          </a:prstGeom>
          <a:noFill/>
        </p:spPr>
        <p:txBody>
          <a:bodyPr wrap="none" rtlCol="0">
            <a:spAutoFit/>
          </a:bodyPr>
          <a:lstStyle/>
          <a:p>
            <a:pPr algn="ctr"/>
            <a:r>
              <a:rPr lang="it-IT">
                <a:solidFill>
                  <a:schemeClr val="bg1"/>
                </a:solidFill>
                <a:latin typeface="Aptos" panose="020B0004020202020204" pitchFamily="34" charset="0"/>
              </a:rPr>
              <a:t>10</a:t>
            </a:r>
          </a:p>
        </p:txBody>
      </p:sp>
      <p:sp>
        <p:nvSpPr>
          <p:cNvPr id="2" name="CasellaDiTesto 1">
            <a:extLst>
              <a:ext uri="{FF2B5EF4-FFF2-40B4-BE49-F238E27FC236}">
                <a16:creationId xmlns:a16="http://schemas.microsoft.com/office/drawing/2014/main" id="{E41253A6-444B-93AC-BAD1-7D6B330F3B50}"/>
              </a:ext>
            </a:extLst>
          </p:cNvPr>
          <p:cNvSpPr txBox="1"/>
          <p:nvPr/>
        </p:nvSpPr>
        <p:spPr>
          <a:xfrm>
            <a:off x="1037287" y="6473090"/>
            <a:ext cx="2084225" cy="369332"/>
          </a:xfrm>
          <a:prstGeom prst="rect">
            <a:avLst/>
          </a:prstGeom>
          <a:noFill/>
        </p:spPr>
        <p:txBody>
          <a:bodyPr wrap="none" rtlCol="0">
            <a:spAutoFit/>
          </a:bodyPr>
          <a:lstStyle/>
          <a:p>
            <a:pPr algn="ctr"/>
            <a:r>
              <a:rPr lang="it-IT" dirty="0" err="1">
                <a:solidFill>
                  <a:schemeClr val="bg1"/>
                </a:solidFill>
                <a:latin typeface="Aptos" panose="020B0004020202020204" pitchFamily="34" charset="0"/>
              </a:rPr>
              <a:t>EarlyCare</a:t>
            </a:r>
            <a:r>
              <a:rPr lang="it-IT" dirty="0">
                <a:solidFill>
                  <a:schemeClr val="bg1"/>
                </a:solidFill>
                <a:latin typeface="Aptos" panose="020B0004020202020204" pitchFamily="34" charset="0"/>
              </a:rPr>
              <a:t> Gateway</a:t>
            </a:r>
          </a:p>
        </p:txBody>
      </p:sp>
      <p:sp>
        <p:nvSpPr>
          <p:cNvPr id="3" name="CasellaDiTesto 2">
            <a:extLst>
              <a:ext uri="{FF2B5EF4-FFF2-40B4-BE49-F238E27FC236}">
                <a16:creationId xmlns:a16="http://schemas.microsoft.com/office/drawing/2014/main" id="{12E9239B-5275-253A-0BAC-898B5B1F9C52}"/>
              </a:ext>
            </a:extLst>
          </p:cNvPr>
          <p:cNvSpPr txBox="1"/>
          <p:nvPr/>
        </p:nvSpPr>
        <p:spPr>
          <a:xfrm>
            <a:off x="84328" y="6473090"/>
            <a:ext cx="1104791" cy="369332"/>
          </a:xfrm>
          <a:prstGeom prst="rect">
            <a:avLst/>
          </a:prstGeom>
          <a:noFill/>
        </p:spPr>
        <p:txBody>
          <a:bodyPr wrap="none" rtlCol="0">
            <a:spAutoFit/>
          </a:bodyPr>
          <a:lstStyle/>
          <a:p>
            <a:pPr algn="ctr"/>
            <a:r>
              <a:rPr lang="it-IT" dirty="0">
                <a:solidFill>
                  <a:schemeClr val="bg1"/>
                </a:solidFill>
                <a:latin typeface="Aptos" panose="020B0004020202020204" pitchFamily="34" charset="0"/>
              </a:rPr>
              <a:t>Group 9 -</a:t>
            </a:r>
          </a:p>
        </p:txBody>
      </p:sp>
    </p:spTree>
    <p:extLst>
      <p:ext uri="{BB962C8B-B14F-4D97-AF65-F5344CB8AC3E}">
        <p14:creationId xmlns:p14="http://schemas.microsoft.com/office/powerpoint/2010/main" val="429284466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03BAC78-B279-3B2C-C042-FB6706631C17}"/>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DA13029E-3433-46E0-689B-64CFC09E9F8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7873" y="4970834"/>
            <a:ext cx="2861364" cy="1589646"/>
          </a:xfrm>
          <a:prstGeom prst="rect">
            <a:avLst/>
          </a:prstGeom>
          <a:noFill/>
          <a:extLst>
            <a:ext uri="{909E8E84-426E-40DD-AFC4-6F175D3DCCD1}">
              <a14:hiddenFill xmlns:a14="http://schemas.microsoft.com/office/drawing/2010/main">
                <a:solidFill>
                  <a:srgbClr val="FFFFFF"/>
                </a:solidFill>
              </a14:hiddenFill>
            </a:ext>
          </a:extLst>
        </p:spPr>
      </p:pic>
      <p:sp>
        <p:nvSpPr>
          <p:cNvPr id="19" name="CasellaDiTesto 18">
            <a:extLst>
              <a:ext uri="{FF2B5EF4-FFF2-40B4-BE49-F238E27FC236}">
                <a16:creationId xmlns:a16="http://schemas.microsoft.com/office/drawing/2014/main" id="{D7C23516-2AB9-A491-8B01-D7EAD1BC0B1C}"/>
              </a:ext>
            </a:extLst>
          </p:cNvPr>
          <p:cNvSpPr txBox="1"/>
          <p:nvPr/>
        </p:nvSpPr>
        <p:spPr>
          <a:xfrm>
            <a:off x="723900" y="365720"/>
            <a:ext cx="5176417" cy="1015663"/>
          </a:xfrm>
          <a:prstGeom prst="rect">
            <a:avLst/>
          </a:prstGeom>
          <a:noFill/>
        </p:spPr>
        <p:txBody>
          <a:bodyPr wrap="none" rtlCol="0">
            <a:spAutoFit/>
          </a:bodyPr>
          <a:lstStyle/>
          <a:p>
            <a:r>
              <a:rPr lang="it-IT" sz="6000" b="1">
                <a:latin typeface="Aptos" panose="020B0004020202020204" pitchFamily="34" charset="0"/>
              </a:rPr>
              <a:t>User Interface</a:t>
            </a:r>
          </a:p>
        </p:txBody>
      </p:sp>
      <p:grpSp>
        <p:nvGrpSpPr>
          <p:cNvPr id="6" name="object 9">
            <a:extLst>
              <a:ext uri="{FF2B5EF4-FFF2-40B4-BE49-F238E27FC236}">
                <a16:creationId xmlns:a16="http://schemas.microsoft.com/office/drawing/2014/main" id="{96E7777B-A055-266D-5C0B-DE55DCEE598A}"/>
              </a:ext>
            </a:extLst>
          </p:cNvPr>
          <p:cNvGrpSpPr/>
          <p:nvPr/>
        </p:nvGrpSpPr>
        <p:grpSpPr>
          <a:xfrm>
            <a:off x="-7209" y="6455826"/>
            <a:ext cx="12211050" cy="403860"/>
            <a:chOff x="-7209" y="6455826"/>
            <a:chExt cx="12211050" cy="403860"/>
          </a:xfrm>
          <a:solidFill>
            <a:srgbClr val="009999"/>
          </a:solidFill>
        </p:grpSpPr>
        <p:sp>
          <p:nvSpPr>
            <p:cNvPr id="7" name="object 10">
              <a:extLst>
                <a:ext uri="{FF2B5EF4-FFF2-40B4-BE49-F238E27FC236}">
                  <a16:creationId xmlns:a16="http://schemas.microsoft.com/office/drawing/2014/main" id="{6340B732-7C48-250A-8020-9E8DCC764A65}"/>
                </a:ext>
              </a:extLst>
            </p:cNvPr>
            <p:cNvSpPr/>
            <p:nvPr/>
          </p:nvSpPr>
          <p:spPr>
            <a:xfrm>
              <a:off x="2315" y="6465351"/>
              <a:ext cx="12192000" cy="384810"/>
            </a:xfrm>
            <a:custGeom>
              <a:avLst/>
              <a:gdLst/>
              <a:ahLst/>
              <a:cxnLst/>
              <a:rect l="l" t="t" r="r" b="b"/>
              <a:pathLst>
                <a:path w="12192000" h="384809">
                  <a:moveTo>
                    <a:pt x="12191619" y="0"/>
                  </a:moveTo>
                  <a:lnTo>
                    <a:pt x="0" y="0"/>
                  </a:lnTo>
                  <a:lnTo>
                    <a:pt x="0" y="384657"/>
                  </a:lnTo>
                  <a:lnTo>
                    <a:pt x="12191619" y="384657"/>
                  </a:lnTo>
                  <a:lnTo>
                    <a:pt x="12191619" y="0"/>
                  </a:lnTo>
                  <a:close/>
                </a:path>
              </a:pathLst>
            </a:custGeom>
            <a:grpFill/>
          </p:spPr>
          <p:txBody>
            <a:bodyPr wrap="square" lIns="0" tIns="0" rIns="0" bIns="0" rtlCol="0"/>
            <a:lstStyle/>
            <a:p>
              <a:endParaRPr/>
            </a:p>
          </p:txBody>
        </p:sp>
        <p:sp>
          <p:nvSpPr>
            <p:cNvPr id="8" name="object 11">
              <a:extLst>
                <a:ext uri="{FF2B5EF4-FFF2-40B4-BE49-F238E27FC236}">
                  <a16:creationId xmlns:a16="http://schemas.microsoft.com/office/drawing/2014/main" id="{D9C38B39-62A4-091D-1617-75F4FB537835}"/>
                </a:ext>
              </a:extLst>
            </p:cNvPr>
            <p:cNvSpPr/>
            <p:nvPr/>
          </p:nvSpPr>
          <p:spPr>
            <a:xfrm>
              <a:off x="2315" y="6465351"/>
              <a:ext cx="12192000" cy="384810"/>
            </a:xfrm>
            <a:custGeom>
              <a:avLst/>
              <a:gdLst/>
              <a:ahLst/>
              <a:cxnLst/>
              <a:rect l="l" t="t" r="r" b="b"/>
              <a:pathLst>
                <a:path w="12192000" h="384809">
                  <a:moveTo>
                    <a:pt x="0" y="384657"/>
                  </a:moveTo>
                  <a:lnTo>
                    <a:pt x="12191619" y="384657"/>
                  </a:lnTo>
                  <a:lnTo>
                    <a:pt x="12191619" y="0"/>
                  </a:lnTo>
                  <a:lnTo>
                    <a:pt x="0" y="0"/>
                  </a:lnTo>
                  <a:lnTo>
                    <a:pt x="0" y="384657"/>
                  </a:lnTo>
                  <a:close/>
                </a:path>
              </a:pathLst>
            </a:custGeom>
            <a:grpFill/>
            <a:ln w="19050">
              <a:solidFill>
                <a:srgbClr val="009999"/>
              </a:solidFill>
            </a:ln>
          </p:spPr>
          <p:txBody>
            <a:bodyPr wrap="square" lIns="0" tIns="0" rIns="0" bIns="0" rtlCol="0"/>
            <a:lstStyle/>
            <a:p>
              <a:endParaRPr/>
            </a:p>
          </p:txBody>
        </p:sp>
      </p:grpSp>
      <p:sp>
        <p:nvSpPr>
          <p:cNvPr id="17" name="CasellaDiTesto 16">
            <a:extLst>
              <a:ext uri="{FF2B5EF4-FFF2-40B4-BE49-F238E27FC236}">
                <a16:creationId xmlns:a16="http://schemas.microsoft.com/office/drawing/2014/main" id="{35EF6CBA-5740-25A0-EFC1-2E57DBED1CBD}"/>
              </a:ext>
            </a:extLst>
          </p:cNvPr>
          <p:cNvSpPr txBox="1"/>
          <p:nvPr/>
        </p:nvSpPr>
        <p:spPr>
          <a:xfrm>
            <a:off x="11637140" y="6480829"/>
            <a:ext cx="431528" cy="369332"/>
          </a:xfrm>
          <a:prstGeom prst="rect">
            <a:avLst/>
          </a:prstGeom>
          <a:noFill/>
        </p:spPr>
        <p:txBody>
          <a:bodyPr wrap="none" rtlCol="0">
            <a:spAutoFit/>
          </a:bodyPr>
          <a:lstStyle/>
          <a:p>
            <a:pPr algn="ctr"/>
            <a:r>
              <a:rPr lang="it-IT" dirty="0">
                <a:solidFill>
                  <a:schemeClr val="bg1"/>
                </a:solidFill>
                <a:latin typeface="Aptos" panose="020B0004020202020204" pitchFamily="34" charset="0"/>
              </a:rPr>
              <a:t>11</a:t>
            </a:r>
          </a:p>
        </p:txBody>
      </p:sp>
      <p:sp>
        <p:nvSpPr>
          <p:cNvPr id="18" name="CasellaDiTesto 17">
            <a:extLst>
              <a:ext uri="{FF2B5EF4-FFF2-40B4-BE49-F238E27FC236}">
                <a16:creationId xmlns:a16="http://schemas.microsoft.com/office/drawing/2014/main" id="{E72DEDE2-D039-82AC-DA35-C2F35628BC28}"/>
              </a:ext>
            </a:extLst>
          </p:cNvPr>
          <p:cNvSpPr txBox="1"/>
          <p:nvPr/>
        </p:nvSpPr>
        <p:spPr>
          <a:xfrm>
            <a:off x="723900" y="1551563"/>
            <a:ext cx="10688900" cy="3754874"/>
          </a:xfrm>
          <a:prstGeom prst="rect">
            <a:avLst/>
          </a:prstGeom>
          <a:noFill/>
        </p:spPr>
        <p:txBody>
          <a:bodyPr wrap="square" rtlCol="0">
            <a:spAutoFit/>
          </a:bodyPr>
          <a:lstStyle/>
          <a:p>
            <a:pPr algn="just"/>
            <a:r>
              <a:rPr lang="it-IT" sz="2800" b="1" dirty="0">
                <a:latin typeface="Aptos" panose="020B0004020202020204" pitchFamily="34" charset="0"/>
              </a:rPr>
              <a:t>React</a:t>
            </a:r>
            <a:r>
              <a:rPr lang="it-IT" sz="2800" dirty="0">
                <a:latin typeface="Aptos" panose="020B0004020202020204" pitchFamily="34" charset="0"/>
              </a:rPr>
              <a:t> Components and Pages (</a:t>
            </a:r>
            <a:r>
              <a:rPr lang="it-IT" sz="2800" dirty="0" err="1">
                <a:latin typeface="Aptos" panose="020B0004020202020204" pitchFamily="34" charset="0"/>
              </a:rPr>
              <a:t>styled</a:t>
            </a:r>
            <a:r>
              <a:rPr lang="it-IT" sz="2800" dirty="0">
                <a:latin typeface="Aptos" panose="020B0004020202020204" pitchFamily="34" charset="0"/>
              </a:rPr>
              <a:t> with </a:t>
            </a:r>
            <a:r>
              <a:rPr lang="it-IT" sz="2800" dirty="0" err="1">
                <a:latin typeface="Aptos" panose="020B0004020202020204" pitchFamily="34" charset="0"/>
              </a:rPr>
              <a:t>Tailwind</a:t>
            </a:r>
            <a:r>
              <a:rPr lang="it-IT" sz="2800" dirty="0">
                <a:latin typeface="Aptos" panose="020B0004020202020204" pitchFamily="34" charset="0"/>
              </a:rPr>
              <a:t> CSS)</a:t>
            </a:r>
          </a:p>
          <a:p>
            <a:pPr algn="just"/>
            <a:endParaRPr lang="it-IT" sz="1400" dirty="0">
              <a:latin typeface="Aptos" panose="020B0004020202020204" pitchFamily="34" charset="0"/>
            </a:endParaRPr>
          </a:p>
          <a:p>
            <a:pPr marL="457200" indent="-457200" algn="just">
              <a:buFont typeface="Arial" panose="020B0604020202020204" pitchFamily="34" charset="0"/>
              <a:buChar char="•"/>
            </a:pPr>
            <a:r>
              <a:rPr lang="it-IT" sz="2800" b="1" dirty="0">
                <a:latin typeface="Aptos" panose="020B0004020202020204" pitchFamily="34" charset="0"/>
              </a:rPr>
              <a:t>Authentication: </a:t>
            </a:r>
            <a:r>
              <a:rPr lang="en-US" sz="2800" dirty="0">
                <a:latin typeface="Aptos" panose="020B0004020202020204" pitchFamily="34" charset="0"/>
              </a:rPr>
              <a:t>Enables doctors to create an account or sign in if already registered</a:t>
            </a:r>
            <a:endParaRPr lang="it-IT" sz="2800" dirty="0">
              <a:latin typeface="Aptos" panose="020B0004020202020204" pitchFamily="34" charset="0"/>
            </a:endParaRPr>
          </a:p>
          <a:p>
            <a:pPr marL="457200" indent="-457200" algn="just">
              <a:buFont typeface="Arial" panose="020B0604020202020204" pitchFamily="34" charset="0"/>
              <a:buChar char="•"/>
            </a:pPr>
            <a:endParaRPr lang="it-IT" sz="1400" dirty="0">
              <a:latin typeface="Aptos" panose="020B0004020202020204" pitchFamily="34" charset="0"/>
            </a:endParaRPr>
          </a:p>
          <a:p>
            <a:pPr marL="457200" indent="-457200" algn="just">
              <a:buFont typeface="Arial" panose="020B0604020202020204" pitchFamily="34" charset="0"/>
              <a:buChar char="•"/>
            </a:pPr>
            <a:r>
              <a:rPr lang="it-IT" sz="2800" b="1" dirty="0" err="1">
                <a:latin typeface="Aptos" panose="020B0004020202020204" pitchFamily="34" charset="0"/>
              </a:rPr>
              <a:t>Diagnostic</a:t>
            </a:r>
            <a:r>
              <a:rPr lang="it-IT" sz="2800" b="1" dirty="0">
                <a:latin typeface="Aptos" panose="020B0004020202020204" pitchFamily="34" charset="0"/>
              </a:rPr>
              <a:t> Hub: </a:t>
            </a:r>
            <a:r>
              <a:rPr lang="en-US" sz="2800" dirty="0">
                <a:latin typeface="Aptos" panose="020B0004020202020204" pitchFamily="34" charset="0"/>
              </a:rPr>
              <a:t>Core of the system, allows performing analyses by entering the raw data and fiscal code on specific tab</a:t>
            </a:r>
            <a:endParaRPr lang="it-IT" sz="2800" dirty="0">
              <a:latin typeface="Aptos" panose="020B0004020202020204" pitchFamily="34" charset="0"/>
            </a:endParaRPr>
          </a:p>
          <a:p>
            <a:pPr marL="457200" indent="-457200" algn="just">
              <a:buFont typeface="Arial" panose="020B0604020202020204" pitchFamily="34" charset="0"/>
              <a:buChar char="•"/>
            </a:pPr>
            <a:endParaRPr lang="it-IT" sz="1400" dirty="0">
              <a:latin typeface="Aptos" panose="020B0004020202020204" pitchFamily="34" charset="0"/>
            </a:endParaRPr>
          </a:p>
          <a:p>
            <a:pPr marL="457200" indent="-457200" algn="just">
              <a:buFont typeface="Arial" panose="020B0604020202020204" pitchFamily="34" charset="0"/>
              <a:buChar char="•"/>
            </a:pPr>
            <a:r>
              <a:rPr lang="it-IT" sz="2800" b="1" dirty="0">
                <a:latin typeface="Aptos" panose="020B0004020202020204" pitchFamily="34" charset="0"/>
              </a:rPr>
              <a:t>Reports History: </a:t>
            </a:r>
            <a:r>
              <a:rPr lang="en-US" sz="2800" dirty="0">
                <a:latin typeface="Aptos" panose="020B0004020202020204" pitchFamily="34" charset="0"/>
              </a:rPr>
              <a:t>Allows doctors to view reports associated with them, optionally filtering by a specific patient</a:t>
            </a:r>
            <a:endParaRPr lang="it-IT" sz="2800" dirty="0">
              <a:latin typeface="Aptos" panose="020B0004020202020204" pitchFamily="34" charset="0"/>
            </a:endParaRPr>
          </a:p>
        </p:txBody>
      </p:sp>
      <p:sp>
        <p:nvSpPr>
          <p:cNvPr id="2" name="CasellaDiTesto 1">
            <a:extLst>
              <a:ext uri="{FF2B5EF4-FFF2-40B4-BE49-F238E27FC236}">
                <a16:creationId xmlns:a16="http://schemas.microsoft.com/office/drawing/2014/main" id="{A4BE94B6-DC1C-9A95-93D7-5CD067717BB4}"/>
              </a:ext>
            </a:extLst>
          </p:cNvPr>
          <p:cNvSpPr txBox="1"/>
          <p:nvPr/>
        </p:nvSpPr>
        <p:spPr>
          <a:xfrm>
            <a:off x="1037287" y="6473090"/>
            <a:ext cx="2084225" cy="369332"/>
          </a:xfrm>
          <a:prstGeom prst="rect">
            <a:avLst/>
          </a:prstGeom>
          <a:noFill/>
        </p:spPr>
        <p:txBody>
          <a:bodyPr wrap="none" rtlCol="0">
            <a:spAutoFit/>
          </a:bodyPr>
          <a:lstStyle/>
          <a:p>
            <a:pPr algn="ctr"/>
            <a:r>
              <a:rPr lang="it-IT" dirty="0" err="1">
                <a:solidFill>
                  <a:schemeClr val="bg1"/>
                </a:solidFill>
                <a:latin typeface="Aptos" panose="020B0004020202020204" pitchFamily="34" charset="0"/>
              </a:rPr>
              <a:t>EarlyCare</a:t>
            </a:r>
            <a:r>
              <a:rPr lang="it-IT" dirty="0">
                <a:solidFill>
                  <a:schemeClr val="bg1"/>
                </a:solidFill>
                <a:latin typeface="Aptos" panose="020B0004020202020204" pitchFamily="34" charset="0"/>
              </a:rPr>
              <a:t> Gateway</a:t>
            </a:r>
          </a:p>
        </p:txBody>
      </p:sp>
      <p:sp>
        <p:nvSpPr>
          <p:cNvPr id="3" name="CasellaDiTesto 2">
            <a:extLst>
              <a:ext uri="{FF2B5EF4-FFF2-40B4-BE49-F238E27FC236}">
                <a16:creationId xmlns:a16="http://schemas.microsoft.com/office/drawing/2014/main" id="{EF912292-0B64-300B-065B-3A9122DAED75}"/>
              </a:ext>
            </a:extLst>
          </p:cNvPr>
          <p:cNvSpPr txBox="1"/>
          <p:nvPr/>
        </p:nvSpPr>
        <p:spPr>
          <a:xfrm>
            <a:off x="84328" y="6473090"/>
            <a:ext cx="1104791" cy="369332"/>
          </a:xfrm>
          <a:prstGeom prst="rect">
            <a:avLst/>
          </a:prstGeom>
          <a:noFill/>
        </p:spPr>
        <p:txBody>
          <a:bodyPr wrap="none" rtlCol="0">
            <a:spAutoFit/>
          </a:bodyPr>
          <a:lstStyle/>
          <a:p>
            <a:pPr algn="ctr"/>
            <a:r>
              <a:rPr lang="it-IT" dirty="0">
                <a:solidFill>
                  <a:schemeClr val="bg1"/>
                </a:solidFill>
                <a:latin typeface="Aptos" panose="020B0004020202020204" pitchFamily="34" charset="0"/>
              </a:rPr>
              <a:t>Group 9 -</a:t>
            </a:r>
          </a:p>
        </p:txBody>
      </p:sp>
    </p:spTree>
    <p:extLst>
      <p:ext uri="{BB962C8B-B14F-4D97-AF65-F5344CB8AC3E}">
        <p14:creationId xmlns:p14="http://schemas.microsoft.com/office/powerpoint/2010/main" val="258982727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C5AC783-1291-745A-48D4-69423BFED682}"/>
            </a:ext>
          </a:extLst>
        </p:cNvPr>
        <p:cNvGrpSpPr/>
        <p:nvPr/>
      </p:nvGrpSpPr>
      <p:grpSpPr>
        <a:xfrm>
          <a:off x="0" y="0"/>
          <a:ext cx="0" cy="0"/>
          <a:chOff x="0" y="0"/>
          <a:chExt cx="0" cy="0"/>
        </a:xfrm>
      </p:grpSpPr>
      <p:sp>
        <p:nvSpPr>
          <p:cNvPr id="8" name="CasellaDiTesto 7">
            <a:extLst>
              <a:ext uri="{FF2B5EF4-FFF2-40B4-BE49-F238E27FC236}">
                <a16:creationId xmlns:a16="http://schemas.microsoft.com/office/drawing/2014/main" id="{E87DFCD4-A756-744B-0241-E9FC6EFCAF00}"/>
              </a:ext>
            </a:extLst>
          </p:cNvPr>
          <p:cNvSpPr txBox="1"/>
          <p:nvPr/>
        </p:nvSpPr>
        <p:spPr>
          <a:xfrm>
            <a:off x="723900" y="1868050"/>
            <a:ext cx="10800883" cy="3323987"/>
          </a:xfrm>
          <a:prstGeom prst="rect">
            <a:avLst/>
          </a:prstGeom>
          <a:noFill/>
        </p:spPr>
        <p:txBody>
          <a:bodyPr wrap="square" rtlCol="0">
            <a:spAutoFit/>
          </a:bodyPr>
          <a:lstStyle/>
          <a:p>
            <a:pPr marL="457200" indent="-457200" algn="just">
              <a:buFont typeface="Arial" panose="020B0604020202020204" pitchFamily="34" charset="0"/>
              <a:buChar char="•"/>
            </a:pPr>
            <a:r>
              <a:rPr lang="it-IT" sz="2800" b="1" dirty="0">
                <a:latin typeface="Aptos" panose="020B0004020202020204" pitchFamily="34" charset="0"/>
              </a:rPr>
              <a:t>doctors: </a:t>
            </a:r>
            <a:r>
              <a:rPr lang="it-IT" sz="2800" dirty="0">
                <a:latin typeface="Aptos" panose="020B0004020202020204" pitchFamily="34" charset="0"/>
              </a:rPr>
              <a:t>id, name, </a:t>
            </a:r>
            <a:r>
              <a:rPr lang="it-IT" sz="2800" dirty="0" err="1">
                <a:latin typeface="Aptos" panose="020B0004020202020204" pitchFamily="34" charset="0"/>
              </a:rPr>
              <a:t>surname</a:t>
            </a:r>
            <a:r>
              <a:rPr lang="it-IT" sz="2800" dirty="0">
                <a:latin typeface="Aptos" panose="020B0004020202020204" pitchFamily="34" charset="0"/>
              </a:rPr>
              <a:t>, email, </a:t>
            </a:r>
            <a:r>
              <a:rPr lang="it-IT" sz="2800" dirty="0" err="1">
                <a:latin typeface="Aptos" panose="020B0004020202020204" pitchFamily="34" charset="0"/>
              </a:rPr>
              <a:t>hashed_password</a:t>
            </a:r>
            <a:endParaRPr lang="it-IT" sz="2800" dirty="0">
              <a:latin typeface="Aptos" panose="020B0004020202020204" pitchFamily="34" charset="0"/>
            </a:endParaRPr>
          </a:p>
          <a:p>
            <a:pPr marL="457200" indent="-457200" algn="just">
              <a:buFont typeface="Arial" panose="020B0604020202020204" pitchFamily="34" charset="0"/>
              <a:buChar char="•"/>
            </a:pPr>
            <a:endParaRPr lang="it-IT" sz="1400" dirty="0">
              <a:latin typeface="Aptos" panose="020B0004020202020204" pitchFamily="34" charset="0"/>
            </a:endParaRPr>
          </a:p>
          <a:p>
            <a:pPr marL="457200" indent="-457200" algn="just">
              <a:buFont typeface="Arial" panose="020B0604020202020204" pitchFamily="34" charset="0"/>
              <a:buChar char="•"/>
            </a:pPr>
            <a:r>
              <a:rPr lang="it-IT" sz="2800" b="1" dirty="0" err="1">
                <a:latin typeface="Aptos" panose="020B0004020202020204" pitchFamily="34" charset="0"/>
              </a:rPr>
              <a:t>processed_data</a:t>
            </a:r>
            <a:r>
              <a:rPr lang="it-IT" sz="2800" b="1" dirty="0">
                <a:latin typeface="Aptos" panose="020B0004020202020204" pitchFamily="34" charset="0"/>
              </a:rPr>
              <a:t>: </a:t>
            </a:r>
            <a:r>
              <a:rPr lang="it-IT" sz="2800" dirty="0">
                <a:latin typeface="Aptos" panose="020B0004020202020204" pitchFamily="34" charset="0"/>
              </a:rPr>
              <a:t>id, </a:t>
            </a:r>
            <a:r>
              <a:rPr lang="it-IT" sz="2800" dirty="0" err="1">
                <a:latin typeface="Aptos" panose="020B0004020202020204" pitchFamily="34" charset="0"/>
              </a:rPr>
              <a:t>type</a:t>
            </a:r>
            <a:r>
              <a:rPr lang="it-IT" sz="2800" dirty="0">
                <a:latin typeface="Aptos" panose="020B0004020202020204" pitchFamily="34" charset="0"/>
              </a:rPr>
              <a:t>, data, </a:t>
            </a:r>
            <a:r>
              <a:rPr lang="it-IT" sz="2800" dirty="0" err="1">
                <a:latin typeface="Aptos" panose="020B0004020202020204" pitchFamily="34" charset="0"/>
              </a:rPr>
              <a:t>created_at</a:t>
            </a:r>
            <a:endParaRPr lang="it-IT" sz="2800" dirty="0">
              <a:latin typeface="Aptos" panose="020B0004020202020204" pitchFamily="34" charset="0"/>
            </a:endParaRPr>
          </a:p>
          <a:p>
            <a:pPr marL="457200" indent="-457200" algn="just">
              <a:buFont typeface="Arial" panose="020B0604020202020204" pitchFamily="34" charset="0"/>
              <a:buChar char="•"/>
            </a:pPr>
            <a:endParaRPr lang="it-IT" sz="1400" dirty="0">
              <a:latin typeface="Aptos" panose="020B0004020202020204" pitchFamily="34" charset="0"/>
            </a:endParaRPr>
          </a:p>
          <a:p>
            <a:pPr marL="457200" indent="-457200" algn="just">
              <a:buFont typeface="Arial" panose="020B0604020202020204" pitchFamily="34" charset="0"/>
              <a:buChar char="•"/>
            </a:pPr>
            <a:r>
              <a:rPr lang="it-IT" sz="2800" b="1" dirty="0">
                <a:latin typeface="Aptos" panose="020B0004020202020204" pitchFamily="34" charset="0"/>
              </a:rPr>
              <a:t>reports: </a:t>
            </a:r>
            <a:r>
              <a:rPr lang="en-US" sz="2800" dirty="0">
                <a:latin typeface="Aptos" panose="020B0004020202020204" pitchFamily="34" charset="0"/>
              </a:rPr>
              <a:t>id, </a:t>
            </a:r>
            <a:r>
              <a:rPr lang="en-US" sz="2800" dirty="0" err="1">
                <a:latin typeface="Aptos" panose="020B0004020202020204" pitchFamily="34" charset="0"/>
              </a:rPr>
              <a:t>doctor_id</a:t>
            </a:r>
            <a:r>
              <a:rPr lang="en-US" sz="2800" dirty="0">
                <a:latin typeface="Aptos" panose="020B0004020202020204" pitchFamily="34" charset="0"/>
              </a:rPr>
              <a:t>, </a:t>
            </a:r>
            <a:r>
              <a:rPr lang="en-US" sz="2800" dirty="0" err="1">
                <a:latin typeface="Aptos" panose="020B0004020202020204" pitchFamily="34" charset="0"/>
              </a:rPr>
              <a:t>patient_hashed_cf</a:t>
            </a:r>
            <a:r>
              <a:rPr lang="en-US" sz="2800" dirty="0">
                <a:latin typeface="Aptos" panose="020B0004020202020204" pitchFamily="34" charset="0"/>
              </a:rPr>
              <a:t>, </a:t>
            </a:r>
            <a:r>
              <a:rPr lang="en-US" sz="2800" dirty="0" err="1">
                <a:latin typeface="Aptos" panose="020B0004020202020204" pitchFamily="34" charset="0"/>
              </a:rPr>
              <a:t>processed_data_id</a:t>
            </a:r>
            <a:r>
              <a:rPr lang="en-US" sz="2800" dirty="0">
                <a:latin typeface="Aptos" panose="020B0004020202020204" pitchFamily="34" charset="0"/>
              </a:rPr>
              <a:t>, </a:t>
            </a:r>
            <a:r>
              <a:rPr lang="en-US" sz="2800" dirty="0" err="1">
                <a:latin typeface="Aptos" panose="020B0004020202020204" pitchFamily="34" charset="0"/>
              </a:rPr>
              <a:t>created_at</a:t>
            </a:r>
            <a:r>
              <a:rPr lang="en-US" sz="2800" dirty="0">
                <a:latin typeface="Aptos" panose="020B0004020202020204" pitchFamily="34" charset="0"/>
              </a:rPr>
              <a:t>, strategy, explanation</a:t>
            </a:r>
            <a:endParaRPr lang="it-IT" sz="2800" dirty="0">
              <a:latin typeface="Aptos" panose="020B0004020202020204" pitchFamily="34" charset="0"/>
            </a:endParaRPr>
          </a:p>
          <a:p>
            <a:pPr marL="457200" indent="-457200" algn="just">
              <a:buFont typeface="Arial" panose="020B0604020202020204" pitchFamily="34" charset="0"/>
              <a:buChar char="•"/>
            </a:pPr>
            <a:endParaRPr lang="it-IT" sz="1400" dirty="0">
              <a:latin typeface="Aptos" panose="020B0004020202020204" pitchFamily="34" charset="0"/>
            </a:endParaRPr>
          </a:p>
          <a:p>
            <a:pPr marL="457200" indent="-457200" algn="just">
              <a:buFont typeface="Arial" panose="020B0604020202020204" pitchFamily="34" charset="0"/>
              <a:buChar char="•"/>
            </a:pPr>
            <a:r>
              <a:rPr lang="it-IT" sz="2800" b="1" dirty="0">
                <a:latin typeface="Aptos" panose="020B0004020202020204" pitchFamily="34" charset="0"/>
              </a:rPr>
              <a:t>logs: </a:t>
            </a:r>
            <a:r>
              <a:rPr lang="it-IT" sz="2800" dirty="0">
                <a:latin typeface="Aptos" panose="020B0004020202020204" pitchFamily="34" charset="0"/>
              </a:rPr>
              <a:t>id, </a:t>
            </a:r>
            <a:r>
              <a:rPr lang="it-IT" sz="2800" dirty="0" err="1">
                <a:latin typeface="Aptos" panose="020B0004020202020204" pitchFamily="34" charset="0"/>
              </a:rPr>
              <a:t>created_at</a:t>
            </a:r>
            <a:r>
              <a:rPr lang="it-IT" sz="2800" dirty="0">
                <a:latin typeface="Aptos" panose="020B0004020202020204" pitchFamily="34" charset="0"/>
              </a:rPr>
              <a:t>, service, event, </a:t>
            </a:r>
            <a:r>
              <a:rPr lang="it-IT" sz="2800" dirty="0" err="1">
                <a:latin typeface="Aptos" panose="020B0004020202020204" pitchFamily="34" charset="0"/>
              </a:rPr>
              <a:t>doctor_id</a:t>
            </a:r>
            <a:r>
              <a:rPr lang="it-IT" sz="2800" dirty="0">
                <a:latin typeface="Aptos" panose="020B0004020202020204" pitchFamily="34" charset="0"/>
              </a:rPr>
              <a:t>, </a:t>
            </a:r>
            <a:r>
              <a:rPr lang="it-IT" sz="2800" dirty="0" err="1">
                <a:latin typeface="Aptos" panose="020B0004020202020204" pitchFamily="34" charset="0"/>
              </a:rPr>
              <a:t>patient_hashed_cf</a:t>
            </a:r>
            <a:r>
              <a:rPr lang="it-IT" sz="2800" dirty="0">
                <a:latin typeface="Aptos" panose="020B0004020202020204" pitchFamily="34" charset="0"/>
              </a:rPr>
              <a:t>, </a:t>
            </a:r>
            <a:r>
              <a:rPr lang="it-IT" sz="2800" dirty="0" err="1">
                <a:latin typeface="Aptos" panose="020B0004020202020204" pitchFamily="34" charset="0"/>
              </a:rPr>
              <a:t>data_id</a:t>
            </a:r>
            <a:r>
              <a:rPr lang="it-IT" sz="2800" dirty="0">
                <a:latin typeface="Aptos" panose="020B0004020202020204" pitchFamily="34" charset="0"/>
              </a:rPr>
              <a:t>, </a:t>
            </a:r>
            <a:r>
              <a:rPr lang="it-IT" sz="2800" dirty="0" err="1">
                <a:latin typeface="Aptos" panose="020B0004020202020204" pitchFamily="34" charset="0"/>
              </a:rPr>
              <a:t>report_id</a:t>
            </a:r>
            <a:endParaRPr lang="it-IT" sz="2800" dirty="0">
              <a:latin typeface="Aptos" panose="020B0004020202020204" pitchFamily="34" charset="0"/>
            </a:endParaRPr>
          </a:p>
        </p:txBody>
      </p:sp>
      <p:sp>
        <p:nvSpPr>
          <p:cNvPr id="19" name="CasellaDiTesto 18">
            <a:extLst>
              <a:ext uri="{FF2B5EF4-FFF2-40B4-BE49-F238E27FC236}">
                <a16:creationId xmlns:a16="http://schemas.microsoft.com/office/drawing/2014/main" id="{47ED4AB2-2626-2EC6-994B-5723A23F3F14}"/>
              </a:ext>
            </a:extLst>
          </p:cNvPr>
          <p:cNvSpPr txBox="1"/>
          <p:nvPr/>
        </p:nvSpPr>
        <p:spPr>
          <a:xfrm>
            <a:off x="723900" y="365720"/>
            <a:ext cx="3950120" cy="1015663"/>
          </a:xfrm>
          <a:prstGeom prst="rect">
            <a:avLst/>
          </a:prstGeom>
          <a:noFill/>
        </p:spPr>
        <p:txBody>
          <a:bodyPr wrap="none" rtlCol="0">
            <a:spAutoFit/>
          </a:bodyPr>
          <a:lstStyle/>
          <a:p>
            <a:r>
              <a:rPr lang="it-IT" sz="6000" b="1">
                <a:latin typeface="Aptos" panose="020B0004020202020204" pitchFamily="34" charset="0"/>
              </a:rPr>
              <a:t>Databases</a:t>
            </a:r>
          </a:p>
        </p:txBody>
      </p:sp>
      <p:grpSp>
        <p:nvGrpSpPr>
          <p:cNvPr id="5" name="object 9">
            <a:extLst>
              <a:ext uri="{FF2B5EF4-FFF2-40B4-BE49-F238E27FC236}">
                <a16:creationId xmlns:a16="http://schemas.microsoft.com/office/drawing/2014/main" id="{81AECC39-9AAE-9A9B-0725-0CA311B16455}"/>
              </a:ext>
            </a:extLst>
          </p:cNvPr>
          <p:cNvGrpSpPr/>
          <p:nvPr/>
        </p:nvGrpSpPr>
        <p:grpSpPr>
          <a:xfrm>
            <a:off x="-7209" y="6455826"/>
            <a:ext cx="12211050" cy="403860"/>
            <a:chOff x="-7209" y="6455826"/>
            <a:chExt cx="12211050" cy="403860"/>
          </a:xfrm>
          <a:solidFill>
            <a:srgbClr val="009999"/>
          </a:solidFill>
        </p:grpSpPr>
        <p:sp>
          <p:nvSpPr>
            <p:cNvPr id="6" name="object 10">
              <a:extLst>
                <a:ext uri="{FF2B5EF4-FFF2-40B4-BE49-F238E27FC236}">
                  <a16:creationId xmlns:a16="http://schemas.microsoft.com/office/drawing/2014/main" id="{7B17905E-D312-35E5-C328-DD74AA02781F}"/>
                </a:ext>
              </a:extLst>
            </p:cNvPr>
            <p:cNvSpPr/>
            <p:nvPr/>
          </p:nvSpPr>
          <p:spPr>
            <a:xfrm>
              <a:off x="2315" y="6465351"/>
              <a:ext cx="12192000" cy="384810"/>
            </a:xfrm>
            <a:custGeom>
              <a:avLst/>
              <a:gdLst/>
              <a:ahLst/>
              <a:cxnLst/>
              <a:rect l="l" t="t" r="r" b="b"/>
              <a:pathLst>
                <a:path w="12192000" h="384809">
                  <a:moveTo>
                    <a:pt x="12191619" y="0"/>
                  </a:moveTo>
                  <a:lnTo>
                    <a:pt x="0" y="0"/>
                  </a:lnTo>
                  <a:lnTo>
                    <a:pt x="0" y="384657"/>
                  </a:lnTo>
                  <a:lnTo>
                    <a:pt x="12191619" y="384657"/>
                  </a:lnTo>
                  <a:lnTo>
                    <a:pt x="12191619" y="0"/>
                  </a:lnTo>
                  <a:close/>
                </a:path>
              </a:pathLst>
            </a:custGeom>
            <a:grpFill/>
          </p:spPr>
          <p:txBody>
            <a:bodyPr wrap="square" lIns="0" tIns="0" rIns="0" bIns="0" rtlCol="0"/>
            <a:lstStyle/>
            <a:p>
              <a:endParaRPr/>
            </a:p>
          </p:txBody>
        </p:sp>
        <p:sp>
          <p:nvSpPr>
            <p:cNvPr id="7" name="object 11">
              <a:extLst>
                <a:ext uri="{FF2B5EF4-FFF2-40B4-BE49-F238E27FC236}">
                  <a16:creationId xmlns:a16="http://schemas.microsoft.com/office/drawing/2014/main" id="{D299B0BE-6117-AA83-E51F-F9941F44AA99}"/>
                </a:ext>
              </a:extLst>
            </p:cNvPr>
            <p:cNvSpPr/>
            <p:nvPr/>
          </p:nvSpPr>
          <p:spPr>
            <a:xfrm>
              <a:off x="2315" y="6465351"/>
              <a:ext cx="12192000" cy="384810"/>
            </a:xfrm>
            <a:custGeom>
              <a:avLst/>
              <a:gdLst/>
              <a:ahLst/>
              <a:cxnLst/>
              <a:rect l="l" t="t" r="r" b="b"/>
              <a:pathLst>
                <a:path w="12192000" h="384809">
                  <a:moveTo>
                    <a:pt x="0" y="384657"/>
                  </a:moveTo>
                  <a:lnTo>
                    <a:pt x="12191619" y="384657"/>
                  </a:lnTo>
                  <a:lnTo>
                    <a:pt x="12191619" y="0"/>
                  </a:lnTo>
                  <a:lnTo>
                    <a:pt x="0" y="0"/>
                  </a:lnTo>
                  <a:lnTo>
                    <a:pt x="0" y="384657"/>
                  </a:lnTo>
                  <a:close/>
                </a:path>
              </a:pathLst>
            </a:custGeom>
            <a:grpFill/>
            <a:ln w="19050">
              <a:solidFill>
                <a:srgbClr val="009999"/>
              </a:solidFill>
            </a:ln>
          </p:spPr>
          <p:txBody>
            <a:bodyPr wrap="square" lIns="0" tIns="0" rIns="0" bIns="0" rtlCol="0"/>
            <a:lstStyle/>
            <a:p>
              <a:endParaRPr/>
            </a:p>
          </p:txBody>
        </p:sp>
      </p:grpSp>
      <p:sp>
        <p:nvSpPr>
          <p:cNvPr id="17" name="CasellaDiTesto 16">
            <a:extLst>
              <a:ext uri="{FF2B5EF4-FFF2-40B4-BE49-F238E27FC236}">
                <a16:creationId xmlns:a16="http://schemas.microsoft.com/office/drawing/2014/main" id="{3ECB9808-0B86-9346-CB31-ED9A2A9118F5}"/>
              </a:ext>
            </a:extLst>
          </p:cNvPr>
          <p:cNvSpPr txBox="1"/>
          <p:nvPr/>
        </p:nvSpPr>
        <p:spPr>
          <a:xfrm>
            <a:off x="11637140" y="6480829"/>
            <a:ext cx="431528" cy="369332"/>
          </a:xfrm>
          <a:prstGeom prst="rect">
            <a:avLst/>
          </a:prstGeom>
          <a:noFill/>
        </p:spPr>
        <p:txBody>
          <a:bodyPr wrap="none" rtlCol="0">
            <a:spAutoFit/>
          </a:bodyPr>
          <a:lstStyle/>
          <a:p>
            <a:pPr algn="ctr"/>
            <a:r>
              <a:rPr lang="it-IT" dirty="0">
                <a:solidFill>
                  <a:schemeClr val="bg1"/>
                </a:solidFill>
                <a:latin typeface="Aptos" panose="020B0004020202020204" pitchFamily="34" charset="0"/>
              </a:rPr>
              <a:t>12</a:t>
            </a:r>
          </a:p>
        </p:txBody>
      </p:sp>
      <p:pic>
        <p:nvPicPr>
          <p:cNvPr id="2050" name="Picture 2" descr="pgAdmin - Deasil">
            <a:extLst>
              <a:ext uri="{FF2B5EF4-FFF2-40B4-BE49-F238E27FC236}">
                <a16:creationId xmlns:a16="http://schemas.microsoft.com/office/drawing/2014/main" id="{BADD1AD1-41AA-ADE6-1CA2-F9951D93BA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90139" y="5044992"/>
            <a:ext cx="2776921" cy="1034796"/>
          </a:xfrm>
          <a:prstGeom prst="rect">
            <a:avLst/>
          </a:prstGeom>
          <a:noFill/>
          <a:extLst>
            <a:ext uri="{909E8E84-426E-40DD-AFC4-6F175D3DCCD1}">
              <a14:hiddenFill xmlns:a14="http://schemas.microsoft.com/office/drawing/2010/main">
                <a:solidFill>
                  <a:srgbClr val="FFFFFF"/>
                </a:solidFill>
              </a14:hiddenFill>
            </a:ext>
          </a:extLst>
        </p:spPr>
      </p:pic>
      <p:sp>
        <p:nvSpPr>
          <p:cNvPr id="2" name="CasellaDiTesto 1">
            <a:extLst>
              <a:ext uri="{FF2B5EF4-FFF2-40B4-BE49-F238E27FC236}">
                <a16:creationId xmlns:a16="http://schemas.microsoft.com/office/drawing/2014/main" id="{C6D9E19F-5000-8E37-A48C-B89FA369BF45}"/>
              </a:ext>
            </a:extLst>
          </p:cNvPr>
          <p:cNvSpPr txBox="1"/>
          <p:nvPr/>
        </p:nvSpPr>
        <p:spPr>
          <a:xfrm>
            <a:off x="1037287" y="6473090"/>
            <a:ext cx="2084225" cy="369332"/>
          </a:xfrm>
          <a:prstGeom prst="rect">
            <a:avLst/>
          </a:prstGeom>
          <a:noFill/>
        </p:spPr>
        <p:txBody>
          <a:bodyPr wrap="none" rtlCol="0">
            <a:spAutoFit/>
          </a:bodyPr>
          <a:lstStyle/>
          <a:p>
            <a:pPr algn="ctr"/>
            <a:r>
              <a:rPr lang="it-IT" dirty="0" err="1">
                <a:solidFill>
                  <a:schemeClr val="bg1"/>
                </a:solidFill>
                <a:latin typeface="Aptos" panose="020B0004020202020204" pitchFamily="34" charset="0"/>
              </a:rPr>
              <a:t>EarlyCare</a:t>
            </a:r>
            <a:r>
              <a:rPr lang="it-IT" dirty="0">
                <a:solidFill>
                  <a:schemeClr val="bg1"/>
                </a:solidFill>
                <a:latin typeface="Aptos" panose="020B0004020202020204" pitchFamily="34" charset="0"/>
              </a:rPr>
              <a:t> Gateway</a:t>
            </a:r>
          </a:p>
        </p:txBody>
      </p:sp>
      <p:sp>
        <p:nvSpPr>
          <p:cNvPr id="3" name="CasellaDiTesto 2">
            <a:extLst>
              <a:ext uri="{FF2B5EF4-FFF2-40B4-BE49-F238E27FC236}">
                <a16:creationId xmlns:a16="http://schemas.microsoft.com/office/drawing/2014/main" id="{02ED00DD-07C4-FF12-40D4-67A5EA273DD2}"/>
              </a:ext>
            </a:extLst>
          </p:cNvPr>
          <p:cNvSpPr txBox="1"/>
          <p:nvPr/>
        </p:nvSpPr>
        <p:spPr>
          <a:xfrm>
            <a:off x="84328" y="6473090"/>
            <a:ext cx="1104791" cy="369332"/>
          </a:xfrm>
          <a:prstGeom prst="rect">
            <a:avLst/>
          </a:prstGeom>
          <a:noFill/>
        </p:spPr>
        <p:txBody>
          <a:bodyPr wrap="none" rtlCol="0">
            <a:spAutoFit/>
          </a:bodyPr>
          <a:lstStyle/>
          <a:p>
            <a:pPr algn="ctr"/>
            <a:r>
              <a:rPr lang="it-IT" dirty="0">
                <a:solidFill>
                  <a:schemeClr val="bg1"/>
                </a:solidFill>
                <a:latin typeface="Aptos" panose="020B0004020202020204" pitchFamily="34" charset="0"/>
              </a:rPr>
              <a:t>Group 9 -</a:t>
            </a:r>
          </a:p>
        </p:txBody>
      </p:sp>
    </p:spTree>
    <p:extLst>
      <p:ext uri="{BB962C8B-B14F-4D97-AF65-F5344CB8AC3E}">
        <p14:creationId xmlns:p14="http://schemas.microsoft.com/office/powerpoint/2010/main" val="180706454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AA3D793-8D02-6A87-449B-27932F03A628}"/>
            </a:ext>
          </a:extLst>
        </p:cNvPr>
        <p:cNvGrpSpPr/>
        <p:nvPr/>
      </p:nvGrpSpPr>
      <p:grpSpPr>
        <a:xfrm>
          <a:off x="0" y="0"/>
          <a:ext cx="0" cy="0"/>
          <a:chOff x="0" y="0"/>
          <a:chExt cx="0" cy="0"/>
        </a:xfrm>
      </p:grpSpPr>
      <p:sp>
        <p:nvSpPr>
          <p:cNvPr id="19" name="CasellaDiTesto 18">
            <a:extLst>
              <a:ext uri="{FF2B5EF4-FFF2-40B4-BE49-F238E27FC236}">
                <a16:creationId xmlns:a16="http://schemas.microsoft.com/office/drawing/2014/main" id="{CC082A61-7313-5646-6E7F-D4822779B4E3}"/>
              </a:ext>
            </a:extLst>
          </p:cNvPr>
          <p:cNvSpPr txBox="1"/>
          <p:nvPr/>
        </p:nvSpPr>
        <p:spPr>
          <a:xfrm>
            <a:off x="723900" y="365720"/>
            <a:ext cx="4615366" cy="1015663"/>
          </a:xfrm>
          <a:prstGeom prst="rect">
            <a:avLst/>
          </a:prstGeom>
          <a:noFill/>
        </p:spPr>
        <p:txBody>
          <a:bodyPr wrap="none" rtlCol="0">
            <a:spAutoFit/>
          </a:bodyPr>
          <a:lstStyle/>
          <a:p>
            <a:r>
              <a:rPr lang="it-IT" sz="6000" b="1">
                <a:latin typeface="Aptos" panose="020B0004020202020204" pitchFamily="34" charset="0"/>
              </a:rPr>
              <a:t>AI Strategies</a:t>
            </a:r>
          </a:p>
        </p:txBody>
      </p:sp>
      <p:grpSp>
        <p:nvGrpSpPr>
          <p:cNvPr id="6" name="object 9">
            <a:extLst>
              <a:ext uri="{FF2B5EF4-FFF2-40B4-BE49-F238E27FC236}">
                <a16:creationId xmlns:a16="http://schemas.microsoft.com/office/drawing/2014/main" id="{260948E3-0970-D369-EBA9-22D5EDAC4F77}"/>
              </a:ext>
            </a:extLst>
          </p:cNvPr>
          <p:cNvGrpSpPr/>
          <p:nvPr/>
        </p:nvGrpSpPr>
        <p:grpSpPr>
          <a:xfrm>
            <a:off x="-7209" y="6455826"/>
            <a:ext cx="12211050" cy="403860"/>
            <a:chOff x="-7209" y="6455826"/>
            <a:chExt cx="12211050" cy="403860"/>
          </a:xfrm>
          <a:solidFill>
            <a:srgbClr val="009999"/>
          </a:solidFill>
        </p:grpSpPr>
        <p:sp>
          <p:nvSpPr>
            <p:cNvPr id="7" name="object 10">
              <a:extLst>
                <a:ext uri="{FF2B5EF4-FFF2-40B4-BE49-F238E27FC236}">
                  <a16:creationId xmlns:a16="http://schemas.microsoft.com/office/drawing/2014/main" id="{4B745331-EB44-CE44-3424-9A33A55D1E81}"/>
                </a:ext>
              </a:extLst>
            </p:cNvPr>
            <p:cNvSpPr/>
            <p:nvPr/>
          </p:nvSpPr>
          <p:spPr>
            <a:xfrm>
              <a:off x="2315" y="6465351"/>
              <a:ext cx="12192000" cy="384810"/>
            </a:xfrm>
            <a:custGeom>
              <a:avLst/>
              <a:gdLst/>
              <a:ahLst/>
              <a:cxnLst/>
              <a:rect l="l" t="t" r="r" b="b"/>
              <a:pathLst>
                <a:path w="12192000" h="384809">
                  <a:moveTo>
                    <a:pt x="12191619" y="0"/>
                  </a:moveTo>
                  <a:lnTo>
                    <a:pt x="0" y="0"/>
                  </a:lnTo>
                  <a:lnTo>
                    <a:pt x="0" y="384657"/>
                  </a:lnTo>
                  <a:lnTo>
                    <a:pt x="12191619" y="384657"/>
                  </a:lnTo>
                  <a:lnTo>
                    <a:pt x="12191619" y="0"/>
                  </a:lnTo>
                  <a:close/>
                </a:path>
              </a:pathLst>
            </a:custGeom>
            <a:grpFill/>
          </p:spPr>
          <p:txBody>
            <a:bodyPr wrap="square" lIns="0" tIns="0" rIns="0" bIns="0" rtlCol="0"/>
            <a:lstStyle/>
            <a:p>
              <a:endParaRPr/>
            </a:p>
          </p:txBody>
        </p:sp>
        <p:sp>
          <p:nvSpPr>
            <p:cNvPr id="8" name="object 11">
              <a:extLst>
                <a:ext uri="{FF2B5EF4-FFF2-40B4-BE49-F238E27FC236}">
                  <a16:creationId xmlns:a16="http://schemas.microsoft.com/office/drawing/2014/main" id="{15969750-C490-18F8-A8CD-B77318069FAF}"/>
                </a:ext>
              </a:extLst>
            </p:cNvPr>
            <p:cNvSpPr/>
            <p:nvPr/>
          </p:nvSpPr>
          <p:spPr>
            <a:xfrm>
              <a:off x="2315" y="6465351"/>
              <a:ext cx="12192000" cy="384810"/>
            </a:xfrm>
            <a:custGeom>
              <a:avLst/>
              <a:gdLst/>
              <a:ahLst/>
              <a:cxnLst/>
              <a:rect l="l" t="t" r="r" b="b"/>
              <a:pathLst>
                <a:path w="12192000" h="384809">
                  <a:moveTo>
                    <a:pt x="0" y="384657"/>
                  </a:moveTo>
                  <a:lnTo>
                    <a:pt x="12191619" y="384657"/>
                  </a:lnTo>
                  <a:lnTo>
                    <a:pt x="12191619" y="0"/>
                  </a:lnTo>
                  <a:lnTo>
                    <a:pt x="0" y="0"/>
                  </a:lnTo>
                  <a:lnTo>
                    <a:pt x="0" y="384657"/>
                  </a:lnTo>
                  <a:close/>
                </a:path>
              </a:pathLst>
            </a:custGeom>
            <a:grpFill/>
            <a:ln w="19050">
              <a:solidFill>
                <a:srgbClr val="009999"/>
              </a:solidFill>
            </a:ln>
          </p:spPr>
          <p:txBody>
            <a:bodyPr wrap="square" lIns="0" tIns="0" rIns="0" bIns="0" rtlCol="0"/>
            <a:lstStyle/>
            <a:p>
              <a:endParaRPr/>
            </a:p>
          </p:txBody>
        </p:sp>
      </p:grpSp>
      <p:sp>
        <p:nvSpPr>
          <p:cNvPr id="17" name="CasellaDiTesto 16">
            <a:extLst>
              <a:ext uri="{FF2B5EF4-FFF2-40B4-BE49-F238E27FC236}">
                <a16:creationId xmlns:a16="http://schemas.microsoft.com/office/drawing/2014/main" id="{206C46DE-786D-353B-A66D-9CBB929E8795}"/>
              </a:ext>
            </a:extLst>
          </p:cNvPr>
          <p:cNvSpPr txBox="1"/>
          <p:nvPr/>
        </p:nvSpPr>
        <p:spPr>
          <a:xfrm>
            <a:off x="11637140" y="6480829"/>
            <a:ext cx="431528" cy="369332"/>
          </a:xfrm>
          <a:prstGeom prst="rect">
            <a:avLst/>
          </a:prstGeom>
          <a:noFill/>
        </p:spPr>
        <p:txBody>
          <a:bodyPr wrap="none" rtlCol="0">
            <a:spAutoFit/>
          </a:bodyPr>
          <a:lstStyle/>
          <a:p>
            <a:pPr algn="ctr"/>
            <a:r>
              <a:rPr lang="it-IT" dirty="0">
                <a:solidFill>
                  <a:schemeClr val="bg1"/>
                </a:solidFill>
                <a:latin typeface="Aptos" panose="020B0004020202020204" pitchFamily="34" charset="0"/>
              </a:rPr>
              <a:t>13</a:t>
            </a:r>
          </a:p>
        </p:txBody>
      </p:sp>
      <p:sp>
        <p:nvSpPr>
          <p:cNvPr id="18" name="CasellaDiTesto 17">
            <a:extLst>
              <a:ext uri="{FF2B5EF4-FFF2-40B4-BE49-F238E27FC236}">
                <a16:creationId xmlns:a16="http://schemas.microsoft.com/office/drawing/2014/main" id="{C2C9D0CD-FAB9-8FB7-961F-89AC713C486B}"/>
              </a:ext>
            </a:extLst>
          </p:cNvPr>
          <p:cNvSpPr txBox="1"/>
          <p:nvPr/>
        </p:nvSpPr>
        <p:spPr>
          <a:xfrm>
            <a:off x="533400" y="1838051"/>
            <a:ext cx="10911484" cy="2462213"/>
          </a:xfrm>
          <a:prstGeom prst="rect">
            <a:avLst/>
          </a:prstGeom>
          <a:noFill/>
        </p:spPr>
        <p:txBody>
          <a:bodyPr wrap="square" rtlCol="0">
            <a:spAutoFit/>
          </a:bodyPr>
          <a:lstStyle/>
          <a:p>
            <a:pPr marL="457200" indent="-457200" algn="just">
              <a:buFont typeface="Arial" panose="020B0604020202020204" pitchFamily="34" charset="0"/>
              <a:buChar char="•"/>
            </a:pPr>
            <a:r>
              <a:rPr lang="it-IT" sz="2800" b="1" dirty="0" err="1">
                <a:latin typeface="Aptos" panose="020B0004020202020204" pitchFamily="34" charset="0"/>
              </a:rPr>
              <a:t>Textual</a:t>
            </a:r>
            <a:r>
              <a:rPr lang="it-IT" sz="2800" b="1" dirty="0">
                <a:latin typeface="Aptos" panose="020B0004020202020204" pitchFamily="34" charset="0"/>
              </a:rPr>
              <a:t> Data: </a:t>
            </a:r>
            <a:r>
              <a:rPr lang="it-IT" sz="2800" dirty="0" err="1">
                <a:latin typeface="Aptos" panose="020B0004020202020204" pitchFamily="34" charset="0"/>
              </a:rPr>
              <a:t>ClinicalBERT</a:t>
            </a:r>
            <a:endParaRPr lang="it-IT" sz="2800" dirty="0">
              <a:latin typeface="Aptos" panose="020B0004020202020204" pitchFamily="34" charset="0"/>
            </a:endParaRPr>
          </a:p>
          <a:p>
            <a:pPr marL="457200" indent="-457200" algn="just">
              <a:buFont typeface="Arial" panose="020B0604020202020204" pitchFamily="34" charset="0"/>
              <a:buChar char="•"/>
            </a:pPr>
            <a:endParaRPr lang="it-IT" sz="1400" dirty="0">
              <a:latin typeface="Aptos" panose="020B0004020202020204" pitchFamily="34" charset="0"/>
            </a:endParaRPr>
          </a:p>
          <a:p>
            <a:pPr marL="457200" indent="-457200" algn="just">
              <a:buFont typeface="Arial" panose="020B0604020202020204" pitchFamily="34" charset="0"/>
              <a:buChar char="•"/>
            </a:pPr>
            <a:r>
              <a:rPr lang="it-IT" sz="2800" b="1" dirty="0">
                <a:latin typeface="Aptos" panose="020B0004020202020204" pitchFamily="34" charset="0"/>
              </a:rPr>
              <a:t>Imaging Data (CNN): </a:t>
            </a:r>
            <a:r>
              <a:rPr lang="it-IT" sz="2800" dirty="0" err="1">
                <a:latin typeface="Aptos" panose="020B0004020202020204" pitchFamily="34" charset="0"/>
              </a:rPr>
              <a:t>CheXNet</a:t>
            </a:r>
            <a:r>
              <a:rPr lang="it-IT" sz="2800" dirty="0">
                <a:latin typeface="Aptos" panose="020B0004020202020204" pitchFamily="34" charset="0"/>
              </a:rPr>
              <a:t> (X-Ray), </a:t>
            </a:r>
            <a:r>
              <a:rPr lang="it-IT" sz="2800" dirty="0" err="1">
                <a:latin typeface="Aptos" panose="020B0004020202020204" pitchFamily="34" charset="0"/>
              </a:rPr>
              <a:t>EfficientNet</a:t>
            </a:r>
            <a:r>
              <a:rPr lang="it-IT" sz="2800" dirty="0">
                <a:latin typeface="Aptos" panose="020B0004020202020204" pitchFamily="34" charset="0"/>
              </a:rPr>
              <a:t> (</a:t>
            </a:r>
            <a:r>
              <a:rPr lang="it-IT" sz="2800" dirty="0" err="1">
                <a:latin typeface="Aptos" panose="020B0004020202020204" pitchFamily="34" charset="0"/>
              </a:rPr>
              <a:t>Skin</a:t>
            </a:r>
            <a:r>
              <a:rPr lang="it-IT" sz="2800" dirty="0">
                <a:latin typeface="Aptos" panose="020B0004020202020204" pitchFamily="34" charset="0"/>
              </a:rPr>
              <a:t> </a:t>
            </a:r>
            <a:r>
              <a:rPr lang="it-IT" sz="2800" dirty="0" err="1">
                <a:latin typeface="Aptos" panose="020B0004020202020204" pitchFamily="34" charset="0"/>
              </a:rPr>
              <a:t>Lesions</a:t>
            </a:r>
            <a:r>
              <a:rPr lang="it-IT" sz="2800" dirty="0">
                <a:latin typeface="Aptos" panose="020B0004020202020204" pitchFamily="34" charset="0"/>
              </a:rPr>
              <a:t>)</a:t>
            </a:r>
          </a:p>
          <a:p>
            <a:pPr marL="457200" indent="-457200" algn="just">
              <a:buFont typeface="Arial" panose="020B0604020202020204" pitchFamily="34" charset="0"/>
              <a:buChar char="•"/>
            </a:pPr>
            <a:endParaRPr lang="it-IT" sz="1400" dirty="0">
              <a:latin typeface="Aptos" panose="020B0004020202020204" pitchFamily="34" charset="0"/>
            </a:endParaRPr>
          </a:p>
          <a:p>
            <a:pPr marL="457200" indent="-457200" algn="just">
              <a:buFont typeface="Arial" panose="020B0604020202020204" pitchFamily="34" charset="0"/>
              <a:buChar char="•"/>
            </a:pPr>
            <a:r>
              <a:rPr lang="it-IT" sz="2800" b="1" dirty="0" err="1">
                <a:latin typeface="Aptos" panose="020B0004020202020204" pitchFamily="34" charset="0"/>
              </a:rPr>
              <a:t>Structured</a:t>
            </a:r>
            <a:r>
              <a:rPr lang="it-IT" sz="2800" b="1" dirty="0">
                <a:latin typeface="Aptos" panose="020B0004020202020204" pitchFamily="34" charset="0"/>
              </a:rPr>
              <a:t> </a:t>
            </a:r>
            <a:r>
              <a:rPr lang="it-IT" sz="2800" b="1" dirty="0" err="1">
                <a:latin typeface="Aptos" panose="020B0004020202020204" pitchFamily="34" charset="0"/>
              </a:rPr>
              <a:t>Numeric</a:t>
            </a:r>
            <a:r>
              <a:rPr lang="it-IT" sz="2800" b="1" dirty="0">
                <a:latin typeface="Aptos" panose="020B0004020202020204" pitchFamily="34" charset="0"/>
              </a:rPr>
              <a:t> Data: </a:t>
            </a:r>
            <a:r>
              <a:rPr lang="it-IT" sz="2800" dirty="0" err="1">
                <a:latin typeface="Aptos" panose="020B0004020202020204" pitchFamily="34" charset="0"/>
              </a:rPr>
              <a:t>XGBoost</a:t>
            </a:r>
            <a:endParaRPr lang="it-IT" sz="2800" dirty="0">
              <a:latin typeface="Aptos" panose="020B0004020202020204" pitchFamily="34" charset="0"/>
            </a:endParaRPr>
          </a:p>
          <a:p>
            <a:pPr marL="457200" indent="-457200" algn="just">
              <a:buFont typeface="Arial" panose="020B0604020202020204" pitchFamily="34" charset="0"/>
              <a:buChar char="•"/>
            </a:pPr>
            <a:endParaRPr lang="it-IT" sz="1400" dirty="0">
              <a:latin typeface="Aptos" panose="020B0004020202020204" pitchFamily="34" charset="0"/>
            </a:endParaRPr>
          </a:p>
          <a:p>
            <a:pPr marL="457200" indent="-457200" algn="just">
              <a:buFont typeface="Arial" panose="020B0604020202020204" pitchFamily="34" charset="0"/>
              <a:buChar char="•"/>
            </a:pPr>
            <a:r>
              <a:rPr lang="it-IT" sz="2800" b="1" dirty="0" err="1">
                <a:latin typeface="Aptos" panose="020B0004020202020204" pitchFamily="34" charset="0"/>
              </a:rPr>
              <a:t>Signal</a:t>
            </a:r>
            <a:r>
              <a:rPr lang="it-IT" sz="2800" b="1" dirty="0">
                <a:latin typeface="Aptos" panose="020B0004020202020204" pitchFamily="34" charset="0"/>
              </a:rPr>
              <a:t> Data: </a:t>
            </a:r>
            <a:r>
              <a:rPr lang="it-IT" sz="2800" dirty="0">
                <a:latin typeface="Aptos" panose="020B0004020202020204" pitchFamily="34" charset="0"/>
              </a:rPr>
              <a:t>Gemini 2.5 Flash-Lite API</a:t>
            </a:r>
          </a:p>
        </p:txBody>
      </p:sp>
      <p:pic>
        <p:nvPicPr>
          <p:cNvPr id="23" name="Immagine 22" descr="Immagine che contiene bianco e nero, Imaging medicale, Fotografia monocromatica, Raggi X&#10;&#10;Il contenuto generato dall'IA potrebbe non essere corretto.">
            <a:extLst>
              <a:ext uri="{FF2B5EF4-FFF2-40B4-BE49-F238E27FC236}">
                <a16:creationId xmlns:a16="http://schemas.microsoft.com/office/drawing/2014/main" id="{D3648EDB-2283-2AA5-24AE-5F6DA6AF1E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26299" y="3992880"/>
            <a:ext cx="2493369" cy="1995800"/>
          </a:xfrm>
          <a:prstGeom prst="rect">
            <a:avLst/>
          </a:prstGeom>
        </p:spPr>
      </p:pic>
      <p:pic>
        <p:nvPicPr>
          <p:cNvPr id="1038" name="Picture 14" descr="The heart signal and EEG signal used in the study. The upper one is a... |  Download Scientific Diagram">
            <a:extLst>
              <a:ext uri="{FF2B5EF4-FFF2-40B4-BE49-F238E27FC236}">
                <a16:creationId xmlns:a16="http://schemas.microsoft.com/office/drawing/2014/main" id="{6F34C141-52D3-48E6-6A4C-AE32FEFA7E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9142" y="4649477"/>
            <a:ext cx="2221885" cy="1469936"/>
          </a:xfrm>
          <a:prstGeom prst="rect">
            <a:avLst/>
          </a:prstGeom>
          <a:noFill/>
          <a:extLst>
            <a:ext uri="{909E8E84-426E-40DD-AFC4-6F175D3DCCD1}">
              <a14:hiddenFill xmlns:a14="http://schemas.microsoft.com/office/drawing/2010/main">
                <a:solidFill>
                  <a:srgbClr val="FFFFFF"/>
                </a:solidFill>
              </a14:hiddenFill>
            </a:ext>
          </a:extLst>
        </p:spPr>
      </p:pic>
      <p:sp>
        <p:nvSpPr>
          <p:cNvPr id="2" name="CasellaDiTesto 1">
            <a:extLst>
              <a:ext uri="{FF2B5EF4-FFF2-40B4-BE49-F238E27FC236}">
                <a16:creationId xmlns:a16="http://schemas.microsoft.com/office/drawing/2014/main" id="{5E6D4F98-385A-9D56-43C7-F9444D1F634F}"/>
              </a:ext>
            </a:extLst>
          </p:cNvPr>
          <p:cNvSpPr txBox="1"/>
          <p:nvPr/>
        </p:nvSpPr>
        <p:spPr>
          <a:xfrm>
            <a:off x="1037287" y="6473090"/>
            <a:ext cx="2084225" cy="369332"/>
          </a:xfrm>
          <a:prstGeom prst="rect">
            <a:avLst/>
          </a:prstGeom>
          <a:noFill/>
        </p:spPr>
        <p:txBody>
          <a:bodyPr wrap="none" rtlCol="0">
            <a:spAutoFit/>
          </a:bodyPr>
          <a:lstStyle/>
          <a:p>
            <a:pPr algn="ctr"/>
            <a:r>
              <a:rPr lang="it-IT" dirty="0" err="1">
                <a:solidFill>
                  <a:schemeClr val="bg1"/>
                </a:solidFill>
                <a:latin typeface="Aptos" panose="020B0004020202020204" pitchFamily="34" charset="0"/>
              </a:rPr>
              <a:t>EarlyCare</a:t>
            </a:r>
            <a:r>
              <a:rPr lang="it-IT" dirty="0">
                <a:solidFill>
                  <a:schemeClr val="bg1"/>
                </a:solidFill>
                <a:latin typeface="Aptos" panose="020B0004020202020204" pitchFamily="34" charset="0"/>
              </a:rPr>
              <a:t> Gateway</a:t>
            </a:r>
          </a:p>
        </p:txBody>
      </p:sp>
      <p:sp>
        <p:nvSpPr>
          <p:cNvPr id="3" name="CasellaDiTesto 2">
            <a:extLst>
              <a:ext uri="{FF2B5EF4-FFF2-40B4-BE49-F238E27FC236}">
                <a16:creationId xmlns:a16="http://schemas.microsoft.com/office/drawing/2014/main" id="{50F1ED8B-E856-A667-A1E1-60AF38C41116}"/>
              </a:ext>
            </a:extLst>
          </p:cNvPr>
          <p:cNvSpPr txBox="1"/>
          <p:nvPr/>
        </p:nvSpPr>
        <p:spPr>
          <a:xfrm>
            <a:off x="84328" y="6473090"/>
            <a:ext cx="1104791" cy="369332"/>
          </a:xfrm>
          <a:prstGeom prst="rect">
            <a:avLst/>
          </a:prstGeom>
          <a:noFill/>
        </p:spPr>
        <p:txBody>
          <a:bodyPr wrap="none" rtlCol="0">
            <a:spAutoFit/>
          </a:bodyPr>
          <a:lstStyle/>
          <a:p>
            <a:pPr algn="ctr"/>
            <a:r>
              <a:rPr lang="it-IT" dirty="0">
                <a:solidFill>
                  <a:schemeClr val="bg1"/>
                </a:solidFill>
                <a:latin typeface="Aptos" panose="020B0004020202020204" pitchFamily="34" charset="0"/>
              </a:rPr>
              <a:t>Group 9 -</a:t>
            </a:r>
          </a:p>
        </p:txBody>
      </p:sp>
    </p:spTree>
    <p:extLst>
      <p:ext uri="{BB962C8B-B14F-4D97-AF65-F5344CB8AC3E}">
        <p14:creationId xmlns:p14="http://schemas.microsoft.com/office/powerpoint/2010/main" val="60277673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E694049-FC97-DABA-54F0-885315F74405}"/>
            </a:ext>
          </a:extLst>
        </p:cNvPr>
        <p:cNvGrpSpPr/>
        <p:nvPr/>
      </p:nvGrpSpPr>
      <p:grpSpPr>
        <a:xfrm>
          <a:off x="0" y="0"/>
          <a:ext cx="0" cy="0"/>
          <a:chOff x="0" y="0"/>
          <a:chExt cx="0" cy="0"/>
        </a:xfrm>
      </p:grpSpPr>
      <p:sp>
        <p:nvSpPr>
          <p:cNvPr id="19" name="CasellaDiTesto 18">
            <a:extLst>
              <a:ext uri="{FF2B5EF4-FFF2-40B4-BE49-F238E27FC236}">
                <a16:creationId xmlns:a16="http://schemas.microsoft.com/office/drawing/2014/main" id="{D6C7A8D5-ADFA-BB4D-37D0-27AD6EC6CD1B}"/>
              </a:ext>
            </a:extLst>
          </p:cNvPr>
          <p:cNvSpPr txBox="1"/>
          <p:nvPr/>
        </p:nvSpPr>
        <p:spPr>
          <a:xfrm>
            <a:off x="723900" y="365720"/>
            <a:ext cx="5153975" cy="1015663"/>
          </a:xfrm>
          <a:prstGeom prst="rect">
            <a:avLst/>
          </a:prstGeom>
          <a:noFill/>
        </p:spPr>
        <p:txBody>
          <a:bodyPr wrap="none" rtlCol="0">
            <a:spAutoFit/>
          </a:bodyPr>
          <a:lstStyle/>
          <a:p>
            <a:r>
              <a:rPr lang="it-IT" sz="6000" b="1" err="1">
                <a:latin typeface="Aptos" panose="020B0004020202020204" pitchFamily="34" charset="0"/>
              </a:rPr>
              <a:t>Explainable</a:t>
            </a:r>
            <a:r>
              <a:rPr lang="it-IT" sz="6000" b="1">
                <a:latin typeface="Aptos" panose="020B0004020202020204" pitchFamily="34" charset="0"/>
              </a:rPr>
              <a:t> AI</a:t>
            </a:r>
          </a:p>
        </p:txBody>
      </p:sp>
      <p:grpSp>
        <p:nvGrpSpPr>
          <p:cNvPr id="6" name="object 9">
            <a:extLst>
              <a:ext uri="{FF2B5EF4-FFF2-40B4-BE49-F238E27FC236}">
                <a16:creationId xmlns:a16="http://schemas.microsoft.com/office/drawing/2014/main" id="{703406EB-E775-0EDB-AA57-4A47CED74DA7}"/>
              </a:ext>
            </a:extLst>
          </p:cNvPr>
          <p:cNvGrpSpPr/>
          <p:nvPr/>
        </p:nvGrpSpPr>
        <p:grpSpPr>
          <a:xfrm>
            <a:off x="-7209" y="6455826"/>
            <a:ext cx="12211050" cy="403860"/>
            <a:chOff x="-7209" y="6455826"/>
            <a:chExt cx="12211050" cy="403860"/>
          </a:xfrm>
          <a:solidFill>
            <a:srgbClr val="009999"/>
          </a:solidFill>
        </p:grpSpPr>
        <p:sp>
          <p:nvSpPr>
            <p:cNvPr id="7" name="object 10">
              <a:extLst>
                <a:ext uri="{FF2B5EF4-FFF2-40B4-BE49-F238E27FC236}">
                  <a16:creationId xmlns:a16="http://schemas.microsoft.com/office/drawing/2014/main" id="{328D2115-2A3D-EA4A-1A6B-A0BF302F3AC8}"/>
                </a:ext>
              </a:extLst>
            </p:cNvPr>
            <p:cNvSpPr/>
            <p:nvPr/>
          </p:nvSpPr>
          <p:spPr>
            <a:xfrm>
              <a:off x="2315" y="6465351"/>
              <a:ext cx="12192000" cy="384810"/>
            </a:xfrm>
            <a:custGeom>
              <a:avLst/>
              <a:gdLst/>
              <a:ahLst/>
              <a:cxnLst/>
              <a:rect l="l" t="t" r="r" b="b"/>
              <a:pathLst>
                <a:path w="12192000" h="384809">
                  <a:moveTo>
                    <a:pt x="12191619" y="0"/>
                  </a:moveTo>
                  <a:lnTo>
                    <a:pt x="0" y="0"/>
                  </a:lnTo>
                  <a:lnTo>
                    <a:pt x="0" y="384657"/>
                  </a:lnTo>
                  <a:lnTo>
                    <a:pt x="12191619" y="384657"/>
                  </a:lnTo>
                  <a:lnTo>
                    <a:pt x="12191619" y="0"/>
                  </a:lnTo>
                  <a:close/>
                </a:path>
              </a:pathLst>
            </a:custGeom>
            <a:grpFill/>
          </p:spPr>
          <p:txBody>
            <a:bodyPr wrap="square" lIns="0" tIns="0" rIns="0" bIns="0" rtlCol="0"/>
            <a:lstStyle/>
            <a:p>
              <a:endParaRPr/>
            </a:p>
          </p:txBody>
        </p:sp>
        <p:sp>
          <p:nvSpPr>
            <p:cNvPr id="8" name="object 11">
              <a:extLst>
                <a:ext uri="{FF2B5EF4-FFF2-40B4-BE49-F238E27FC236}">
                  <a16:creationId xmlns:a16="http://schemas.microsoft.com/office/drawing/2014/main" id="{4A6EDF80-63ED-09AD-08F6-F5DA1E006DCA}"/>
                </a:ext>
              </a:extLst>
            </p:cNvPr>
            <p:cNvSpPr/>
            <p:nvPr/>
          </p:nvSpPr>
          <p:spPr>
            <a:xfrm>
              <a:off x="2315" y="6465351"/>
              <a:ext cx="12192000" cy="384810"/>
            </a:xfrm>
            <a:custGeom>
              <a:avLst/>
              <a:gdLst/>
              <a:ahLst/>
              <a:cxnLst/>
              <a:rect l="l" t="t" r="r" b="b"/>
              <a:pathLst>
                <a:path w="12192000" h="384809">
                  <a:moveTo>
                    <a:pt x="0" y="384657"/>
                  </a:moveTo>
                  <a:lnTo>
                    <a:pt x="12191619" y="384657"/>
                  </a:lnTo>
                  <a:lnTo>
                    <a:pt x="12191619" y="0"/>
                  </a:lnTo>
                  <a:lnTo>
                    <a:pt x="0" y="0"/>
                  </a:lnTo>
                  <a:lnTo>
                    <a:pt x="0" y="384657"/>
                  </a:lnTo>
                  <a:close/>
                </a:path>
              </a:pathLst>
            </a:custGeom>
            <a:grpFill/>
            <a:ln w="19050">
              <a:solidFill>
                <a:srgbClr val="009999"/>
              </a:solidFill>
            </a:ln>
          </p:spPr>
          <p:txBody>
            <a:bodyPr wrap="square" lIns="0" tIns="0" rIns="0" bIns="0" rtlCol="0"/>
            <a:lstStyle/>
            <a:p>
              <a:endParaRPr/>
            </a:p>
          </p:txBody>
        </p:sp>
      </p:grpSp>
      <p:sp>
        <p:nvSpPr>
          <p:cNvPr id="17" name="CasellaDiTesto 16">
            <a:extLst>
              <a:ext uri="{FF2B5EF4-FFF2-40B4-BE49-F238E27FC236}">
                <a16:creationId xmlns:a16="http://schemas.microsoft.com/office/drawing/2014/main" id="{1E31040C-F4ED-9370-0289-CE0E7214BEC5}"/>
              </a:ext>
            </a:extLst>
          </p:cNvPr>
          <p:cNvSpPr txBox="1"/>
          <p:nvPr/>
        </p:nvSpPr>
        <p:spPr>
          <a:xfrm>
            <a:off x="11637140" y="6480829"/>
            <a:ext cx="431528" cy="369332"/>
          </a:xfrm>
          <a:prstGeom prst="rect">
            <a:avLst/>
          </a:prstGeom>
          <a:noFill/>
        </p:spPr>
        <p:txBody>
          <a:bodyPr wrap="none" rtlCol="0">
            <a:spAutoFit/>
          </a:bodyPr>
          <a:lstStyle/>
          <a:p>
            <a:pPr algn="ctr"/>
            <a:r>
              <a:rPr lang="it-IT" dirty="0">
                <a:solidFill>
                  <a:schemeClr val="bg1"/>
                </a:solidFill>
                <a:latin typeface="Aptos" panose="020B0004020202020204" pitchFamily="34" charset="0"/>
              </a:rPr>
              <a:t>14</a:t>
            </a:r>
          </a:p>
        </p:txBody>
      </p:sp>
      <p:sp>
        <p:nvSpPr>
          <p:cNvPr id="18" name="CasellaDiTesto 17">
            <a:extLst>
              <a:ext uri="{FF2B5EF4-FFF2-40B4-BE49-F238E27FC236}">
                <a16:creationId xmlns:a16="http://schemas.microsoft.com/office/drawing/2014/main" id="{BC7C7CF9-71C8-0E65-60CC-FDD1BEAE5051}"/>
              </a:ext>
            </a:extLst>
          </p:cNvPr>
          <p:cNvSpPr txBox="1"/>
          <p:nvPr/>
        </p:nvSpPr>
        <p:spPr>
          <a:xfrm>
            <a:off x="533400" y="1687245"/>
            <a:ext cx="10911484" cy="1815882"/>
          </a:xfrm>
          <a:prstGeom prst="rect">
            <a:avLst/>
          </a:prstGeom>
          <a:noFill/>
        </p:spPr>
        <p:txBody>
          <a:bodyPr wrap="square" rtlCol="0">
            <a:spAutoFit/>
          </a:bodyPr>
          <a:lstStyle/>
          <a:p>
            <a:pPr marL="457200" indent="-457200" algn="just">
              <a:buFont typeface="Arial" panose="020B0604020202020204" pitchFamily="34" charset="0"/>
              <a:buChar char="•"/>
            </a:pPr>
            <a:r>
              <a:rPr lang="it-IT" sz="2800" b="1" err="1">
                <a:latin typeface="Aptos" panose="020B0004020202020204" pitchFamily="34" charset="0"/>
              </a:rPr>
              <a:t>Textual</a:t>
            </a:r>
            <a:r>
              <a:rPr lang="it-IT" sz="2800" b="1">
                <a:latin typeface="Aptos" panose="020B0004020202020204" pitchFamily="34" charset="0"/>
              </a:rPr>
              <a:t>/</a:t>
            </a:r>
            <a:r>
              <a:rPr lang="it-IT" sz="2800" b="1" err="1">
                <a:latin typeface="Aptos" panose="020B0004020202020204" pitchFamily="34" charset="0"/>
              </a:rPr>
              <a:t>Signal</a:t>
            </a:r>
            <a:r>
              <a:rPr lang="it-IT" sz="2800" b="1">
                <a:latin typeface="Aptos" panose="020B0004020202020204" pitchFamily="34" charset="0"/>
              </a:rPr>
              <a:t> Analysis: </a:t>
            </a:r>
            <a:r>
              <a:rPr lang="it-IT" sz="2800">
                <a:latin typeface="Aptos" panose="020B0004020202020204" pitchFamily="34" charset="0"/>
              </a:rPr>
              <a:t>Gemini 2.5 Flash-Lite API</a:t>
            </a:r>
          </a:p>
          <a:p>
            <a:pPr marL="457200" indent="-457200" algn="just">
              <a:buFont typeface="Arial" panose="020B0604020202020204" pitchFamily="34" charset="0"/>
              <a:buChar char="•"/>
            </a:pPr>
            <a:endParaRPr lang="it-IT" sz="1400">
              <a:latin typeface="Aptos" panose="020B0004020202020204" pitchFamily="34" charset="0"/>
            </a:endParaRPr>
          </a:p>
          <a:p>
            <a:pPr marL="457200" indent="-457200" algn="just">
              <a:buFont typeface="Arial" panose="020B0604020202020204" pitchFamily="34" charset="0"/>
              <a:buChar char="•"/>
            </a:pPr>
            <a:r>
              <a:rPr lang="it-IT" sz="2800" b="1">
                <a:latin typeface="Aptos" panose="020B0004020202020204" pitchFamily="34" charset="0"/>
              </a:rPr>
              <a:t>Imaging Data (CNN): </a:t>
            </a:r>
            <a:r>
              <a:rPr lang="it-IT" sz="2800">
                <a:latin typeface="Aptos" panose="020B0004020202020204" pitchFamily="34" charset="0"/>
              </a:rPr>
              <a:t>Grad-CAM</a:t>
            </a:r>
          </a:p>
          <a:p>
            <a:pPr marL="457200" indent="-457200" algn="just">
              <a:buFont typeface="Arial" panose="020B0604020202020204" pitchFamily="34" charset="0"/>
              <a:buChar char="•"/>
            </a:pPr>
            <a:endParaRPr lang="it-IT" sz="1400">
              <a:latin typeface="Aptos" panose="020B0004020202020204" pitchFamily="34" charset="0"/>
            </a:endParaRPr>
          </a:p>
          <a:p>
            <a:pPr marL="457200" indent="-457200" algn="just">
              <a:buFont typeface="Arial" panose="020B0604020202020204" pitchFamily="34" charset="0"/>
              <a:buChar char="•"/>
            </a:pPr>
            <a:r>
              <a:rPr lang="it-IT" sz="2800" b="1" err="1">
                <a:latin typeface="Aptos" panose="020B0004020202020204" pitchFamily="34" charset="0"/>
              </a:rPr>
              <a:t>Structured</a:t>
            </a:r>
            <a:r>
              <a:rPr lang="it-IT" sz="2800" b="1">
                <a:latin typeface="Aptos" panose="020B0004020202020204" pitchFamily="34" charset="0"/>
              </a:rPr>
              <a:t> </a:t>
            </a:r>
            <a:r>
              <a:rPr lang="it-IT" sz="2800" b="1" err="1">
                <a:latin typeface="Aptos" panose="020B0004020202020204" pitchFamily="34" charset="0"/>
              </a:rPr>
              <a:t>Numeric</a:t>
            </a:r>
            <a:r>
              <a:rPr lang="it-IT" sz="2800" b="1">
                <a:latin typeface="Aptos" panose="020B0004020202020204" pitchFamily="34" charset="0"/>
              </a:rPr>
              <a:t> Data: </a:t>
            </a:r>
            <a:r>
              <a:rPr lang="it-IT" sz="2800">
                <a:latin typeface="Aptos" panose="020B0004020202020204" pitchFamily="34" charset="0"/>
              </a:rPr>
              <a:t>SHAP</a:t>
            </a:r>
          </a:p>
        </p:txBody>
      </p:sp>
      <p:pic>
        <p:nvPicPr>
          <p:cNvPr id="2050" name="Picture 2">
            <a:extLst>
              <a:ext uri="{FF2B5EF4-FFF2-40B4-BE49-F238E27FC236}">
                <a16:creationId xmlns:a16="http://schemas.microsoft.com/office/drawing/2014/main" id="{101A1B10-0EF5-D7ED-5040-6E82E36700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6600" y="2760804"/>
            <a:ext cx="3810676" cy="348489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XGBoost Feature Importance with SHAP Values | XGBoosting">
            <a:extLst>
              <a:ext uri="{FF2B5EF4-FFF2-40B4-BE49-F238E27FC236}">
                <a16:creationId xmlns:a16="http://schemas.microsoft.com/office/drawing/2014/main" id="{CA5E9978-4BF0-3BEC-EFFF-728D391A6BB9}"/>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656730" y="3722776"/>
            <a:ext cx="3753470" cy="2580511"/>
          </a:xfrm>
          <a:prstGeom prst="rect">
            <a:avLst/>
          </a:prstGeom>
          <a:noFill/>
          <a:extLst>
            <a:ext uri="{909E8E84-426E-40DD-AFC4-6F175D3DCCD1}">
              <a14:hiddenFill xmlns:a14="http://schemas.microsoft.com/office/drawing/2010/main">
                <a:solidFill>
                  <a:srgbClr val="FFFFFF"/>
                </a:solidFill>
              </a14:hiddenFill>
            </a:ext>
          </a:extLst>
        </p:spPr>
      </p:pic>
      <p:sp>
        <p:nvSpPr>
          <p:cNvPr id="2" name="CasellaDiTesto 1">
            <a:extLst>
              <a:ext uri="{FF2B5EF4-FFF2-40B4-BE49-F238E27FC236}">
                <a16:creationId xmlns:a16="http://schemas.microsoft.com/office/drawing/2014/main" id="{04505FA1-D489-86AF-E742-B47874E9B7FC}"/>
              </a:ext>
            </a:extLst>
          </p:cNvPr>
          <p:cNvSpPr txBox="1"/>
          <p:nvPr/>
        </p:nvSpPr>
        <p:spPr>
          <a:xfrm>
            <a:off x="1037287" y="6473090"/>
            <a:ext cx="2084225" cy="369332"/>
          </a:xfrm>
          <a:prstGeom prst="rect">
            <a:avLst/>
          </a:prstGeom>
          <a:noFill/>
        </p:spPr>
        <p:txBody>
          <a:bodyPr wrap="none" rtlCol="0">
            <a:spAutoFit/>
          </a:bodyPr>
          <a:lstStyle/>
          <a:p>
            <a:pPr algn="ctr"/>
            <a:r>
              <a:rPr lang="it-IT" dirty="0" err="1">
                <a:solidFill>
                  <a:schemeClr val="bg1"/>
                </a:solidFill>
                <a:latin typeface="Aptos" panose="020B0004020202020204" pitchFamily="34" charset="0"/>
              </a:rPr>
              <a:t>EarlyCare</a:t>
            </a:r>
            <a:r>
              <a:rPr lang="it-IT" dirty="0">
                <a:solidFill>
                  <a:schemeClr val="bg1"/>
                </a:solidFill>
                <a:latin typeface="Aptos" panose="020B0004020202020204" pitchFamily="34" charset="0"/>
              </a:rPr>
              <a:t> Gateway</a:t>
            </a:r>
          </a:p>
        </p:txBody>
      </p:sp>
      <p:sp>
        <p:nvSpPr>
          <p:cNvPr id="3" name="CasellaDiTesto 2">
            <a:extLst>
              <a:ext uri="{FF2B5EF4-FFF2-40B4-BE49-F238E27FC236}">
                <a16:creationId xmlns:a16="http://schemas.microsoft.com/office/drawing/2014/main" id="{024CC868-1251-0B09-0E9B-C383F170CDE6}"/>
              </a:ext>
            </a:extLst>
          </p:cNvPr>
          <p:cNvSpPr txBox="1"/>
          <p:nvPr/>
        </p:nvSpPr>
        <p:spPr>
          <a:xfrm>
            <a:off x="84328" y="6473090"/>
            <a:ext cx="1104791" cy="369332"/>
          </a:xfrm>
          <a:prstGeom prst="rect">
            <a:avLst/>
          </a:prstGeom>
          <a:noFill/>
        </p:spPr>
        <p:txBody>
          <a:bodyPr wrap="none" rtlCol="0">
            <a:spAutoFit/>
          </a:bodyPr>
          <a:lstStyle/>
          <a:p>
            <a:pPr algn="ctr"/>
            <a:r>
              <a:rPr lang="it-IT" dirty="0">
                <a:solidFill>
                  <a:schemeClr val="bg1"/>
                </a:solidFill>
                <a:latin typeface="Aptos" panose="020B0004020202020204" pitchFamily="34" charset="0"/>
              </a:rPr>
              <a:t>Group 9 -</a:t>
            </a:r>
          </a:p>
        </p:txBody>
      </p:sp>
    </p:spTree>
    <p:extLst>
      <p:ext uri="{BB962C8B-B14F-4D97-AF65-F5344CB8AC3E}">
        <p14:creationId xmlns:p14="http://schemas.microsoft.com/office/powerpoint/2010/main" val="18417900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80509AB-2653-982C-26AA-FC540E554DCF}"/>
            </a:ext>
          </a:extLst>
        </p:cNvPr>
        <p:cNvGrpSpPr/>
        <p:nvPr/>
      </p:nvGrpSpPr>
      <p:grpSpPr>
        <a:xfrm>
          <a:off x="0" y="0"/>
          <a:ext cx="0" cy="0"/>
          <a:chOff x="0" y="0"/>
          <a:chExt cx="0" cy="0"/>
        </a:xfrm>
      </p:grpSpPr>
      <p:sp>
        <p:nvSpPr>
          <p:cNvPr id="19" name="CasellaDiTesto 18">
            <a:extLst>
              <a:ext uri="{FF2B5EF4-FFF2-40B4-BE49-F238E27FC236}">
                <a16:creationId xmlns:a16="http://schemas.microsoft.com/office/drawing/2014/main" id="{4C13A5AB-5C41-6837-93BE-B9614CECC5AF}"/>
              </a:ext>
            </a:extLst>
          </p:cNvPr>
          <p:cNvSpPr txBox="1"/>
          <p:nvPr/>
        </p:nvSpPr>
        <p:spPr>
          <a:xfrm>
            <a:off x="723900" y="365720"/>
            <a:ext cx="2844048" cy="1015663"/>
          </a:xfrm>
          <a:prstGeom prst="rect">
            <a:avLst/>
          </a:prstGeom>
          <a:noFill/>
        </p:spPr>
        <p:txBody>
          <a:bodyPr wrap="none" rtlCol="0">
            <a:spAutoFit/>
          </a:bodyPr>
          <a:lstStyle/>
          <a:p>
            <a:r>
              <a:rPr lang="it-IT" sz="6000" b="1" err="1">
                <a:latin typeface="Aptos" panose="020B0004020202020204" pitchFamily="34" charset="0"/>
              </a:rPr>
              <a:t>Results</a:t>
            </a:r>
            <a:endParaRPr lang="it-IT" sz="6000" b="1">
              <a:latin typeface="Aptos" panose="020B0004020202020204" pitchFamily="34" charset="0"/>
            </a:endParaRPr>
          </a:p>
        </p:txBody>
      </p:sp>
      <p:grpSp>
        <p:nvGrpSpPr>
          <p:cNvPr id="6" name="object 9">
            <a:extLst>
              <a:ext uri="{FF2B5EF4-FFF2-40B4-BE49-F238E27FC236}">
                <a16:creationId xmlns:a16="http://schemas.microsoft.com/office/drawing/2014/main" id="{EAB80A06-53CD-72FA-6A2D-6D3412DFF37F}"/>
              </a:ext>
            </a:extLst>
          </p:cNvPr>
          <p:cNvGrpSpPr/>
          <p:nvPr/>
        </p:nvGrpSpPr>
        <p:grpSpPr>
          <a:xfrm>
            <a:off x="-7209" y="6455826"/>
            <a:ext cx="12211050" cy="403860"/>
            <a:chOff x="-7209" y="6455826"/>
            <a:chExt cx="12211050" cy="403860"/>
          </a:xfrm>
          <a:solidFill>
            <a:srgbClr val="009999"/>
          </a:solidFill>
        </p:grpSpPr>
        <p:sp>
          <p:nvSpPr>
            <p:cNvPr id="7" name="object 10">
              <a:extLst>
                <a:ext uri="{FF2B5EF4-FFF2-40B4-BE49-F238E27FC236}">
                  <a16:creationId xmlns:a16="http://schemas.microsoft.com/office/drawing/2014/main" id="{68852BF1-AECC-8EE1-9C0B-CE5ED3F14B5B}"/>
                </a:ext>
              </a:extLst>
            </p:cNvPr>
            <p:cNvSpPr/>
            <p:nvPr/>
          </p:nvSpPr>
          <p:spPr>
            <a:xfrm>
              <a:off x="2315" y="6465351"/>
              <a:ext cx="12192000" cy="384810"/>
            </a:xfrm>
            <a:custGeom>
              <a:avLst/>
              <a:gdLst/>
              <a:ahLst/>
              <a:cxnLst/>
              <a:rect l="l" t="t" r="r" b="b"/>
              <a:pathLst>
                <a:path w="12192000" h="384809">
                  <a:moveTo>
                    <a:pt x="12191619" y="0"/>
                  </a:moveTo>
                  <a:lnTo>
                    <a:pt x="0" y="0"/>
                  </a:lnTo>
                  <a:lnTo>
                    <a:pt x="0" y="384657"/>
                  </a:lnTo>
                  <a:lnTo>
                    <a:pt x="12191619" y="384657"/>
                  </a:lnTo>
                  <a:lnTo>
                    <a:pt x="12191619" y="0"/>
                  </a:lnTo>
                  <a:close/>
                </a:path>
              </a:pathLst>
            </a:custGeom>
            <a:grpFill/>
          </p:spPr>
          <p:txBody>
            <a:bodyPr wrap="square" lIns="0" tIns="0" rIns="0" bIns="0" rtlCol="0"/>
            <a:lstStyle/>
            <a:p>
              <a:endParaRPr/>
            </a:p>
          </p:txBody>
        </p:sp>
        <p:sp>
          <p:nvSpPr>
            <p:cNvPr id="8" name="object 11">
              <a:extLst>
                <a:ext uri="{FF2B5EF4-FFF2-40B4-BE49-F238E27FC236}">
                  <a16:creationId xmlns:a16="http://schemas.microsoft.com/office/drawing/2014/main" id="{E7B661F0-3697-56B5-D14D-BD5B9C8CE0D9}"/>
                </a:ext>
              </a:extLst>
            </p:cNvPr>
            <p:cNvSpPr/>
            <p:nvPr/>
          </p:nvSpPr>
          <p:spPr>
            <a:xfrm>
              <a:off x="2315" y="6465351"/>
              <a:ext cx="12192000" cy="384810"/>
            </a:xfrm>
            <a:custGeom>
              <a:avLst/>
              <a:gdLst/>
              <a:ahLst/>
              <a:cxnLst/>
              <a:rect l="l" t="t" r="r" b="b"/>
              <a:pathLst>
                <a:path w="12192000" h="384809">
                  <a:moveTo>
                    <a:pt x="0" y="384657"/>
                  </a:moveTo>
                  <a:lnTo>
                    <a:pt x="12191619" y="384657"/>
                  </a:lnTo>
                  <a:lnTo>
                    <a:pt x="12191619" y="0"/>
                  </a:lnTo>
                  <a:lnTo>
                    <a:pt x="0" y="0"/>
                  </a:lnTo>
                  <a:lnTo>
                    <a:pt x="0" y="384657"/>
                  </a:lnTo>
                  <a:close/>
                </a:path>
              </a:pathLst>
            </a:custGeom>
            <a:grpFill/>
            <a:ln w="19050">
              <a:solidFill>
                <a:srgbClr val="009999"/>
              </a:solidFill>
            </a:ln>
          </p:spPr>
          <p:txBody>
            <a:bodyPr wrap="square" lIns="0" tIns="0" rIns="0" bIns="0" rtlCol="0"/>
            <a:lstStyle/>
            <a:p>
              <a:endParaRPr/>
            </a:p>
          </p:txBody>
        </p:sp>
      </p:grpSp>
      <p:sp>
        <p:nvSpPr>
          <p:cNvPr id="17" name="CasellaDiTesto 16">
            <a:extLst>
              <a:ext uri="{FF2B5EF4-FFF2-40B4-BE49-F238E27FC236}">
                <a16:creationId xmlns:a16="http://schemas.microsoft.com/office/drawing/2014/main" id="{7B143550-72B6-FA12-22FA-7F933524B3A3}"/>
              </a:ext>
            </a:extLst>
          </p:cNvPr>
          <p:cNvSpPr txBox="1"/>
          <p:nvPr/>
        </p:nvSpPr>
        <p:spPr>
          <a:xfrm>
            <a:off x="11637140" y="6480829"/>
            <a:ext cx="431528" cy="369332"/>
          </a:xfrm>
          <a:prstGeom prst="rect">
            <a:avLst/>
          </a:prstGeom>
          <a:noFill/>
        </p:spPr>
        <p:txBody>
          <a:bodyPr wrap="none" rtlCol="0">
            <a:spAutoFit/>
          </a:bodyPr>
          <a:lstStyle/>
          <a:p>
            <a:pPr algn="ctr"/>
            <a:r>
              <a:rPr lang="it-IT" dirty="0">
                <a:solidFill>
                  <a:schemeClr val="bg1"/>
                </a:solidFill>
                <a:latin typeface="Aptos" panose="020B0004020202020204" pitchFamily="34" charset="0"/>
              </a:rPr>
              <a:t>15</a:t>
            </a:r>
          </a:p>
        </p:txBody>
      </p:sp>
      <p:sp>
        <p:nvSpPr>
          <p:cNvPr id="2" name="CasellaDiTesto 1">
            <a:extLst>
              <a:ext uri="{FF2B5EF4-FFF2-40B4-BE49-F238E27FC236}">
                <a16:creationId xmlns:a16="http://schemas.microsoft.com/office/drawing/2014/main" id="{363CD07F-AEF8-A6F8-7EEB-3F8FFF92E2D9}"/>
              </a:ext>
            </a:extLst>
          </p:cNvPr>
          <p:cNvSpPr txBox="1"/>
          <p:nvPr/>
        </p:nvSpPr>
        <p:spPr>
          <a:xfrm>
            <a:off x="725656" y="1634412"/>
            <a:ext cx="10911484" cy="2031325"/>
          </a:xfrm>
          <a:prstGeom prst="rect">
            <a:avLst/>
          </a:prstGeom>
          <a:noFill/>
        </p:spPr>
        <p:txBody>
          <a:bodyPr wrap="square" rtlCol="0">
            <a:spAutoFit/>
          </a:bodyPr>
          <a:lstStyle/>
          <a:p>
            <a:pPr marL="457200" indent="-457200" algn="just">
              <a:buFont typeface="Arial" panose="020B0604020202020204" pitchFamily="34" charset="0"/>
              <a:buChar char="•"/>
            </a:pPr>
            <a:r>
              <a:rPr lang="it-IT" sz="2800" b="1" dirty="0" err="1">
                <a:latin typeface="Aptos" panose="020B0004020202020204" pitchFamily="34" charset="0"/>
              </a:rPr>
              <a:t>Microservices</a:t>
            </a:r>
            <a:r>
              <a:rPr lang="it-IT" sz="2800" b="1" dirty="0">
                <a:latin typeface="Aptos" panose="020B0004020202020204" pitchFamily="34" charset="0"/>
              </a:rPr>
              <a:t> Integration Test: </a:t>
            </a:r>
            <a:r>
              <a:rPr lang="it-IT" sz="2800" dirty="0" err="1">
                <a:latin typeface="Aptos" panose="020B0004020202020204" pitchFamily="34" charset="0"/>
              </a:rPr>
              <a:t>Fully</a:t>
            </a:r>
            <a:r>
              <a:rPr lang="it-IT" sz="2800" dirty="0">
                <a:latin typeface="Aptos" panose="020B0004020202020204" pitchFamily="34" charset="0"/>
              </a:rPr>
              <a:t> </a:t>
            </a:r>
            <a:r>
              <a:rPr lang="it-IT" sz="2800" dirty="0" err="1">
                <a:latin typeface="Aptos" panose="020B0004020202020204" pitchFamily="34" charset="0"/>
              </a:rPr>
              <a:t>automated</a:t>
            </a:r>
            <a:r>
              <a:rPr lang="it-IT" sz="2800" dirty="0">
                <a:latin typeface="Aptos" panose="020B0004020202020204" pitchFamily="34" charset="0"/>
              </a:rPr>
              <a:t> testing pipeline </a:t>
            </a:r>
            <a:r>
              <a:rPr lang="it-IT" sz="2800" dirty="0" err="1">
                <a:latin typeface="Aptos" panose="020B0004020202020204" pitchFamily="34" charset="0"/>
              </a:rPr>
              <a:t>using</a:t>
            </a:r>
            <a:r>
              <a:rPr lang="it-IT" sz="2800" dirty="0">
                <a:latin typeface="Aptos" panose="020B0004020202020204" pitchFamily="34" charset="0"/>
              </a:rPr>
              <a:t> </a:t>
            </a:r>
            <a:r>
              <a:rPr lang="it-IT" sz="2800" dirty="0" err="1">
                <a:latin typeface="Aptos" panose="020B0004020202020204" pitchFamily="34" charset="0"/>
              </a:rPr>
              <a:t>pytest</a:t>
            </a:r>
            <a:r>
              <a:rPr lang="it-IT" sz="2800" dirty="0">
                <a:latin typeface="Aptos" panose="020B0004020202020204" pitchFamily="34" charset="0"/>
              </a:rPr>
              <a:t>.</a:t>
            </a:r>
          </a:p>
          <a:p>
            <a:pPr algn="just"/>
            <a:endParaRPr lang="it-IT" sz="2800" dirty="0">
              <a:latin typeface="Aptos" panose="020B0004020202020204" pitchFamily="34" charset="0"/>
            </a:endParaRPr>
          </a:p>
          <a:p>
            <a:pPr marL="457200" indent="-457200" algn="just">
              <a:buFont typeface="Arial" panose="020B0604020202020204" pitchFamily="34" charset="0"/>
              <a:buChar char="•"/>
            </a:pPr>
            <a:r>
              <a:rPr lang="it-IT" sz="2800" b="1" dirty="0">
                <a:latin typeface="Aptos" panose="020B0004020202020204" pitchFamily="34" charset="0"/>
              </a:rPr>
              <a:t>AI Models </a:t>
            </a:r>
            <a:r>
              <a:rPr lang="it-IT" sz="2800" b="1" dirty="0" err="1">
                <a:latin typeface="Aptos" panose="020B0004020202020204" pitchFamily="34" charset="0"/>
              </a:rPr>
              <a:t>Metrics</a:t>
            </a:r>
            <a:endParaRPr lang="it-IT" sz="2800" b="1" dirty="0">
              <a:latin typeface="Aptos" panose="020B0004020202020204" pitchFamily="34" charset="0"/>
            </a:endParaRPr>
          </a:p>
          <a:p>
            <a:pPr algn="just"/>
            <a:endParaRPr lang="it-IT" sz="1400" dirty="0">
              <a:latin typeface="Aptos" panose="020B0004020202020204" pitchFamily="34" charset="0"/>
            </a:endParaRPr>
          </a:p>
        </p:txBody>
      </p:sp>
      <p:sp>
        <p:nvSpPr>
          <p:cNvPr id="5" name="CasellaDiTesto 4">
            <a:extLst>
              <a:ext uri="{FF2B5EF4-FFF2-40B4-BE49-F238E27FC236}">
                <a16:creationId xmlns:a16="http://schemas.microsoft.com/office/drawing/2014/main" id="{7E2D0561-C203-5210-8245-30AACF8283A2}"/>
              </a:ext>
            </a:extLst>
          </p:cNvPr>
          <p:cNvSpPr txBox="1"/>
          <p:nvPr/>
        </p:nvSpPr>
        <p:spPr>
          <a:xfrm>
            <a:off x="1118616" y="3505200"/>
            <a:ext cx="6107500" cy="2462213"/>
          </a:xfrm>
          <a:prstGeom prst="rect">
            <a:avLst/>
          </a:prstGeom>
          <a:noFill/>
        </p:spPr>
        <p:txBody>
          <a:bodyPr wrap="square">
            <a:spAutoFit/>
          </a:bodyPr>
          <a:lstStyle/>
          <a:p>
            <a:pPr marL="457200" marR="0" lvl="3" indent="-457200" algn="just"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it-IT" sz="2800" b="1" i="0" u="none" strike="noStrike" kern="0" cap="none" spc="0" normalizeH="0" baseline="0" noProof="0" dirty="0" err="1">
                <a:ln>
                  <a:noFill/>
                </a:ln>
                <a:solidFill>
                  <a:sysClr val="windowText" lastClr="000000"/>
                </a:solidFill>
                <a:effectLst/>
                <a:uLnTx/>
                <a:uFillTx/>
                <a:latin typeface="Aptos" panose="020B0004020202020204" pitchFamily="34" charset="0"/>
              </a:rPr>
              <a:t>ClinicalBERT</a:t>
            </a:r>
            <a:r>
              <a:rPr kumimoji="0" lang="it-IT" sz="2800" b="1" i="0" u="none" strike="noStrike" kern="0" cap="none" spc="0" normalizeH="0" baseline="0" noProof="0" dirty="0">
                <a:ln>
                  <a:noFill/>
                </a:ln>
                <a:solidFill>
                  <a:sysClr val="windowText" lastClr="000000"/>
                </a:solidFill>
                <a:effectLst/>
                <a:uLnTx/>
                <a:uFillTx/>
                <a:latin typeface="Aptos" panose="020B0004020202020204" pitchFamily="34" charset="0"/>
              </a:rPr>
              <a:t>: </a:t>
            </a:r>
            <a:r>
              <a:rPr kumimoji="0" lang="it-IT" sz="2800" b="0" i="0" u="none" strike="noStrike" kern="0" cap="none" spc="0" normalizeH="0" baseline="0" noProof="0" dirty="0" err="1">
                <a:ln>
                  <a:noFill/>
                </a:ln>
                <a:solidFill>
                  <a:sysClr val="windowText" lastClr="000000"/>
                </a:solidFill>
                <a:effectLst/>
                <a:uLnTx/>
                <a:uFillTx/>
                <a:latin typeface="Aptos" panose="020B0004020202020204" pitchFamily="34" charset="0"/>
              </a:rPr>
              <a:t>Accuracy</a:t>
            </a:r>
            <a:r>
              <a:rPr lang="it-IT" sz="2800" dirty="0">
                <a:latin typeface="Aptos" panose="020B0004020202020204" pitchFamily="34" charset="0"/>
              </a:rPr>
              <a:t> =</a:t>
            </a:r>
            <a:r>
              <a:rPr kumimoji="0" lang="it-IT" sz="2800" b="0" i="0" u="none" strike="noStrike" kern="0" cap="none" spc="0" normalizeH="0" baseline="0" noProof="0" dirty="0">
                <a:ln>
                  <a:noFill/>
                </a:ln>
                <a:solidFill>
                  <a:sysClr val="windowText" lastClr="000000"/>
                </a:solidFill>
                <a:effectLst/>
                <a:uLnTx/>
                <a:uFillTx/>
                <a:latin typeface="Aptos" panose="020B0004020202020204" pitchFamily="34" charset="0"/>
              </a:rPr>
              <a:t> 88%</a:t>
            </a:r>
          </a:p>
          <a:p>
            <a:pPr marL="457200" marR="0" lvl="3" indent="-457200" algn="just"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it-IT" sz="1400" b="0" i="0" u="none" strike="noStrike" kern="0" cap="none" spc="0" normalizeH="0" baseline="0" noProof="0" dirty="0">
              <a:ln>
                <a:noFill/>
              </a:ln>
              <a:solidFill>
                <a:sysClr val="windowText" lastClr="000000"/>
              </a:solidFill>
              <a:effectLst/>
              <a:uLnTx/>
              <a:uFillTx/>
              <a:latin typeface="Aptos" panose="020B0004020202020204" pitchFamily="34" charset="0"/>
            </a:endParaRPr>
          </a:p>
          <a:p>
            <a:pPr marL="457200" marR="0" lvl="3" indent="-457200" algn="just"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it-IT" sz="2800" b="1" i="0" u="none" strike="noStrike" kern="0" cap="none" spc="0" normalizeH="0" baseline="0" noProof="0" dirty="0" err="1">
                <a:ln>
                  <a:noFill/>
                </a:ln>
                <a:solidFill>
                  <a:sysClr val="windowText" lastClr="000000"/>
                </a:solidFill>
                <a:effectLst/>
                <a:uLnTx/>
                <a:uFillTx/>
                <a:latin typeface="Aptos" panose="020B0004020202020204" pitchFamily="34" charset="0"/>
              </a:rPr>
              <a:t>CheXNet</a:t>
            </a:r>
            <a:r>
              <a:rPr kumimoji="0" lang="it-IT" sz="2800" b="1" i="0" u="none" strike="noStrike" kern="0" cap="none" spc="0" normalizeH="0" baseline="0" noProof="0" dirty="0">
                <a:ln>
                  <a:noFill/>
                </a:ln>
                <a:solidFill>
                  <a:sysClr val="windowText" lastClr="000000"/>
                </a:solidFill>
                <a:effectLst/>
                <a:uLnTx/>
                <a:uFillTx/>
                <a:latin typeface="Aptos" panose="020B0004020202020204" pitchFamily="34" charset="0"/>
              </a:rPr>
              <a:t>:</a:t>
            </a:r>
            <a:r>
              <a:rPr kumimoji="0" lang="it-IT" sz="2800" b="0" i="0" u="none" strike="noStrike" kern="0" cap="none" spc="0" normalizeH="0" baseline="0" noProof="0" dirty="0">
                <a:ln>
                  <a:noFill/>
                </a:ln>
                <a:solidFill>
                  <a:sysClr val="windowText" lastClr="000000"/>
                </a:solidFill>
                <a:effectLst/>
                <a:uLnTx/>
                <a:uFillTx/>
                <a:latin typeface="Aptos" panose="020B0004020202020204" pitchFamily="34" charset="0"/>
              </a:rPr>
              <a:t> Mean AUC = 0.84</a:t>
            </a:r>
          </a:p>
          <a:p>
            <a:pPr marL="457200" marR="0" lvl="3" indent="-457200" algn="just"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it-IT" sz="1400" b="0" i="0" u="none" strike="noStrike" kern="0" cap="none" spc="0" normalizeH="0" baseline="0" noProof="0" dirty="0">
              <a:ln>
                <a:noFill/>
              </a:ln>
              <a:solidFill>
                <a:sysClr val="windowText" lastClr="000000"/>
              </a:solidFill>
              <a:effectLst/>
              <a:uLnTx/>
              <a:uFillTx/>
              <a:latin typeface="Aptos" panose="020B0004020202020204" pitchFamily="34" charset="0"/>
            </a:endParaRPr>
          </a:p>
          <a:p>
            <a:pPr marL="457200" marR="0" lvl="3" indent="-457200" algn="just"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it-IT" sz="2800" b="1" i="0" u="none" strike="noStrike" kern="0" cap="none" spc="0" normalizeH="0" baseline="0" noProof="0" dirty="0" err="1">
                <a:ln>
                  <a:noFill/>
                </a:ln>
                <a:solidFill>
                  <a:sysClr val="windowText" lastClr="000000"/>
                </a:solidFill>
                <a:effectLst/>
                <a:uLnTx/>
                <a:uFillTx/>
                <a:latin typeface="Aptos" panose="020B0004020202020204" pitchFamily="34" charset="0"/>
              </a:rPr>
              <a:t>EfficientNet</a:t>
            </a:r>
            <a:r>
              <a:rPr kumimoji="0" lang="it-IT" sz="2800" b="1" i="0" u="none" strike="noStrike" kern="0" cap="none" spc="0" normalizeH="0" baseline="0" noProof="0" dirty="0">
                <a:ln>
                  <a:noFill/>
                </a:ln>
                <a:solidFill>
                  <a:sysClr val="windowText" lastClr="000000"/>
                </a:solidFill>
                <a:effectLst/>
                <a:uLnTx/>
                <a:uFillTx/>
                <a:latin typeface="Aptos" panose="020B0004020202020204" pitchFamily="34" charset="0"/>
              </a:rPr>
              <a:t>: </a:t>
            </a:r>
            <a:r>
              <a:rPr kumimoji="0" lang="it-IT" sz="2800" b="0" i="0" u="none" strike="noStrike" kern="0" cap="none" spc="0" normalizeH="0" baseline="0" noProof="0" dirty="0" err="1">
                <a:ln>
                  <a:noFill/>
                </a:ln>
                <a:solidFill>
                  <a:sysClr val="windowText" lastClr="000000"/>
                </a:solidFill>
                <a:effectLst/>
                <a:uLnTx/>
                <a:uFillTx/>
                <a:latin typeface="Aptos" panose="020B0004020202020204" pitchFamily="34" charset="0"/>
              </a:rPr>
              <a:t>Accuracy</a:t>
            </a:r>
            <a:r>
              <a:rPr lang="it-IT" sz="2800" dirty="0">
                <a:latin typeface="Aptos" panose="020B0004020202020204" pitchFamily="34" charset="0"/>
              </a:rPr>
              <a:t> =</a:t>
            </a:r>
            <a:r>
              <a:rPr kumimoji="0" lang="it-IT" sz="2800" b="0" i="0" u="none" strike="noStrike" kern="0" cap="none" spc="0" normalizeH="0" baseline="0" noProof="0" dirty="0">
                <a:ln>
                  <a:noFill/>
                </a:ln>
                <a:solidFill>
                  <a:sysClr val="windowText" lastClr="000000"/>
                </a:solidFill>
                <a:effectLst/>
                <a:uLnTx/>
                <a:uFillTx/>
                <a:latin typeface="Aptos" panose="020B0004020202020204" pitchFamily="34" charset="0"/>
              </a:rPr>
              <a:t> 88%</a:t>
            </a:r>
          </a:p>
          <a:p>
            <a:pPr marL="457200" marR="0" lvl="3" indent="-457200" algn="just"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it-IT" sz="1400" b="0" i="0" u="none" strike="noStrike" kern="0" cap="none" spc="0" normalizeH="0" baseline="0" noProof="0" dirty="0">
              <a:ln>
                <a:noFill/>
              </a:ln>
              <a:solidFill>
                <a:sysClr val="windowText" lastClr="000000"/>
              </a:solidFill>
              <a:effectLst/>
              <a:uLnTx/>
              <a:uFillTx/>
              <a:latin typeface="Aptos" panose="020B0004020202020204" pitchFamily="34" charset="0"/>
            </a:endParaRPr>
          </a:p>
          <a:p>
            <a:pPr marL="457200" marR="0" lvl="3" indent="-457200" algn="just"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it-IT" sz="2800" b="1" i="0" u="none" strike="noStrike" kern="0" cap="none" spc="0" normalizeH="0" baseline="0" noProof="0" dirty="0" err="1">
                <a:ln>
                  <a:noFill/>
                </a:ln>
                <a:solidFill>
                  <a:sysClr val="windowText" lastClr="000000"/>
                </a:solidFill>
                <a:effectLst/>
                <a:uLnTx/>
                <a:uFillTx/>
                <a:latin typeface="Aptos" panose="020B0004020202020204" pitchFamily="34" charset="0"/>
              </a:rPr>
              <a:t>XGBoost</a:t>
            </a:r>
            <a:r>
              <a:rPr kumimoji="0" lang="it-IT" sz="2800" b="1" i="0" u="none" strike="noStrike" kern="0" cap="none" spc="0" normalizeH="0" baseline="0" noProof="0" dirty="0">
                <a:ln>
                  <a:noFill/>
                </a:ln>
                <a:solidFill>
                  <a:sysClr val="windowText" lastClr="000000"/>
                </a:solidFill>
                <a:effectLst/>
                <a:uLnTx/>
                <a:uFillTx/>
                <a:latin typeface="Aptos" panose="020B0004020202020204" pitchFamily="34" charset="0"/>
              </a:rPr>
              <a:t>: </a:t>
            </a:r>
            <a:r>
              <a:rPr kumimoji="0" lang="it-IT" sz="2800" i="0" u="none" strike="noStrike" kern="0" cap="none" spc="0" normalizeH="0" baseline="0" noProof="0" dirty="0" err="1">
                <a:ln>
                  <a:noFill/>
                </a:ln>
                <a:solidFill>
                  <a:sysClr val="windowText" lastClr="000000"/>
                </a:solidFill>
                <a:effectLst/>
                <a:uLnTx/>
                <a:uFillTx/>
                <a:latin typeface="Aptos" panose="020B0004020202020204" pitchFamily="34" charset="0"/>
              </a:rPr>
              <a:t>Accuracy</a:t>
            </a:r>
            <a:r>
              <a:rPr lang="it-IT" sz="2800" dirty="0">
                <a:latin typeface="Aptos" panose="020B0004020202020204" pitchFamily="34" charset="0"/>
              </a:rPr>
              <a:t> =</a:t>
            </a:r>
            <a:r>
              <a:rPr kumimoji="0" lang="it-IT" sz="2800" i="0" u="none" strike="noStrike" kern="0" cap="none" spc="0" normalizeH="0" baseline="0" noProof="0" dirty="0">
                <a:ln>
                  <a:noFill/>
                </a:ln>
                <a:solidFill>
                  <a:sysClr val="windowText" lastClr="000000"/>
                </a:solidFill>
                <a:effectLst/>
                <a:uLnTx/>
                <a:uFillTx/>
                <a:latin typeface="Aptos" panose="020B0004020202020204" pitchFamily="34" charset="0"/>
              </a:rPr>
              <a:t> 82.1%</a:t>
            </a:r>
          </a:p>
        </p:txBody>
      </p:sp>
      <p:pic>
        <p:nvPicPr>
          <p:cNvPr id="3078" name="Picture 6" descr="Market share - Free marketing icons">
            <a:extLst>
              <a:ext uri="{FF2B5EF4-FFF2-40B4-BE49-F238E27FC236}">
                <a16:creationId xmlns:a16="http://schemas.microsoft.com/office/drawing/2014/main" id="{ADCAB733-BE7B-CC35-E9C9-A1E66B65CC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0896" y="3148013"/>
            <a:ext cx="2819400" cy="2819400"/>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0F1E8CE7-7824-1DC4-1DF1-26B84386238D}"/>
              </a:ext>
            </a:extLst>
          </p:cNvPr>
          <p:cNvSpPr txBox="1"/>
          <p:nvPr/>
        </p:nvSpPr>
        <p:spPr>
          <a:xfrm>
            <a:off x="1037287" y="6473090"/>
            <a:ext cx="2084225" cy="369332"/>
          </a:xfrm>
          <a:prstGeom prst="rect">
            <a:avLst/>
          </a:prstGeom>
          <a:noFill/>
        </p:spPr>
        <p:txBody>
          <a:bodyPr wrap="none" rtlCol="0">
            <a:spAutoFit/>
          </a:bodyPr>
          <a:lstStyle/>
          <a:p>
            <a:pPr algn="ctr"/>
            <a:r>
              <a:rPr lang="it-IT" dirty="0" err="1">
                <a:solidFill>
                  <a:schemeClr val="bg1"/>
                </a:solidFill>
                <a:latin typeface="Aptos" panose="020B0004020202020204" pitchFamily="34" charset="0"/>
              </a:rPr>
              <a:t>EarlyCare</a:t>
            </a:r>
            <a:r>
              <a:rPr lang="it-IT" dirty="0">
                <a:solidFill>
                  <a:schemeClr val="bg1"/>
                </a:solidFill>
                <a:latin typeface="Aptos" panose="020B0004020202020204" pitchFamily="34" charset="0"/>
              </a:rPr>
              <a:t> Gateway</a:t>
            </a:r>
          </a:p>
        </p:txBody>
      </p:sp>
      <p:sp>
        <p:nvSpPr>
          <p:cNvPr id="4" name="CasellaDiTesto 3">
            <a:extLst>
              <a:ext uri="{FF2B5EF4-FFF2-40B4-BE49-F238E27FC236}">
                <a16:creationId xmlns:a16="http://schemas.microsoft.com/office/drawing/2014/main" id="{2A738C7E-85DD-E9A0-6787-401A4100E4A5}"/>
              </a:ext>
            </a:extLst>
          </p:cNvPr>
          <p:cNvSpPr txBox="1"/>
          <p:nvPr/>
        </p:nvSpPr>
        <p:spPr>
          <a:xfrm>
            <a:off x="84328" y="6473090"/>
            <a:ext cx="1104791" cy="369332"/>
          </a:xfrm>
          <a:prstGeom prst="rect">
            <a:avLst/>
          </a:prstGeom>
          <a:noFill/>
        </p:spPr>
        <p:txBody>
          <a:bodyPr wrap="none" rtlCol="0">
            <a:spAutoFit/>
          </a:bodyPr>
          <a:lstStyle/>
          <a:p>
            <a:pPr algn="ctr"/>
            <a:r>
              <a:rPr lang="it-IT" dirty="0">
                <a:solidFill>
                  <a:schemeClr val="bg1"/>
                </a:solidFill>
                <a:latin typeface="Aptos" panose="020B0004020202020204" pitchFamily="34" charset="0"/>
              </a:rPr>
              <a:t>Group 9 -</a:t>
            </a:r>
          </a:p>
        </p:txBody>
      </p:sp>
    </p:spTree>
    <p:extLst>
      <p:ext uri="{BB962C8B-B14F-4D97-AF65-F5344CB8AC3E}">
        <p14:creationId xmlns:p14="http://schemas.microsoft.com/office/powerpoint/2010/main" val="391467148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04BD0F1-9405-A5EF-6795-F7C8A0B713E1}"/>
            </a:ext>
          </a:extLst>
        </p:cNvPr>
        <p:cNvGrpSpPr/>
        <p:nvPr/>
      </p:nvGrpSpPr>
      <p:grpSpPr>
        <a:xfrm>
          <a:off x="0" y="0"/>
          <a:ext cx="0" cy="0"/>
          <a:chOff x="0" y="0"/>
          <a:chExt cx="0" cy="0"/>
        </a:xfrm>
      </p:grpSpPr>
      <p:sp>
        <p:nvSpPr>
          <p:cNvPr id="19" name="CasellaDiTesto 18">
            <a:extLst>
              <a:ext uri="{FF2B5EF4-FFF2-40B4-BE49-F238E27FC236}">
                <a16:creationId xmlns:a16="http://schemas.microsoft.com/office/drawing/2014/main" id="{739E9FE2-F4B2-1D38-7B64-BD1101485BC3}"/>
              </a:ext>
            </a:extLst>
          </p:cNvPr>
          <p:cNvSpPr txBox="1"/>
          <p:nvPr/>
        </p:nvSpPr>
        <p:spPr>
          <a:xfrm>
            <a:off x="723900" y="381755"/>
            <a:ext cx="7763664" cy="1015663"/>
          </a:xfrm>
          <a:prstGeom prst="rect">
            <a:avLst/>
          </a:prstGeom>
          <a:noFill/>
        </p:spPr>
        <p:txBody>
          <a:bodyPr wrap="none" rtlCol="0">
            <a:spAutoFit/>
          </a:bodyPr>
          <a:lstStyle/>
          <a:p>
            <a:r>
              <a:rPr lang="it-IT" sz="6000" b="1" dirty="0">
                <a:latin typeface="Aptos" panose="020B0004020202020204" pitchFamily="34" charset="0"/>
              </a:rPr>
              <a:t>Future </a:t>
            </a:r>
            <a:r>
              <a:rPr lang="it-IT" sz="6000" b="1" dirty="0" err="1">
                <a:latin typeface="Aptos" panose="020B0004020202020204" pitchFamily="34" charset="0"/>
              </a:rPr>
              <a:t>Developments</a:t>
            </a:r>
            <a:endParaRPr lang="it-IT" sz="6000" b="1" dirty="0">
              <a:latin typeface="Aptos" panose="020B0004020202020204" pitchFamily="34" charset="0"/>
            </a:endParaRPr>
          </a:p>
        </p:txBody>
      </p:sp>
      <p:sp>
        <p:nvSpPr>
          <p:cNvPr id="2" name="CasellaDiTesto 1">
            <a:extLst>
              <a:ext uri="{FF2B5EF4-FFF2-40B4-BE49-F238E27FC236}">
                <a16:creationId xmlns:a16="http://schemas.microsoft.com/office/drawing/2014/main" id="{CE8C0178-4A74-E9A5-5D13-DA5C9B7D3973}"/>
              </a:ext>
            </a:extLst>
          </p:cNvPr>
          <p:cNvSpPr txBox="1"/>
          <p:nvPr/>
        </p:nvSpPr>
        <p:spPr>
          <a:xfrm>
            <a:off x="723900" y="1539150"/>
            <a:ext cx="10708499" cy="4616648"/>
          </a:xfrm>
          <a:prstGeom prst="rect">
            <a:avLst/>
          </a:prstGeom>
          <a:noFill/>
        </p:spPr>
        <p:txBody>
          <a:bodyPr wrap="square" rtlCol="0">
            <a:spAutoFit/>
          </a:bodyPr>
          <a:lstStyle/>
          <a:p>
            <a:pPr marL="457200" indent="-457200" algn="just">
              <a:buFont typeface="Arial" panose="020B0604020202020204" pitchFamily="34" charset="0"/>
              <a:buChar char="•"/>
            </a:pPr>
            <a:r>
              <a:rPr lang="it-IT" sz="2800" b="1" dirty="0">
                <a:latin typeface="Aptos" panose="020B0004020202020204" pitchFamily="34" charset="0"/>
              </a:rPr>
              <a:t>Clinical </a:t>
            </a:r>
            <a:r>
              <a:rPr lang="it-IT" sz="2800" b="1" dirty="0" err="1">
                <a:latin typeface="Aptos" panose="020B0004020202020204" pitchFamily="34" charset="0"/>
              </a:rPr>
              <a:t>Interoperability</a:t>
            </a:r>
            <a:r>
              <a:rPr lang="it-IT" sz="2800" b="1" dirty="0">
                <a:latin typeface="Aptos" panose="020B0004020202020204" pitchFamily="34" charset="0"/>
              </a:rPr>
              <a:t>: </a:t>
            </a:r>
            <a:r>
              <a:rPr lang="it-IT" sz="2800" dirty="0">
                <a:latin typeface="Aptos" panose="020B0004020202020204" pitchFamily="34" charset="0"/>
              </a:rPr>
              <a:t>Integration of HL7/FHIR </a:t>
            </a:r>
            <a:r>
              <a:rPr lang="it-IT" sz="2800" dirty="0" err="1">
                <a:latin typeface="Aptos" panose="020B0004020202020204" pitchFamily="34" charset="0"/>
              </a:rPr>
              <a:t>protocols</a:t>
            </a:r>
            <a:r>
              <a:rPr lang="it-IT" sz="2800" dirty="0">
                <a:latin typeface="Aptos" panose="020B0004020202020204" pitchFamily="34" charset="0"/>
              </a:rPr>
              <a:t> for </a:t>
            </a:r>
            <a:r>
              <a:rPr lang="it-IT" sz="2800" dirty="0" err="1">
                <a:latin typeface="Aptos" panose="020B0004020202020204" pitchFamily="34" charset="0"/>
              </a:rPr>
              <a:t>direct</a:t>
            </a:r>
            <a:r>
              <a:rPr lang="it-IT" sz="2800" dirty="0">
                <a:latin typeface="Aptos" panose="020B0004020202020204" pitchFamily="34" charset="0"/>
              </a:rPr>
              <a:t> connection with Hospital Information Systems</a:t>
            </a:r>
          </a:p>
          <a:p>
            <a:pPr marL="457200" indent="-457200" algn="just">
              <a:buFont typeface="Arial" panose="020B0604020202020204" pitchFamily="34" charset="0"/>
              <a:buChar char="•"/>
            </a:pPr>
            <a:endParaRPr lang="it-IT" sz="1400" dirty="0">
              <a:latin typeface="Aptos" panose="020B0004020202020204" pitchFamily="34" charset="0"/>
            </a:endParaRPr>
          </a:p>
          <a:p>
            <a:pPr marL="457200" indent="-457200" algn="just">
              <a:buFont typeface="Arial" panose="020B0604020202020204" pitchFamily="34" charset="0"/>
              <a:buChar char="•"/>
            </a:pPr>
            <a:r>
              <a:rPr lang="it-IT" sz="2800" b="1" dirty="0">
                <a:latin typeface="Aptos" panose="020B0004020202020204" pitchFamily="34" charset="0"/>
              </a:rPr>
              <a:t>AI </a:t>
            </a:r>
            <a:r>
              <a:rPr lang="it-IT" sz="2800" b="1" dirty="0" err="1">
                <a:latin typeface="Aptos" panose="020B0004020202020204" pitchFamily="34" charset="0"/>
              </a:rPr>
              <a:t>Evolution</a:t>
            </a:r>
            <a:r>
              <a:rPr lang="it-IT" sz="2800" b="1" dirty="0">
                <a:latin typeface="Aptos" panose="020B0004020202020204" pitchFamily="34" charset="0"/>
              </a:rPr>
              <a:t>: </a:t>
            </a:r>
            <a:r>
              <a:rPr lang="it-IT" sz="2800" dirty="0">
                <a:latin typeface="Aptos" panose="020B0004020202020204" pitchFamily="34" charset="0"/>
              </a:rPr>
              <a:t>Adoption of 1D-CNNs for </a:t>
            </a:r>
            <a:r>
              <a:rPr lang="it-IT" sz="2800" dirty="0" err="1">
                <a:latin typeface="Aptos" panose="020B0004020202020204" pitchFamily="34" charset="0"/>
              </a:rPr>
              <a:t>advanced</a:t>
            </a:r>
            <a:r>
              <a:rPr lang="it-IT" sz="2800" dirty="0">
                <a:latin typeface="Aptos" panose="020B0004020202020204" pitchFamily="34" charset="0"/>
              </a:rPr>
              <a:t> </a:t>
            </a:r>
            <a:r>
              <a:rPr lang="it-IT" sz="2800" dirty="0" err="1">
                <a:latin typeface="Aptos" panose="020B0004020202020204" pitchFamily="34" charset="0"/>
              </a:rPr>
              <a:t>morphological</a:t>
            </a:r>
            <a:r>
              <a:rPr lang="it-IT" sz="2800" dirty="0">
                <a:latin typeface="Aptos" panose="020B0004020202020204" pitchFamily="34" charset="0"/>
              </a:rPr>
              <a:t> </a:t>
            </a:r>
            <a:r>
              <a:rPr lang="it-IT" sz="2800" dirty="0" err="1">
                <a:latin typeface="Aptos" panose="020B0004020202020204" pitchFamily="34" charset="0"/>
              </a:rPr>
              <a:t>analysis</a:t>
            </a:r>
            <a:r>
              <a:rPr lang="it-IT" sz="2800" dirty="0">
                <a:latin typeface="Aptos" panose="020B0004020202020204" pitchFamily="34" charset="0"/>
              </a:rPr>
              <a:t> of ECG </a:t>
            </a:r>
            <a:r>
              <a:rPr lang="it-IT" sz="2800" dirty="0" err="1">
                <a:latin typeface="Aptos" panose="020B0004020202020204" pitchFamily="34" charset="0"/>
              </a:rPr>
              <a:t>signals</a:t>
            </a:r>
            <a:endParaRPr lang="it-IT" sz="2800" dirty="0">
              <a:latin typeface="Aptos" panose="020B0004020202020204" pitchFamily="34" charset="0"/>
            </a:endParaRPr>
          </a:p>
          <a:p>
            <a:pPr marL="457200" indent="-457200" algn="just">
              <a:buFont typeface="Arial" panose="020B0604020202020204" pitchFamily="34" charset="0"/>
              <a:buChar char="•"/>
            </a:pPr>
            <a:endParaRPr lang="it-IT" sz="1400" dirty="0">
              <a:latin typeface="Aptos" panose="020B0004020202020204" pitchFamily="34" charset="0"/>
            </a:endParaRPr>
          </a:p>
          <a:p>
            <a:pPr marL="457200" indent="-457200" algn="just">
              <a:buFont typeface="Arial" panose="020B0604020202020204" pitchFamily="34" charset="0"/>
              <a:buChar char="•"/>
            </a:pPr>
            <a:r>
              <a:rPr lang="it-IT" sz="2800" b="1" dirty="0" err="1">
                <a:latin typeface="Aptos" panose="020B0004020202020204" pitchFamily="34" charset="0"/>
              </a:rPr>
              <a:t>Medical</a:t>
            </a:r>
            <a:r>
              <a:rPr lang="it-IT" sz="2800" b="1" dirty="0">
                <a:latin typeface="Aptos" panose="020B0004020202020204" pitchFamily="34" charset="0"/>
              </a:rPr>
              <a:t> Feedback: </a:t>
            </a:r>
            <a:r>
              <a:rPr lang="it-IT" sz="2800" dirty="0">
                <a:latin typeface="Aptos" panose="020B0004020202020204" pitchFamily="34" charset="0"/>
              </a:rPr>
              <a:t>Q&amp;A </a:t>
            </a:r>
            <a:r>
              <a:rPr lang="it-IT" sz="2800" dirty="0" err="1">
                <a:latin typeface="Aptos" panose="020B0004020202020204" pitchFamily="34" charset="0"/>
              </a:rPr>
              <a:t>mechanism</a:t>
            </a:r>
            <a:r>
              <a:rPr lang="it-IT" sz="2800" dirty="0">
                <a:latin typeface="Aptos" panose="020B0004020202020204" pitchFamily="34" charset="0"/>
              </a:rPr>
              <a:t> for </a:t>
            </a:r>
            <a:r>
              <a:rPr lang="it-IT" sz="2800" dirty="0" err="1">
                <a:latin typeface="Aptos" panose="020B0004020202020204" pitchFamily="34" charset="0"/>
              </a:rPr>
              <a:t>continuous</a:t>
            </a:r>
            <a:r>
              <a:rPr lang="it-IT" sz="2800" dirty="0">
                <a:latin typeface="Aptos" panose="020B0004020202020204" pitchFamily="34" charset="0"/>
              </a:rPr>
              <a:t> model re-training</a:t>
            </a:r>
          </a:p>
          <a:p>
            <a:pPr marL="457200" indent="-457200" algn="just">
              <a:buFont typeface="Arial" panose="020B0604020202020204" pitchFamily="34" charset="0"/>
              <a:buChar char="•"/>
            </a:pPr>
            <a:endParaRPr lang="it-IT" sz="1400" dirty="0">
              <a:latin typeface="Aptos" panose="020B0004020202020204" pitchFamily="34" charset="0"/>
            </a:endParaRPr>
          </a:p>
          <a:p>
            <a:pPr marL="457200" indent="-457200" algn="just">
              <a:buFont typeface="Arial" panose="020B0604020202020204" pitchFamily="34" charset="0"/>
              <a:buChar char="•"/>
            </a:pPr>
            <a:r>
              <a:rPr lang="it-IT" sz="2800" b="1" dirty="0" err="1">
                <a:latin typeface="Aptos" panose="020B0004020202020204" pitchFamily="34" charset="0"/>
              </a:rPr>
              <a:t>Infrastructure</a:t>
            </a:r>
            <a:r>
              <a:rPr lang="it-IT" sz="2800" b="1" dirty="0">
                <a:latin typeface="Aptos" panose="020B0004020202020204" pitchFamily="34" charset="0"/>
              </a:rPr>
              <a:t> </a:t>
            </a:r>
            <a:r>
              <a:rPr lang="it-IT" sz="2800" b="1" dirty="0" err="1">
                <a:latin typeface="Aptos" panose="020B0004020202020204" pitchFamily="34" charset="0"/>
              </a:rPr>
              <a:t>Scalability</a:t>
            </a:r>
            <a:r>
              <a:rPr lang="it-IT" sz="2800" b="1" dirty="0">
                <a:latin typeface="Aptos" panose="020B0004020202020204" pitchFamily="34" charset="0"/>
              </a:rPr>
              <a:t>: </a:t>
            </a:r>
            <a:r>
              <a:rPr lang="it-IT" sz="2800" dirty="0">
                <a:latin typeface="Aptos" panose="020B0004020202020204" pitchFamily="34" charset="0"/>
              </a:rPr>
              <a:t>Migration from Docker Compose to </a:t>
            </a:r>
            <a:r>
              <a:rPr lang="it-IT" sz="2800" dirty="0" err="1">
                <a:latin typeface="Aptos" panose="020B0004020202020204" pitchFamily="34" charset="0"/>
              </a:rPr>
              <a:t>Kubernetes</a:t>
            </a:r>
            <a:r>
              <a:rPr lang="it-IT" sz="2800" dirty="0">
                <a:latin typeface="Aptos" panose="020B0004020202020204" pitchFamily="34" charset="0"/>
              </a:rPr>
              <a:t> for auto-scaling and </a:t>
            </a:r>
            <a:r>
              <a:rPr lang="it-IT" sz="2800" dirty="0" err="1">
                <a:latin typeface="Aptos" panose="020B0004020202020204" pitchFamily="34" charset="0"/>
              </a:rPr>
              <a:t>transition</a:t>
            </a:r>
            <a:r>
              <a:rPr lang="it-IT" sz="2800" dirty="0">
                <a:latin typeface="Aptos" panose="020B0004020202020204" pitchFamily="34" charset="0"/>
              </a:rPr>
              <a:t> to Message Broker for complete </a:t>
            </a:r>
            <a:r>
              <a:rPr lang="it-IT" sz="2800" dirty="0" err="1">
                <a:latin typeface="Aptos" panose="020B0004020202020204" pitchFamily="34" charset="0"/>
              </a:rPr>
              <a:t>asynchronous</a:t>
            </a:r>
            <a:r>
              <a:rPr lang="it-IT" sz="2800" dirty="0">
                <a:latin typeface="Aptos" panose="020B0004020202020204" pitchFamily="34" charset="0"/>
              </a:rPr>
              <a:t> event-</a:t>
            </a:r>
            <a:r>
              <a:rPr lang="it-IT" sz="2800" dirty="0" err="1">
                <a:latin typeface="Aptos" panose="020B0004020202020204" pitchFamily="34" charset="0"/>
              </a:rPr>
              <a:t>driven</a:t>
            </a:r>
            <a:r>
              <a:rPr lang="it-IT" sz="2800" dirty="0">
                <a:latin typeface="Aptos" panose="020B0004020202020204" pitchFamily="34" charset="0"/>
              </a:rPr>
              <a:t> </a:t>
            </a:r>
            <a:r>
              <a:rPr lang="it-IT" sz="2800" dirty="0" err="1">
                <a:latin typeface="Aptos" panose="020B0004020202020204" pitchFamily="34" charset="0"/>
              </a:rPr>
              <a:t>microservices</a:t>
            </a:r>
            <a:r>
              <a:rPr lang="it-IT" sz="2800" dirty="0">
                <a:latin typeface="Aptos" panose="020B0004020202020204" pitchFamily="34" charset="0"/>
              </a:rPr>
              <a:t> </a:t>
            </a:r>
            <a:r>
              <a:rPr lang="it-IT" sz="2800" dirty="0" err="1">
                <a:latin typeface="Aptos" panose="020B0004020202020204" pitchFamily="34" charset="0"/>
              </a:rPr>
              <a:t>architecture</a:t>
            </a:r>
            <a:endParaRPr lang="it-IT" sz="2800" dirty="0">
              <a:latin typeface="Aptos" panose="020B0004020202020204" pitchFamily="34" charset="0"/>
            </a:endParaRPr>
          </a:p>
        </p:txBody>
      </p:sp>
      <p:grpSp>
        <p:nvGrpSpPr>
          <p:cNvPr id="11" name="object 9">
            <a:extLst>
              <a:ext uri="{FF2B5EF4-FFF2-40B4-BE49-F238E27FC236}">
                <a16:creationId xmlns:a16="http://schemas.microsoft.com/office/drawing/2014/main" id="{D89FAA61-474A-15D0-676E-359B17DD4774}"/>
              </a:ext>
            </a:extLst>
          </p:cNvPr>
          <p:cNvGrpSpPr/>
          <p:nvPr/>
        </p:nvGrpSpPr>
        <p:grpSpPr>
          <a:xfrm>
            <a:off x="-7209" y="6455826"/>
            <a:ext cx="12211050" cy="403860"/>
            <a:chOff x="-7209" y="6455826"/>
            <a:chExt cx="12211050" cy="403860"/>
          </a:xfrm>
          <a:solidFill>
            <a:srgbClr val="009999"/>
          </a:solidFill>
        </p:grpSpPr>
        <p:sp>
          <p:nvSpPr>
            <p:cNvPr id="16" name="object 10">
              <a:extLst>
                <a:ext uri="{FF2B5EF4-FFF2-40B4-BE49-F238E27FC236}">
                  <a16:creationId xmlns:a16="http://schemas.microsoft.com/office/drawing/2014/main" id="{EEEF797D-2515-9D87-612D-2020E93804C3}"/>
                </a:ext>
              </a:extLst>
            </p:cNvPr>
            <p:cNvSpPr/>
            <p:nvPr/>
          </p:nvSpPr>
          <p:spPr>
            <a:xfrm>
              <a:off x="2315" y="6465351"/>
              <a:ext cx="12192000" cy="384810"/>
            </a:xfrm>
            <a:custGeom>
              <a:avLst/>
              <a:gdLst/>
              <a:ahLst/>
              <a:cxnLst/>
              <a:rect l="l" t="t" r="r" b="b"/>
              <a:pathLst>
                <a:path w="12192000" h="384809">
                  <a:moveTo>
                    <a:pt x="12191619" y="0"/>
                  </a:moveTo>
                  <a:lnTo>
                    <a:pt x="0" y="0"/>
                  </a:lnTo>
                  <a:lnTo>
                    <a:pt x="0" y="384657"/>
                  </a:lnTo>
                  <a:lnTo>
                    <a:pt x="12191619" y="384657"/>
                  </a:lnTo>
                  <a:lnTo>
                    <a:pt x="12191619" y="0"/>
                  </a:lnTo>
                  <a:close/>
                </a:path>
              </a:pathLst>
            </a:custGeom>
            <a:grpFill/>
          </p:spPr>
          <p:txBody>
            <a:bodyPr wrap="square" lIns="0" tIns="0" rIns="0" bIns="0" rtlCol="0"/>
            <a:lstStyle/>
            <a:p>
              <a:endParaRPr/>
            </a:p>
          </p:txBody>
        </p:sp>
        <p:sp>
          <p:nvSpPr>
            <p:cNvPr id="18" name="object 11">
              <a:extLst>
                <a:ext uri="{FF2B5EF4-FFF2-40B4-BE49-F238E27FC236}">
                  <a16:creationId xmlns:a16="http://schemas.microsoft.com/office/drawing/2014/main" id="{B90EFCF1-0CF6-8948-C427-3E1E8C5347B6}"/>
                </a:ext>
              </a:extLst>
            </p:cNvPr>
            <p:cNvSpPr/>
            <p:nvPr/>
          </p:nvSpPr>
          <p:spPr>
            <a:xfrm>
              <a:off x="2315" y="6465351"/>
              <a:ext cx="12192000" cy="384810"/>
            </a:xfrm>
            <a:custGeom>
              <a:avLst/>
              <a:gdLst/>
              <a:ahLst/>
              <a:cxnLst/>
              <a:rect l="l" t="t" r="r" b="b"/>
              <a:pathLst>
                <a:path w="12192000" h="384809">
                  <a:moveTo>
                    <a:pt x="0" y="384657"/>
                  </a:moveTo>
                  <a:lnTo>
                    <a:pt x="12191619" y="384657"/>
                  </a:lnTo>
                  <a:lnTo>
                    <a:pt x="12191619" y="0"/>
                  </a:lnTo>
                  <a:lnTo>
                    <a:pt x="0" y="0"/>
                  </a:lnTo>
                  <a:lnTo>
                    <a:pt x="0" y="384657"/>
                  </a:lnTo>
                  <a:close/>
                </a:path>
              </a:pathLst>
            </a:custGeom>
            <a:grpFill/>
            <a:ln w="19050">
              <a:solidFill>
                <a:srgbClr val="009999"/>
              </a:solidFill>
            </a:ln>
          </p:spPr>
          <p:txBody>
            <a:bodyPr wrap="square" lIns="0" tIns="0" rIns="0" bIns="0" rtlCol="0"/>
            <a:lstStyle/>
            <a:p>
              <a:endParaRPr/>
            </a:p>
          </p:txBody>
        </p:sp>
      </p:grpSp>
      <p:sp>
        <p:nvSpPr>
          <p:cNvPr id="21" name="CasellaDiTesto 20">
            <a:extLst>
              <a:ext uri="{FF2B5EF4-FFF2-40B4-BE49-F238E27FC236}">
                <a16:creationId xmlns:a16="http://schemas.microsoft.com/office/drawing/2014/main" id="{C87E167A-7C99-D6B3-2415-11F0C63EF867}"/>
              </a:ext>
            </a:extLst>
          </p:cNvPr>
          <p:cNvSpPr txBox="1"/>
          <p:nvPr/>
        </p:nvSpPr>
        <p:spPr>
          <a:xfrm>
            <a:off x="11637140" y="6480829"/>
            <a:ext cx="431528" cy="369332"/>
          </a:xfrm>
          <a:prstGeom prst="rect">
            <a:avLst/>
          </a:prstGeom>
          <a:noFill/>
        </p:spPr>
        <p:txBody>
          <a:bodyPr wrap="none" rtlCol="0">
            <a:spAutoFit/>
          </a:bodyPr>
          <a:lstStyle/>
          <a:p>
            <a:pPr algn="ctr"/>
            <a:r>
              <a:rPr lang="it-IT" dirty="0">
                <a:solidFill>
                  <a:schemeClr val="bg1"/>
                </a:solidFill>
                <a:latin typeface="Aptos" panose="020B0004020202020204" pitchFamily="34" charset="0"/>
              </a:rPr>
              <a:t>16</a:t>
            </a:r>
          </a:p>
        </p:txBody>
      </p:sp>
      <p:sp>
        <p:nvSpPr>
          <p:cNvPr id="22" name="CasellaDiTesto 21">
            <a:extLst>
              <a:ext uri="{FF2B5EF4-FFF2-40B4-BE49-F238E27FC236}">
                <a16:creationId xmlns:a16="http://schemas.microsoft.com/office/drawing/2014/main" id="{10CD39DA-EFDD-9964-9C4E-7388ACC55895}"/>
              </a:ext>
            </a:extLst>
          </p:cNvPr>
          <p:cNvSpPr txBox="1"/>
          <p:nvPr/>
        </p:nvSpPr>
        <p:spPr>
          <a:xfrm>
            <a:off x="1037287" y="6473090"/>
            <a:ext cx="2084225" cy="369332"/>
          </a:xfrm>
          <a:prstGeom prst="rect">
            <a:avLst/>
          </a:prstGeom>
          <a:noFill/>
        </p:spPr>
        <p:txBody>
          <a:bodyPr wrap="none" rtlCol="0">
            <a:spAutoFit/>
          </a:bodyPr>
          <a:lstStyle/>
          <a:p>
            <a:pPr algn="ctr"/>
            <a:r>
              <a:rPr lang="it-IT" dirty="0" err="1">
                <a:solidFill>
                  <a:schemeClr val="bg1"/>
                </a:solidFill>
                <a:latin typeface="Aptos" panose="020B0004020202020204" pitchFamily="34" charset="0"/>
              </a:rPr>
              <a:t>EarlyCare</a:t>
            </a:r>
            <a:r>
              <a:rPr lang="it-IT" dirty="0">
                <a:solidFill>
                  <a:schemeClr val="bg1"/>
                </a:solidFill>
                <a:latin typeface="Aptos" panose="020B0004020202020204" pitchFamily="34" charset="0"/>
              </a:rPr>
              <a:t> Gateway</a:t>
            </a:r>
          </a:p>
        </p:txBody>
      </p:sp>
      <p:sp>
        <p:nvSpPr>
          <p:cNvPr id="23" name="CasellaDiTesto 22">
            <a:extLst>
              <a:ext uri="{FF2B5EF4-FFF2-40B4-BE49-F238E27FC236}">
                <a16:creationId xmlns:a16="http://schemas.microsoft.com/office/drawing/2014/main" id="{F6D5FA70-289C-6B60-EE32-FF13CE3FADCD}"/>
              </a:ext>
            </a:extLst>
          </p:cNvPr>
          <p:cNvSpPr txBox="1"/>
          <p:nvPr/>
        </p:nvSpPr>
        <p:spPr>
          <a:xfrm>
            <a:off x="84328" y="6473090"/>
            <a:ext cx="1104791" cy="369332"/>
          </a:xfrm>
          <a:prstGeom prst="rect">
            <a:avLst/>
          </a:prstGeom>
          <a:noFill/>
        </p:spPr>
        <p:txBody>
          <a:bodyPr wrap="none" rtlCol="0">
            <a:spAutoFit/>
          </a:bodyPr>
          <a:lstStyle/>
          <a:p>
            <a:pPr algn="ctr"/>
            <a:r>
              <a:rPr lang="it-IT" dirty="0">
                <a:solidFill>
                  <a:schemeClr val="bg1"/>
                </a:solidFill>
                <a:latin typeface="Aptos" panose="020B0004020202020204" pitchFamily="34" charset="0"/>
              </a:rPr>
              <a:t>Group 9 -</a:t>
            </a:r>
          </a:p>
        </p:txBody>
      </p:sp>
    </p:spTree>
    <p:extLst>
      <p:ext uri="{BB962C8B-B14F-4D97-AF65-F5344CB8AC3E}">
        <p14:creationId xmlns:p14="http://schemas.microsoft.com/office/powerpoint/2010/main" val="206143898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6337357-804C-D990-7145-52713AE3AD2A}"/>
            </a:ext>
          </a:extLst>
        </p:cNvPr>
        <p:cNvGrpSpPr/>
        <p:nvPr/>
      </p:nvGrpSpPr>
      <p:grpSpPr>
        <a:xfrm>
          <a:off x="0" y="0"/>
          <a:ext cx="0" cy="0"/>
          <a:chOff x="0" y="0"/>
          <a:chExt cx="0" cy="0"/>
        </a:xfrm>
      </p:grpSpPr>
      <p:pic>
        <p:nvPicPr>
          <p:cNvPr id="3" name="Video senza titolo - Realizzato con Clipchamp (2)">
            <a:hlinkClick r:id="" action="ppaction://media"/>
            <a:extLst>
              <a:ext uri="{FF2B5EF4-FFF2-40B4-BE49-F238E27FC236}">
                <a16:creationId xmlns:a16="http://schemas.microsoft.com/office/drawing/2014/main" id="{606B5FB1-E135-38A2-6E90-9C9283902EC5}"/>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t="5841" b="6089"/>
          <a:stretch>
            <a:fillRect/>
          </a:stretch>
        </p:blipFill>
        <p:spPr>
          <a:xfrm>
            <a:off x="205740" y="286135"/>
            <a:ext cx="11780520" cy="5913449"/>
          </a:xfrm>
          <a:prstGeom prst="roundRect">
            <a:avLst>
              <a:gd name="adj" fmla="val 2355"/>
            </a:avLst>
          </a:prstGeom>
          <a:ln>
            <a:noFill/>
          </a:ln>
          <a:effectLst>
            <a:outerShdw blurRad="190500" algn="tl" rotWithShape="0">
              <a:srgbClr val="000000">
                <a:alpha val="21000"/>
              </a:srgbClr>
            </a:outerShdw>
          </a:effectLst>
        </p:spPr>
      </p:pic>
      <p:grpSp>
        <p:nvGrpSpPr>
          <p:cNvPr id="18" name="object 9">
            <a:extLst>
              <a:ext uri="{FF2B5EF4-FFF2-40B4-BE49-F238E27FC236}">
                <a16:creationId xmlns:a16="http://schemas.microsoft.com/office/drawing/2014/main" id="{0E9F8D0F-6A0E-43F8-EAB2-FAF78920CDF5}"/>
              </a:ext>
            </a:extLst>
          </p:cNvPr>
          <p:cNvGrpSpPr/>
          <p:nvPr/>
        </p:nvGrpSpPr>
        <p:grpSpPr>
          <a:xfrm>
            <a:off x="-7209" y="6455826"/>
            <a:ext cx="12211050" cy="403860"/>
            <a:chOff x="-7209" y="6455826"/>
            <a:chExt cx="12211050" cy="403860"/>
          </a:xfrm>
          <a:solidFill>
            <a:srgbClr val="009999"/>
          </a:solidFill>
        </p:grpSpPr>
        <p:sp>
          <p:nvSpPr>
            <p:cNvPr id="19" name="object 10">
              <a:extLst>
                <a:ext uri="{FF2B5EF4-FFF2-40B4-BE49-F238E27FC236}">
                  <a16:creationId xmlns:a16="http://schemas.microsoft.com/office/drawing/2014/main" id="{99314644-27AD-0EC8-332A-9490050E5290}"/>
                </a:ext>
              </a:extLst>
            </p:cNvPr>
            <p:cNvSpPr/>
            <p:nvPr/>
          </p:nvSpPr>
          <p:spPr>
            <a:xfrm>
              <a:off x="2315" y="6465351"/>
              <a:ext cx="12192000" cy="384810"/>
            </a:xfrm>
            <a:custGeom>
              <a:avLst/>
              <a:gdLst/>
              <a:ahLst/>
              <a:cxnLst/>
              <a:rect l="l" t="t" r="r" b="b"/>
              <a:pathLst>
                <a:path w="12192000" h="384809">
                  <a:moveTo>
                    <a:pt x="12191619" y="0"/>
                  </a:moveTo>
                  <a:lnTo>
                    <a:pt x="0" y="0"/>
                  </a:lnTo>
                  <a:lnTo>
                    <a:pt x="0" y="384657"/>
                  </a:lnTo>
                  <a:lnTo>
                    <a:pt x="12191619" y="384657"/>
                  </a:lnTo>
                  <a:lnTo>
                    <a:pt x="12191619" y="0"/>
                  </a:lnTo>
                  <a:close/>
                </a:path>
              </a:pathLst>
            </a:custGeom>
            <a:grpFill/>
          </p:spPr>
          <p:txBody>
            <a:bodyPr wrap="square" lIns="0" tIns="0" rIns="0" bIns="0" rtlCol="0"/>
            <a:lstStyle/>
            <a:p>
              <a:endParaRPr/>
            </a:p>
          </p:txBody>
        </p:sp>
        <p:sp>
          <p:nvSpPr>
            <p:cNvPr id="20" name="object 11">
              <a:extLst>
                <a:ext uri="{FF2B5EF4-FFF2-40B4-BE49-F238E27FC236}">
                  <a16:creationId xmlns:a16="http://schemas.microsoft.com/office/drawing/2014/main" id="{F0C29EB2-850F-A941-40CF-5B07377275C4}"/>
                </a:ext>
              </a:extLst>
            </p:cNvPr>
            <p:cNvSpPr/>
            <p:nvPr/>
          </p:nvSpPr>
          <p:spPr>
            <a:xfrm>
              <a:off x="2315" y="6465351"/>
              <a:ext cx="12192000" cy="384810"/>
            </a:xfrm>
            <a:custGeom>
              <a:avLst/>
              <a:gdLst/>
              <a:ahLst/>
              <a:cxnLst/>
              <a:rect l="l" t="t" r="r" b="b"/>
              <a:pathLst>
                <a:path w="12192000" h="384809">
                  <a:moveTo>
                    <a:pt x="0" y="384657"/>
                  </a:moveTo>
                  <a:lnTo>
                    <a:pt x="12191619" y="384657"/>
                  </a:lnTo>
                  <a:lnTo>
                    <a:pt x="12191619" y="0"/>
                  </a:lnTo>
                  <a:lnTo>
                    <a:pt x="0" y="0"/>
                  </a:lnTo>
                  <a:lnTo>
                    <a:pt x="0" y="384657"/>
                  </a:lnTo>
                  <a:close/>
                </a:path>
              </a:pathLst>
            </a:custGeom>
            <a:grpFill/>
            <a:ln w="19050">
              <a:solidFill>
                <a:srgbClr val="009999"/>
              </a:solidFill>
            </a:ln>
          </p:spPr>
          <p:txBody>
            <a:bodyPr wrap="square" lIns="0" tIns="0" rIns="0" bIns="0" rtlCol="0"/>
            <a:lstStyle/>
            <a:p>
              <a:endParaRPr/>
            </a:p>
          </p:txBody>
        </p:sp>
      </p:grpSp>
      <p:sp>
        <p:nvSpPr>
          <p:cNvPr id="2" name="CasellaDiTesto 1">
            <a:extLst>
              <a:ext uri="{FF2B5EF4-FFF2-40B4-BE49-F238E27FC236}">
                <a16:creationId xmlns:a16="http://schemas.microsoft.com/office/drawing/2014/main" id="{9638BA30-0754-FF60-7F10-FDBC87301C3D}"/>
              </a:ext>
            </a:extLst>
          </p:cNvPr>
          <p:cNvSpPr txBox="1"/>
          <p:nvPr/>
        </p:nvSpPr>
        <p:spPr>
          <a:xfrm>
            <a:off x="1037287" y="6473090"/>
            <a:ext cx="2084225" cy="369332"/>
          </a:xfrm>
          <a:prstGeom prst="rect">
            <a:avLst/>
          </a:prstGeom>
          <a:noFill/>
        </p:spPr>
        <p:txBody>
          <a:bodyPr wrap="none" rtlCol="0">
            <a:spAutoFit/>
          </a:bodyPr>
          <a:lstStyle/>
          <a:p>
            <a:pPr algn="ctr"/>
            <a:r>
              <a:rPr lang="it-IT" dirty="0" err="1">
                <a:solidFill>
                  <a:schemeClr val="bg1"/>
                </a:solidFill>
                <a:latin typeface="Aptos" panose="020B0004020202020204" pitchFamily="34" charset="0"/>
              </a:rPr>
              <a:t>EarlyCare</a:t>
            </a:r>
            <a:r>
              <a:rPr lang="it-IT" dirty="0">
                <a:solidFill>
                  <a:schemeClr val="bg1"/>
                </a:solidFill>
                <a:latin typeface="Aptos" panose="020B0004020202020204" pitchFamily="34" charset="0"/>
              </a:rPr>
              <a:t> Gateway</a:t>
            </a:r>
          </a:p>
        </p:txBody>
      </p:sp>
      <p:sp>
        <p:nvSpPr>
          <p:cNvPr id="4" name="CasellaDiTesto 3">
            <a:extLst>
              <a:ext uri="{FF2B5EF4-FFF2-40B4-BE49-F238E27FC236}">
                <a16:creationId xmlns:a16="http://schemas.microsoft.com/office/drawing/2014/main" id="{E984DA16-25F0-4B7C-39C6-52040850FE30}"/>
              </a:ext>
            </a:extLst>
          </p:cNvPr>
          <p:cNvSpPr txBox="1"/>
          <p:nvPr/>
        </p:nvSpPr>
        <p:spPr>
          <a:xfrm>
            <a:off x="84328" y="6473090"/>
            <a:ext cx="1104791" cy="369332"/>
          </a:xfrm>
          <a:prstGeom prst="rect">
            <a:avLst/>
          </a:prstGeom>
          <a:noFill/>
        </p:spPr>
        <p:txBody>
          <a:bodyPr wrap="none" rtlCol="0">
            <a:spAutoFit/>
          </a:bodyPr>
          <a:lstStyle/>
          <a:p>
            <a:pPr algn="ctr"/>
            <a:r>
              <a:rPr lang="it-IT" dirty="0">
                <a:solidFill>
                  <a:schemeClr val="bg1"/>
                </a:solidFill>
                <a:latin typeface="Aptos" panose="020B0004020202020204" pitchFamily="34" charset="0"/>
              </a:rPr>
              <a:t>Group 9 -</a:t>
            </a:r>
          </a:p>
        </p:txBody>
      </p:sp>
      <p:sp>
        <p:nvSpPr>
          <p:cNvPr id="5" name="CasellaDiTesto 4">
            <a:extLst>
              <a:ext uri="{FF2B5EF4-FFF2-40B4-BE49-F238E27FC236}">
                <a16:creationId xmlns:a16="http://schemas.microsoft.com/office/drawing/2014/main" id="{717136B6-8B8D-8C7C-ACAB-F910011951F8}"/>
              </a:ext>
            </a:extLst>
          </p:cNvPr>
          <p:cNvSpPr txBox="1"/>
          <p:nvPr/>
        </p:nvSpPr>
        <p:spPr>
          <a:xfrm>
            <a:off x="11637140" y="6480829"/>
            <a:ext cx="431528" cy="369332"/>
          </a:xfrm>
          <a:prstGeom prst="rect">
            <a:avLst/>
          </a:prstGeom>
          <a:noFill/>
        </p:spPr>
        <p:txBody>
          <a:bodyPr wrap="none" rtlCol="0">
            <a:spAutoFit/>
          </a:bodyPr>
          <a:lstStyle/>
          <a:p>
            <a:pPr algn="ctr"/>
            <a:r>
              <a:rPr lang="it-IT" dirty="0">
                <a:solidFill>
                  <a:schemeClr val="bg1"/>
                </a:solidFill>
                <a:latin typeface="Aptos" panose="020B0004020202020204" pitchFamily="34" charset="0"/>
              </a:rPr>
              <a:t>17</a:t>
            </a:r>
          </a:p>
        </p:txBody>
      </p:sp>
    </p:spTree>
    <p:extLst>
      <p:ext uri="{BB962C8B-B14F-4D97-AF65-F5344CB8AC3E}">
        <p14:creationId xmlns:p14="http://schemas.microsoft.com/office/powerpoint/2010/main" val="242365324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834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mute="1">
                <p:cTn id="12" fill="hold" display="0">
                  <p:stCondLst>
                    <p:cond delay="indefinite"/>
                  </p:stCondLst>
                </p:cTn>
                <p:tgtEl>
                  <p:spTgt spid="3"/>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F7311FD-176A-901D-861C-EC4DC40D752E}"/>
            </a:ext>
          </a:extLst>
        </p:cNvPr>
        <p:cNvGrpSpPr/>
        <p:nvPr/>
      </p:nvGrpSpPr>
      <p:grpSpPr>
        <a:xfrm>
          <a:off x="0" y="0"/>
          <a:ext cx="0" cy="0"/>
          <a:chOff x="0" y="0"/>
          <a:chExt cx="0" cy="0"/>
        </a:xfrm>
      </p:grpSpPr>
      <p:pic>
        <p:nvPicPr>
          <p:cNvPr id="4" name="Immagine 3">
            <a:extLst>
              <a:ext uri="{FF2B5EF4-FFF2-40B4-BE49-F238E27FC236}">
                <a16:creationId xmlns:a16="http://schemas.microsoft.com/office/drawing/2014/main" id="{30F8B961-C8D8-E606-8AA3-29F063CC3045}"/>
              </a:ext>
            </a:extLst>
          </p:cNvPr>
          <p:cNvPicPr>
            <a:picLocks noChangeAspect="1"/>
          </p:cNvPicPr>
          <p:nvPr/>
        </p:nvPicPr>
        <p:blipFill>
          <a:blip r:embed="rId3" cstate="print">
            <a:extLst>
              <a:ext uri="{28A0092B-C50C-407E-A947-70E740481C1C}">
                <a14:useLocalDpi xmlns:a14="http://schemas.microsoft.com/office/drawing/2010/main" val="0"/>
              </a:ext>
            </a:extLst>
          </a:blip>
          <a:srcRect t="21727" b="21155"/>
          <a:stretch>
            <a:fillRect/>
          </a:stretch>
        </p:blipFill>
        <p:spPr>
          <a:xfrm>
            <a:off x="457200" y="376926"/>
            <a:ext cx="6535282" cy="1107996"/>
          </a:xfrm>
          <a:prstGeom prst="rect">
            <a:avLst/>
          </a:prstGeom>
        </p:spPr>
      </p:pic>
      <p:sp>
        <p:nvSpPr>
          <p:cNvPr id="2" name="CasellaDiTesto 1">
            <a:extLst>
              <a:ext uri="{FF2B5EF4-FFF2-40B4-BE49-F238E27FC236}">
                <a16:creationId xmlns:a16="http://schemas.microsoft.com/office/drawing/2014/main" id="{173C139E-A6CB-B15A-5287-7279220B73A3}"/>
              </a:ext>
            </a:extLst>
          </p:cNvPr>
          <p:cNvSpPr txBox="1"/>
          <p:nvPr/>
        </p:nvSpPr>
        <p:spPr>
          <a:xfrm>
            <a:off x="1010313" y="2921168"/>
            <a:ext cx="10171374" cy="1015663"/>
          </a:xfrm>
          <a:prstGeom prst="rect">
            <a:avLst/>
          </a:prstGeom>
          <a:noFill/>
        </p:spPr>
        <p:txBody>
          <a:bodyPr wrap="none" rtlCol="0">
            <a:spAutoFit/>
          </a:bodyPr>
          <a:lstStyle/>
          <a:p>
            <a:pPr algn="ctr"/>
            <a:r>
              <a:rPr lang="en-US" sz="6000" b="1">
                <a:latin typeface="Aptos" panose="020B0004020202020204" pitchFamily="34" charset="0"/>
              </a:rPr>
              <a:t>Thank you for your attention!</a:t>
            </a:r>
            <a:endParaRPr lang="it-IT" sz="6000" b="1">
              <a:latin typeface="Aptos" panose="020B0004020202020204" pitchFamily="34" charset="0"/>
            </a:endParaRPr>
          </a:p>
        </p:txBody>
      </p:sp>
      <p:pic>
        <p:nvPicPr>
          <p:cNvPr id="1028" name="Picture 4" descr="SisInfLab - Home - SisInfLab">
            <a:extLst>
              <a:ext uri="{FF2B5EF4-FFF2-40B4-BE49-F238E27FC236}">
                <a16:creationId xmlns:a16="http://schemas.microsoft.com/office/drawing/2014/main" id="{8C6A2BDE-3860-DD86-4EA6-022E147622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15400" y="486160"/>
            <a:ext cx="2619166" cy="889528"/>
          </a:xfrm>
          <a:prstGeom prst="rect">
            <a:avLst/>
          </a:prstGeom>
          <a:noFill/>
          <a:extLst>
            <a:ext uri="{909E8E84-426E-40DD-AFC4-6F175D3DCCD1}">
              <a14:hiddenFill xmlns:a14="http://schemas.microsoft.com/office/drawing/2010/main">
                <a:solidFill>
                  <a:srgbClr val="FFFFFF"/>
                </a:solidFill>
              </a14:hiddenFill>
            </a:ext>
          </a:extLst>
        </p:spPr>
      </p:pic>
      <p:grpSp>
        <p:nvGrpSpPr>
          <p:cNvPr id="3" name="object 9">
            <a:extLst>
              <a:ext uri="{FF2B5EF4-FFF2-40B4-BE49-F238E27FC236}">
                <a16:creationId xmlns:a16="http://schemas.microsoft.com/office/drawing/2014/main" id="{79B1DB23-5220-2B40-205D-028116D08B77}"/>
              </a:ext>
            </a:extLst>
          </p:cNvPr>
          <p:cNvGrpSpPr/>
          <p:nvPr/>
        </p:nvGrpSpPr>
        <p:grpSpPr>
          <a:xfrm>
            <a:off x="-7209" y="6455826"/>
            <a:ext cx="12211050" cy="403860"/>
            <a:chOff x="-7209" y="6455826"/>
            <a:chExt cx="12211050" cy="403860"/>
          </a:xfrm>
          <a:solidFill>
            <a:srgbClr val="009999"/>
          </a:solidFill>
        </p:grpSpPr>
        <p:sp>
          <p:nvSpPr>
            <p:cNvPr id="5" name="object 10">
              <a:extLst>
                <a:ext uri="{FF2B5EF4-FFF2-40B4-BE49-F238E27FC236}">
                  <a16:creationId xmlns:a16="http://schemas.microsoft.com/office/drawing/2014/main" id="{E73820D4-6025-B0E0-3A7B-78C47641E1A7}"/>
                </a:ext>
              </a:extLst>
            </p:cNvPr>
            <p:cNvSpPr/>
            <p:nvPr/>
          </p:nvSpPr>
          <p:spPr>
            <a:xfrm>
              <a:off x="2315" y="6465351"/>
              <a:ext cx="12192000" cy="384810"/>
            </a:xfrm>
            <a:custGeom>
              <a:avLst/>
              <a:gdLst/>
              <a:ahLst/>
              <a:cxnLst/>
              <a:rect l="l" t="t" r="r" b="b"/>
              <a:pathLst>
                <a:path w="12192000" h="384809">
                  <a:moveTo>
                    <a:pt x="12191619" y="0"/>
                  </a:moveTo>
                  <a:lnTo>
                    <a:pt x="0" y="0"/>
                  </a:lnTo>
                  <a:lnTo>
                    <a:pt x="0" y="384657"/>
                  </a:lnTo>
                  <a:lnTo>
                    <a:pt x="12191619" y="384657"/>
                  </a:lnTo>
                  <a:lnTo>
                    <a:pt x="12191619" y="0"/>
                  </a:lnTo>
                  <a:close/>
                </a:path>
              </a:pathLst>
            </a:custGeom>
            <a:grpFill/>
          </p:spPr>
          <p:txBody>
            <a:bodyPr wrap="square" lIns="0" tIns="0" rIns="0" bIns="0" rtlCol="0"/>
            <a:lstStyle/>
            <a:p>
              <a:endParaRPr/>
            </a:p>
          </p:txBody>
        </p:sp>
        <p:sp>
          <p:nvSpPr>
            <p:cNvPr id="6" name="object 11">
              <a:extLst>
                <a:ext uri="{FF2B5EF4-FFF2-40B4-BE49-F238E27FC236}">
                  <a16:creationId xmlns:a16="http://schemas.microsoft.com/office/drawing/2014/main" id="{A67E6597-652E-5B4A-EFD4-2C685CA18630}"/>
                </a:ext>
              </a:extLst>
            </p:cNvPr>
            <p:cNvSpPr/>
            <p:nvPr/>
          </p:nvSpPr>
          <p:spPr>
            <a:xfrm>
              <a:off x="2315" y="6465351"/>
              <a:ext cx="12192000" cy="384810"/>
            </a:xfrm>
            <a:custGeom>
              <a:avLst/>
              <a:gdLst/>
              <a:ahLst/>
              <a:cxnLst/>
              <a:rect l="l" t="t" r="r" b="b"/>
              <a:pathLst>
                <a:path w="12192000" h="384809">
                  <a:moveTo>
                    <a:pt x="0" y="384657"/>
                  </a:moveTo>
                  <a:lnTo>
                    <a:pt x="12191619" y="384657"/>
                  </a:lnTo>
                  <a:lnTo>
                    <a:pt x="12191619" y="0"/>
                  </a:lnTo>
                  <a:lnTo>
                    <a:pt x="0" y="0"/>
                  </a:lnTo>
                  <a:lnTo>
                    <a:pt x="0" y="384657"/>
                  </a:lnTo>
                  <a:close/>
                </a:path>
              </a:pathLst>
            </a:custGeom>
            <a:grpFill/>
            <a:ln w="19050">
              <a:solidFill>
                <a:srgbClr val="009999"/>
              </a:solidFill>
            </a:ln>
          </p:spPr>
          <p:txBody>
            <a:bodyPr wrap="square" lIns="0" tIns="0" rIns="0" bIns="0" rtlCol="0"/>
            <a:lstStyle/>
            <a:p>
              <a:endParaRPr/>
            </a:p>
          </p:txBody>
        </p:sp>
      </p:grpSp>
      <p:sp>
        <p:nvSpPr>
          <p:cNvPr id="7" name="CasellaDiTesto 6">
            <a:extLst>
              <a:ext uri="{FF2B5EF4-FFF2-40B4-BE49-F238E27FC236}">
                <a16:creationId xmlns:a16="http://schemas.microsoft.com/office/drawing/2014/main" id="{2F76B33B-B6AD-42BF-6A68-AA3073679D25}"/>
              </a:ext>
            </a:extLst>
          </p:cNvPr>
          <p:cNvSpPr txBox="1"/>
          <p:nvPr/>
        </p:nvSpPr>
        <p:spPr>
          <a:xfrm>
            <a:off x="107188" y="6473090"/>
            <a:ext cx="4296368" cy="369332"/>
          </a:xfrm>
          <a:prstGeom prst="rect">
            <a:avLst/>
          </a:prstGeom>
          <a:noFill/>
        </p:spPr>
        <p:txBody>
          <a:bodyPr wrap="none" rtlCol="0">
            <a:spAutoFit/>
          </a:bodyPr>
          <a:lstStyle/>
          <a:p>
            <a:pPr algn="ctr"/>
            <a:r>
              <a:rPr lang="it-IT">
                <a:solidFill>
                  <a:schemeClr val="bg1"/>
                </a:solidFill>
                <a:latin typeface="Aptos" panose="020B0004020202020204" pitchFamily="34" charset="0"/>
              </a:rPr>
              <a:t>Software Architecture and Pattern Design</a:t>
            </a:r>
          </a:p>
        </p:txBody>
      </p:sp>
      <p:sp>
        <p:nvSpPr>
          <p:cNvPr id="8" name="CasellaDiTesto 7">
            <a:extLst>
              <a:ext uri="{FF2B5EF4-FFF2-40B4-BE49-F238E27FC236}">
                <a16:creationId xmlns:a16="http://schemas.microsoft.com/office/drawing/2014/main" id="{1F9A605A-8353-112E-5853-A6F26A6B1DA9}"/>
              </a:ext>
            </a:extLst>
          </p:cNvPr>
          <p:cNvSpPr txBox="1"/>
          <p:nvPr/>
        </p:nvSpPr>
        <p:spPr>
          <a:xfrm>
            <a:off x="10394926" y="6480829"/>
            <a:ext cx="1689886" cy="369332"/>
          </a:xfrm>
          <a:prstGeom prst="rect">
            <a:avLst/>
          </a:prstGeom>
          <a:noFill/>
        </p:spPr>
        <p:txBody>
          <a:bodyPr wrap="none" rtlCol="0">
            <a:spAutoFit/>
          </a:bodyPr>
          <a:lstStyle/>
          <a:p>
            <a:pPr algn="ctr"/>
            <a:r>
              <a:rPr lang="it-IT">
                <a:solidFill>
                  <a:schemeClr val="bg1"/>
                </a:solidFill>
                <a:latin typeface="Aptos" panose="020B0004020202020204" pitchFamily="34" charset="0"/>
              </a:rPr>
              <a:t>A.Y. 2025/2026</a:t>
            </a:r>
          </a:p>
        </p:txBody>
      </p:sp>
    </p:spTree>
    <p:extLst>
      <p:ext uri="{BB962C8B-B14F-4D97-AF65-F5344CB8AC3E}">
        <p14:creationId xmlns:p14="http://schemas.microsoft.com/office/powerpoint/2010/main" val="238493625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67885"/>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233</TotalTime>
  <Words>3369</Words>
  <Application>Microsoft Office PowerPoint</Application>
  <PresentationFormat>Widescreen</PresentationFormat>
  <Paragraphs>361</Paragraphs>
  <Slides>20</Slides>
  <Notes>20</Notes>
  <HiddenSlides>0</HiddenSlides>
  <MMClips>1</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20</vt:i4>
      </vt:variant>
    </vt:vector>
  </HeadingPairs>
  <TitlesOfParts>
    <vt:vector size="25" baseType="lpstr">
      <vt:lpstr>Aptos</vt:lpstr>
      <vt:lpstr>Arial</vt:lpstr>
      <vt:lpstr>Trebuchet MS</vt:lpstr>
      <vt:lpstr>Wingdings</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Giovanni Mignogna</dc:creator>
  <cp:lastModifiedBy>CARRIERO ROBERTO</cp:lastModifiedBy>
  <cp:revision>12</cp:revision>
  <dcterms:created xsi:type="dcterms:W3CDTF">2025-10-25T17:39:58Z</dcterms:created>
  <dcterms:modified xsi:type="dcterms:W3CDTF">2026-01-19T09:05:35Z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2025-10-06T00:00:00Z</vt:filetime>
  </property>
  <property fmtid="{D5CDD505-2E9C-101B-9397-08002B2CF9AE}" pid="3" name="Creator">
    <vt:lpwstr>Microsoft® PowerPoint® per Microsoft 365</vt:lpwstr>
  </property>
  <property fmtid="{D5CDD505-2E9C-101B-9397-08002B2CF9AE}" pid="4" name="LastSaved">
    <vt:filetime>2025-10-25T00:00:00Z</vt:filetime>
  </property>
  <property fmtid="{D5CDD505-2E9C-101B-9397-08002B2CF9AE}" pid="5" name="Producer">
    <vt:lpwstr>Microsoft® PowerPoint® per Microsoft 365</vt:lpwstr>
  </property>
</Properties>
</file>